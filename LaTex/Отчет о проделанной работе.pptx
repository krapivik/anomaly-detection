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82" r:id="rId4"/>
    <p:sldId id="259" r:id="rId5"/>
    <p:sldId id="276" r:id="rId6"/>
    <p:sldId id="281" r:id="rId7"/>
    <p:sldId id="277" r:id="rId8"/>
    <p:sldId id="264" r:id="rId9"/>
    <p:sldId id="265" r:id="rId10"/>
    <p:sldId id="271" r:id="rId11"/>
    <p:sldId id="270" r:id="rId12"/>
    <p:sldId id="269" r:id="rId13"/>
    <p:sldId id="266" r:id="rId14"/>
    <p:sldId id="278" r:id="rId15"/>
    <p:sldId id="279" r:id="rId16"/>
    <p:sldId id="280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3830"/>
    <a:srgbClr val="18806E"/>
    <a:srgbClr val="1D9B86"/>
    <a:srgbClr val="8EEADB"/>
    <a:srgbClr val="76E6D3"/>
    <a:srgbClr val="26CCB0"/>
    <a:srgbClr val="E7F9E6"/>
    <a:srgbClr val="CFE9E7"/>
    <a:srgbClr val="8FCE4A"/>
    <a:srgbClr val="82C8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7" d="100"/>
          <a:sy n="97" d="100"/>
        </p:scale>
        <p:origin x="78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C5F8F1-1C25-44B7-91B1-FE3D193074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F2A2784-EDDC-482D-AD2B-EDF711654A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0FC15A3-D44D-49EF-BD84-9EFB04364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D21F3-209E-4ACD-A3BE-C94F9CD83ACF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F57E5D8-60B2-4E30-BB8F-196DD47DE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80CCE07-920A-42FD-A9E0-DC11DFFC6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80A4E-318B-4FBD-A856-716C2FCCD3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6882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28DD0A-0575-4DD3-8824-B4AE57EB8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47F1FB6-D0E4-4709-8606-A851440694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2DC7E11-0450-495C-8C13-45C2EA566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D21F3-209E-4ACD-A3BE-C94F9CD83ACF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D94C984-ABEB-4238-98AF-6BE0BA632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6B661D3-5B42-46D5-A159-89CDA84E7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80A4E-318B-4FBD-A856-716C2FCCD3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9044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017F5B-DA2C-43D1-A3EB-8CFDF99A0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0147F79-B4EE-4C6F-BD3C-2A758DB857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B1250E1-4FC7-4B4F-A4B0-DA70691AA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D21F3-209E-4ACD-A3BE-C94F9CD83ACF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FDC91FB-76A3-4FA0-9AD5-1C95E51FA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E0F67F6-7771-4161-90B3-B7C8B0827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80A4E-318B-4FBD-A856-716C2FCCD3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401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E4DB45-CB67-4A19-96AC-099212086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B74225-4948-44E5-8526-3A43663748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46010C5-BB98-4F98-8DD1-F42D14512A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F674D1E-4F9A-41BA-ACC8-473B568EF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D21F3-209E-4ACD-A3BE-C94F9CD83ACF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6C1BB0B-FD41-4417-BB76-1903F7CD4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6749BF5-EB0D-41E1-85E2-5CE19F13E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80A4E-318B-4FBD-A856-716C2FCCD3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9916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D7AB5D-F392-4A71-8443-768439C4B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F16852B-EAF8-4713-A65F-3145F487FA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9CA9AA8-52A1-44B9-B8B3-92331F3F97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AD7E4DA-AC66-48D9-B55E-4438F6E947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BB609B8-1C9F-4A76-AE2A-3DA8909886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FE3EE96-5235-4480-BF3D-801D2853F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D21F3-209E-4ACD-A3BE-C94F9CD83ACF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50D6D10-5AE7-4B58-AF99-43AF42F2E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03E6813-2CFF-4DC6-A31B-61C93DA67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80A4E-318B-4FBD-A856-716C2FCCD3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165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81050A-5C6C-464B-A232-D65EAA347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C3ECEFC-5A22-4807-A59F-12C54B9BD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D21F3-209E-4ACD-A3BE-C94F9CD83ACF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FA5F59C-60BC-40FA-9EC4-3743A0FFA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B74193D-348C-4094-9997-71B399A2C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80A4E-318B-4FBD-A856-716C2FCCD3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6203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00D3B17-C172-4EDB-8589-DD69A38C8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D21F3-209E-4ACD-A3BE-C94F9CD83ACF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A51085E-751B-4DFC-8922-D838B29BD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EBE6D80-83DE-48EC-9D62-C547446FE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80A4E-318B-4FBD-A856-716C2FCCD3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7806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2E2958-0C89-4A4E-A3D0-2BE58A1CE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15E619E-1A6A-42E1-A42E-4742CDFD1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CF954F3-0923-4F88-A396-605FF39041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6A26176-B028-4FFE-BBA9-A8F5763B7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D21F3-209E-4ACD-A3BE-C94F9CD83ACF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7564D2A-5CB0-4879-966E-69E0883FE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8FD4770-17C4-4FBB-8617-2F86FCFD6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80A4E-318B-4FBD-A856-716C2FCCD3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7516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BD9B37-2B4B-45C3-A252-0F6102C77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4340E52-209B-432D-AA3C-88772230D7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C100303-521B-4135-A523-F34B27B43E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8F4AA54-5B97-44F0-8794-4DD63BC8A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D21F3-209E-4ACD-A3BE-C94F9CD83ACF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422922C-08C6-481F-919D-E5574BF28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1E3D251-1535-44AA-905B-0633FC90F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80A4E-318B-4FBD-A856-716C2FCCD3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252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34AE03-4760-4488-9B32-8B099251D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25F1BA8-6209-45A2-B68F-C2276AC09A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B1AD687-28A9-4CDB-8DE9-5DC78771C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D21F3-209E-4ACD-A3BE-C94F9CD83ACF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1C33A6F-21F6-4364-84FB-F188395B0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AEE4161-AF3A-4EAC-9FEF-773F284A3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80A4E-318B-4FBD-A856-716C2FCCD3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1600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E101B47-03F4-4A28-A4AD-7E2A9B08F7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755C75B-9E14-4E9A-88EB-EE4EB4ED8F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A4E7EC8-E406-4BA8-A6E9-1170C0913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D21F3-209E-4ACD-A3BE-C94F9CD83ACF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EFA2545-94CB-433C-AED7-BB403A3AE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DECC995-8112-41B1-8149-3E52A412B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80A4E-318B-4FBD-A856-716C2FCCD3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3645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8D40D8-8A2B-4B63-831C-F6639D43E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25ED14C-5109-4AFE-A6FA-7260DC46EE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788E19D-83B0-4DF8-86D4-7BCD3A96BC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8D21F3-209E-4ACD-A3BE-C94F9CD83ACF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D9A81CC-A526-42B7-8F10-1166C0002D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DA0CC01-B824-463F-9D08-394B9ECC1C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D80A4E-318B-4FBD-A856-716C2FCCD3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9277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3390/s20051459" TargetMode="External"/><Relationship Id="rId7" Type="http://schemas.openxmlformats.org/officeDocument/2006/relationships/hyperlink" Target="https://doi.org/10.1007/s10462-025-11287-7" TargetMode="External"/><Relationship Id="rId2" Type="http://schemas.openxmlformats.org/officeDocument/2006/relationships/hyperlink" Target="https://doi.org/10.1145/1541880.1541882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1007/s11633-023-1459-z" TargetMode="External"/><Relationship Id="rId5" Type="http://schemas.openxmlformats.org/officeDocument/2006/relationships/hyperlink" Target="https://doi.org/10.3390/a16020095" TargetMode="External"/><Relationship Id="rId4" Type="http://schemas.openxmlformats.org/officeDocument/2006/relationships/hyperlink" Target="https://doi.org/10.1109/ACCESS.2020.2975030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3390/app14156774" TargetMode="Externa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abs/2405.01725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505.16074" TargetMode="External"/><Relationship Id="rId2" Type="http://schemas.openxmlformats.org/officeDocument/2006/relationships/hyperlink" Target="https://arxiv.org/abs/2308.00429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80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D4E768-1451-4324-BD46-6EFD5FBBB8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38366"/>
            <a:ext cx="9144000" cy="1651666"/>
          </a:xfrm>
        </p:spPr>
        <p:txBody>
          <a:bodyPr anchor="ctr">
            <a:normAutofit fontScale="90000"/>
          </a:bodyPr>
          <a:lstStyle/>
          <a:p>
            <a:r>
              <a:rPr lang="ru-RU" b="1" dirty="0">
                <a:solidFill>
                  <a:schemeClr val="bg1"/>
                </a:solidFill>
                <a:latin typeface="Times New Roman" panose="02020603050405020304" pitchFamily="18" charset="0"/>
              </a:rPr>
              <a:t>Отчет магистранта о проделанной работе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02C0A80-3A06-4B2A-BAA7-0BCD33A9F1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290032"/>
            <a:ext cx="9144000" cy="623236"/>
          </a:xfrm>
        </p:spPr>
        <p:txBody>
          <a:bodyPr anchor="ctr">
            <a:norm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Times New Roman" panose="02020603050405020304" pitchFamily="18" charset="0"/>
              </a:rPr>
              <a:t>За сентябрь-ноябрь 2025 года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7C3C6E-8841-43CB-A6C3-34A0A801EC8B}"/>
              </a:ext>
            </a:extLst>
          </p:cNvPr>
          <p:cNvSpPr txBox="1"/>
          <p:nvPr/>
        </p:nvSpPr>
        <p:spPr>
          <a:xfrm>
            <a:off x="651308" y="4029345"/>
            <a:ext cx="544469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</a:rPr>
              <a:t>Подготовила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</a:rPr>
              <a:t>: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</a:p>
          <a:p>
            <a:pPr algn="just"/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</a:rPr>
              <a:t>Рожкова Анна Сергеевна,</a:t>
            </a:r>
          </a:p>
          <a:p>
            <a:pPr algn="just"/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</a:rPr>
              <a:t>студентка 1 курса магистратуры,</a:t>
            </a:r>
          </a:p>
          <a:p>
            <a:pPr algn="just"/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</a:rPr>
              <a:t>Специальность: </a:t>
            </a:r>
          </a:p>
          <a:p>
            <a:pPr algn="just"/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</a:rPr>
              <a:t>7-06-0533-04 «Математика и компьютерные науки»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A28C22-1A77-4787-A967-EAA07E1502CC}"/>
              </a:ext>
            </a:extLst>
          </p:cNvPr>
          <p:cNvSpPr txBox="1"/>
          <p:nvPr/>
        </p:nvSpPr>
        <p:spPr>
          <a:xfrm>
            <a:off x="3101130" y="128678"/>
            <a:ext cx="59897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БЕЛОРУССКИЙ ГОСУДАРСТВЕННЫЙ УНИВЕРСИТЕТ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9512F7-8D92-43F6-A568-8566F60BD13B}"/>
              </a:ext>
            </a:extLst>
          </p:cNvPr>
          <p:cNvSpPr txBox="1"/>
          <p:nvPr/>
        </p:nvSpPr>
        <p:spPr>
          <a:xfrm>
            <a:off x="3512190" y="497440"/>
            <a:ext cx="5167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МЕХАНИКО-МАТЕМАТИЧЕСКИЙ ФАКУЛЬТЕТ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86D2FB-14A5-458E-A280-D4162DC7496C}"/>
              </a:ext>
            </a:extLst>
          </p:cNvPr>
          <p:cNvSpPr txBox="1"/>
          <p:nvPr/>
        </p:nvSpPr>
        <p:spPr>
          <a:xfrm>
            <a:off x="2958516" y="866487"/>
            <a:ext cx="6274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+mj-lt"/>
              </a:rPr>
              <a:t>Кафедра дифференциальных уравнений и системного анализа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A79A9C-086D-490E-A9E5-CEEB2ADA4D4C}"/>
              </a:ext>
            </a:extLst>
          </p:cNvPr>
          <p:cNvSpPr txBox="1"/>
          <p:nvPr/>
        </p:nvSpPr>
        <p:spPr>
          <a:xfrm>
            <a:off x="651308" y="5506673"/>
            <a:ext cx="53227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800" dirty="0">
                <a:solidFill>
                  <a:schemeClr val="bg1"/>
                </a:solidFill>
                <a:latin typeface="Times New Roman" panose="02020603050405020304" pitchFamily="18" charset="0"/>
              </a:rPr>
              <a:t>Научный руководитель: </a:t>
            </a:r>
          </a:p>
          <a:p>
            <a:pPr algn="just"/>
            <a:r>
              <a:rPr lang="ru-RU" sz="1800" dirty="0">
                <a:solidFill>
                  <a:schemeClr val="bg1"/>
                </a:solidFill>
                <a:latin typeface="Times New Roman" panose="02020603050405020304" pitchFamily="18" charset="0"/>
              </a:rPr>
              <a:t>Василевич М.Н., </a:t>
            </a:r>
          </a:p>
          <a:p>
            <a:pPr algn="just"/>
            <a:r>
              <a:rPr lang="ru-RU" sz="1800" dirty="0">
                <a:solidFill>
                  <a:schemeClr val="bg1"/>
                </a:solidFill>
                <a:latin typeface="Times New Roman" panose="02020603050405020304" pitchFamily="18" charset="0"/>
              </a:rPr>
              <a:t>кандидат физико-математических наук, доцент</a:t>
            </a:r>
          </a:p>
        </p:txBody>
      </p:sp>
    </p:spTree>
    <p:extLst>
      <p:ext uri="{BB962C8B-B14F-4D97-AF65-F5344CB8AC3E}">
        <p14:creationId xmlns:p14="http://schemas.microsoft.com/office/powerpoint/2010/main" val="2263009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80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121E01-1248-4D7E-9C60-3140B5C0D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558" y="1710812"/>
            <a:ext cx="10586884" cy="2194892"/>
          </a:xfrm>
          <a:custGeom>
            <a:avLst/>
            <a:gdLst>
              <a:gd name="connsiteX0" fmla="*/ 0 w 10586884"/>
              <a:gd name="connsiteY0" fmla="*/ 0 h 2194892"/>
              <a:gd name="connsiteX1" fmla="*/ 661680 w 10586884"/>
              <a:gd name="connsiteY1" fmla="*/ 0 h 2194892"/>
              <a:gd name="connsiteX2" fmla="*/ 1323361 w 10586884"/>
              <a:gd name="connsiteY2" fmla="*/ 0 h 2194892"/>
              <a:gd name="connsiteX3" fmla="*/ 1667434 w 10586884"/>
              <a:gd name="connsiteY3" fmla="*/ 0 h 2194892"/>
              <a:gd name="connsiteX4" fmla="*/ 2329114 w 10586884"/>
              <a:gd name="connsiteY4" fmla="*/ 0 h 2194892"/>
              <a:gd name="connsiteX5" fmla="*/ 3202532 w 10586884"/>
              <a:gd name="connsiteY5" fmla="*/ 0 h 2194892"/>
              <a:gd name="connsiteX6" fmla="*/ 3758344 w 10586884"/>
              <a:gd name="connsiteY6" fmla="*/ 0 h 2194892"/>
              <a:gd name="connsiteX7" fmla="*/ 4314155 w 10586884"/>
              <a:gd name="connsiteY7" fmla="*/ 0 h 2194892"/>
              <a:gd name="connsiteX8" fmla="*/ 4975835 w 10586884"/>
              <a:gd name="connsiteY8" fmla="*/ 0 h 2194892"/>
              <a:gd name="connsiteX9" fmla="*/ 5743385 w 10586884"/>
              <a:gd name="connsiteY9" fmla="*/ 0 h 2194892"/>
              <a:gd name="connsiteX10" fmla="*/ 6510934 w 10586884"/>
              <a:gd name="connsiteY10" fmla="*/ 0 h 2194892"/>
              <a:gd name="connsiteX11" fmla="*/ 7278483 w 10586884"/>
              <a:gd name="connsiteY11" fmla="*/ 0 h 2194892"/>
              <a:gd name="connsiteX12" fmla="*/ 8151901 w 10586884"/>
              <a:gd name="connsiteY12" fmla="*/ 0 h 2194892"/>
              <a:gd name="connsiteX13" fmla="*/ 8813581 w 10586884"/>
              <a:gd name="connsiteY13" fmla="*/ 0 h 2194892"/>
              <a:gd name="connsiteX14" fmla="*/ 9581130 w 10586884"/>
              <a:gd name="connsiteY14" fmla="*/ 0 h 2194892"/>
              <a:gd name="connsiteX15" fmla="*/ 10586884 w 10586884"/>
              <a:gd name="connsiteY15" fmla="*/ 0 h 2194892"/>
              <a:gd name="connsiteX16" fmla="*/ 10586884 w 10586884"/>
              <a:gd name="connsiteY16" fmla="*/ 548723 h 2194892"/>
              <a:gd name="connsiteX17" fmla="*/ 10586884 w 10586884"/>
              <a:gd name="connsiteY17" fmla="*/ 1119395 h 2194892"/>
              <a:gd name="connsiteX18" fmla="*/ 10586884 w 10586884"/>
              <a:gd name="connsiteY18" fmla="*/ 1712016 h 2194892"/>
              <a:gd name="connsiteX19" fmla="*/ 10586884 w 10586884"/>
              <a:gd name="connsiteY19" fmla="*/ 2194892 h 2194892"/>
              <a:gd name="connsiteX20" fmla="*/ 10136941 w 10586884"/>
              <a:gd name="connsiteY20" fmla="*/ 2194892 h 2194892"/>
              <a:gd name="connsiteX21" fmla="*/ 9581130 w 10586884"/>
              <a:gd name="connsiteY21" fmla="*/ 2194892 h 2194892"/>
              <a:gd name="connsiteX22" fmla="*/ 8813581 w 10586884"/>
              <a:gd name="connsiteY22" fmla="*/ 2194892 h 2194892"/>
              <a:gd name="connsiteX23" fmla="*/ 8151901 w 10586884"/>
              <a:gd name="connsiteY23" fmla="*/ 2194892 h 2194892"/>
              <a:gd name="connsiteX24" fmla="*/ 7807827 w 10586884"/>
              <a:gd name="connsiteY24" fmla="*/ 2194892 h 2194892"/>
              <a:gd name="connsiteX25" fmla="*/ 7252016 w 10586884"/>
              <a:gd name="connsiteY25" fmla="*/ 2194892 h 2194892"/>
              <a:gd name="connsiteX26" fmla="*/ 6484466 w 10586884"/>
              <a:gd name="connsiteY26" fmla="*/ 2194892 h 2194892"/>
              <a:gd name="connsiteX27" fmla="*/ 6034524 w 10586884"/>
              <a:gd name="connsiteY27" fmla="*/ 2194892 h 2194892"/>
              <a:gd name="connsiteX28" fmla="*/ 5161106 w 10586884"/>
              <a:gd name="connsiteY28" fmla="*/ 2194892 h 2194892"/>
              <a:gd name="connsiteX29" fmla="*/ 4287688 w 10586884"/>
              <a:gd name="connsiteY29" fmla="*/ 2194892 h 2194892"/>
              <a:gd name="connsiteX30" fmla="*/ 3626008 w 10586884"/>
              <a:gd name="connsiteY30" fmla="*/ 2194892 h 2194892"/>
              <a:gd name="connsiteX31" fmla="*/ 2752590 w 10586884"/>
              <a:gd name="connsiteY31" fmla="*/ 2194892 h 2194892"/>
              <a:gd name="connsiteX32" fmla="*/ 2090910 w 10586884"/>
              <a:gd name="connsiteY32" fmla="*/ 2194892 h 2194892"/>
              <a:gd name="connsiteX33" fmla="*/ 1323361 w 10586884"/>
              <a:gd name="connsiteY33" fmla="*/ 2194892 h 2194892"/>
              <a:gd name="connsiteX34" fmla="*/ 979287 w 10586884"/>
              <a:gd name="connsiteY34" fmla="*/ 2194892 h 2194892"/>
              <a:gd name="connsiteX35" fmla="*/ 0 w 10586884"/>
              <a:gd name="connsiteY35" fmla="*/ 2194892 h 2194892"/>
              <a:gd name="connsiteX36" fmla="*/ 0 w 10586884"/>
              <a:gd name="connsiteY36" fmla="*/ 1668118 h 2194892"/>
              <a:gd name="connsiteX37" fmla="*/ 0 w 10586884"/>
              <a:gd name="connsiteY37" fmla="*/ 1141344 h 2194892"/>
              <a:gd name="connsiteX38" fmla="*/ 0 w 10586884"/>
              <a:gd name="connsiteY38" fmla="*/ 636519 h 2194892"/>
              <a:gd name="connsiteX39" fmla="*/ 0 w 10586884"/>
              <a:gd name="connsiteY39" fmla="*/ 0 h 2194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0586884" h="2194892" fill="none" extrusionOk="0">
                <a:moveTo>
                  <a:pt x="0" y="0"/>
                </a:moveTo>
                <a:cubicBezTo>
                  <a:pt x="225206" y="107"/>
                  <a:pt x="370116" y="-27993"/>
                  <a:pt x="661680" y="0"/>
                </a:cubicBezTo>
                <a:cubicBezTo>
                  <a:pt x="953244" y="27993"/>
                  <a:pt x="1083690" y="-14203"/>
                  <a:pt x="1323361" y="0"/>
                </a:cubicBezTo>
                <a:cubicBezTo>
                  <a:pt x="1563032" y="14203"/>
                  <a:pt x="1559743" y="-2326"/>
                  <a:pt x="1667434" y="0"/>
                </a:cubicBezTo>
                <a:cubicBezTo>
                  <a:pt x="1775125" y="2326"/>
                  <a:pt x="2085261" y="1526"/>
                  <a:pt x="2329114" y="0"/>
                </a:cubicBezTo>
                <a:cubicBezTo>
                  <a:pt x="2572967" y="-1526"/>
                  <a:pt x="2990673" y="-32921"/>
                  <a:pt x="3202532" y="0"/>
                </a:cubicBezTo>
                <a:cubicBezTo>
                  <a:pt x="3414391" y="32921"/>
                  <a:pt x="3550535" y="6322"/>
                  <a:pt x="3758344" y="0"/>
                </a:cubicBezTo>
                <a:cubicBezTo>
                  <a:pt x="3966153" y="-6322"/>
                  <a:pt x="4084817" y="22584"/>
                  <a:pt x="4314155" y="0"/>
                </a:cubicBezTo>
                <a:cubicBezTo>
                  <a:pt x="4543493" y="-22584"/>
                  <a:pt x="4655003" y="-31932"/>
                  <a:pt x="4975835" y="0"/>
                </a:cubicBezTo>
                <a:cubicBezTo>
                  <a:pt x="5296667" y="31932"/>
                  <a:pt x="5397669" y="-30138"/>
                  <a:pt x="5743385" y="0"/>
                </a:cubicBezTo>
                <a:cubicBezTo>
                  <a:pt x="6089101" y="30138"/>
                  <a:pt x="6250246" y="14403"/>
                  <a:pt x="6510934" y="0"/>
                </a:cubicBezTo>
                <a:cubicBezTo>
                  <a:pt x="6771622" y="-14403"/>
                  <a:pt x="6999653" y="12034"/>
                  <a:pt x="7278483" y="0"/>
                </a:cubicBezTo>
                <a:cubicBezTo>
                  <a:pt x="7557313" y="-12034"/>
                  <a:pt x="7817062" y="-4116"/>
                  <a:pt x="8151901" y="0"/>
                </a:cubicBezTo>
                <a:cubicBezTo>
                  <a:pt x="8486740" y="4116"/>
                  <a:pt x="8631370" y="-22139"/>
                  <a:pt x="8813581" y="0"/>
                </a:cubicBezTo>
                <a:cubicBezTo>
                  <a:pt x="8995792" y="22139"/>
                  <a:pt x="9310335" y="-15558"/>
                  <a:pt x="9581130" y="0"/>
                </a:cubicBezTo>
                <a:cubicBezTo>
                  <a:pt x="9851925" y="15558"/>
                  <a:pt x="10211055" y="-14313"/>
                  <a:pt x="10586884" y="0"/>
                </a:cubicBezTo>
                <a:cubicBezTo>
                  <a:pt x="10584842" y="162628"/>
                  <a:pt x="10592182" y="432358"/>
                  <a:pt x="10586884" y="548723"/>
                </a:cubicBezTo>
                <a:cubicBezTo>
                  <a:pt x="10581586" y="665088"/>
                  <a:pt x="10614533" y="960703"/>
                  <a:pt x="10586884" y="1119395"/>
                </a:cubicBezTo>
                <a:cubicBezTo>
                  <a:pt x="10559235" y="1278087"/>
                  <a:pt x="10599034" y="1468923"/>
                  <a:pt x="10586884" y="1712016"/>
                </a:cubicBezTo>
                <a:cubicBezTo>
                  <a:pt x="10574734" y="1955109"/>
                  <a:pt x="10590356" y="2076450"/>
                  <a:pt x="10586884" y="2194892"/>
                </a:cubicBezTo>
                <a:cubicBezTo>
                  <a:pt x="10407869" y="2205198"/>
                  <a:pt x="10324486" y="2181942"/>
                  <a:pt x="10136941" y="2194892"/>
                </a:cubicBezTo>
                <a:cubicBezTo>
                  <a:pt x="9949396" y="2207842"/>
                  <a:pt x="9820182" y="2172936"/>
                  <a:pt x="9581130" y="2194892"/>
                </a:cubicBezTo>
                <a:cubicBezTo>
                  <a:pt x="9342078" y="2216848"/>
                  <a:pt x="9095709" y="2185289"/>
                  <a:pt x="8813581" y="2194892"/>
                </a:cubicBezTo>
                <a:cubicBezTo>
                  <a:pt x="8531453" y="2204495"/>
                  <a:pt x="8454424" y="2170182"/>
                  <a:pt x="8151901" y="2194892"/>
                </a:cubicBezTo>
                <a:cubicBezTo>
                  <a:pt x="7849378" y="2219602"/>
                  <a:pt x="7905718" y="2191942"/>
                  <a:pt x="7807827" y="2194892"/>
                </a:cubicBezTo>
                <a:cubicBezTo>
                  <a:pt x="7709936" y="2197842"/>
                  <a:pt x="7438595" y="2188038"/>
                  <a:pt x="7252016" y="2194892"/>
                </a:cubicBezTo>
                <a:cubicBezTo>
                  <a:pt x="7065437" y="2201746"/>
                  <a:pt x="6742182" y="2225295"/>
                  <a:pt x="6484466" y="2194892"/>
                </a:cubicBezTo>
                <a:cubicBezTo>
                  <a:pt x="6226750" y="2164490"/>
                  <a:pt x="6224175" y="2195229"/>
                  <a:pt x="6034524" y="2194892"/>
                </a:cubicBezTo>
                <a:cubicBezTo>
                  <a:pt x="5844873" y="2194555"/>
                  <a:pt x="5387821" y="2218602"/>
                  <a:pt x="5161106" y="2194892"/>
                </a:cubicBezTo>
                <a:cubicBezTo>
                  <a:pt x="4934391" y="2171182"/>
                  <a:pt x="4553528" y="2159724"/>
                  <a:pt x="4287688" y="2194892"/>
                </a:cubicBezTo>
                <a:cubicBezTo>
                  <a:pt x="4021848" y="2230060"/>
                  <a:pt x="3906135" y="2187963"/>
                  <a:pt x="3626008" y="2194892"/>
                </a:cubicBezTo>
                <a:cubicBezTo>
                  <a:pt x="3345881" y="2201821"/>
                  <a:pt x="3110067" y="2187975"/>
                  <a:pt x="2752590" y="2194892"/>
                </a:cubicBezTo>
                <a:cubicBezTo>
                  <a:pt x="2395113" y="2201809"/>
                  <a:pt x="2414787" y="2177357"/>
                  <a:pt x="2090910" y="2194892"/>
                </a:cubicBezTo>
                <a:cubicBezTo>
                  <a:pt x="1767033" y="2212427"/>
                  <a:pt x="1625920" y="2185175"/>
                  <a:pt x="1323361" y="2194892"/>
                </a:cubicBezTo>
                <a:cubicBezTo>
                  <a:pt x="1020802" y="2204609"/>
                  <a:pt x="1066408" y="2184539"/>
                  <a:pt x="979287" y="2194892"/>
                </a:cubicBezTo>
                <a:cubicBezTo>
                  <a:pt x="892166" y="2205245"/>
                  <a:pt x="206316" y="2193552"/>
                  <a:pt x="0" y="2194892"/>
                </a:cubicBezTo>
                <a:cubicBezTo>
                  <a:pt x="-5974" y="2082346"/>
                  <a:pt x="-5559" y="1821083"/>
                  <a:pt x="0" y="1668118"/>
                </a:cubicBezTo>
                <a:cubicBezTo>
                  <a:pt x="5559" y="1515153"/>
                  <a:pt x="-3676" y="1340197"/>
                  <a:pt x="0" y="1141344"/>
                </a:cubicBezTo>
                <a:cubicBezTo>
                  <a:pt x="3676" y="942491"/>
                  <a:pt x="5503" y="777278"/>
                  <a:pt x="0" y="636519"/>
                </a:cubicBezTo>
                <a:cubicBezTo>
                  <a:pt x="-5503" y="495761"/>
                  <a:pt x="-263" y="273719"/>
                  <a:pt x="0" y="0"/>
                </a:cubicBezTo>
                <a:close/>
              </a:path>
              <a:path w="10586884" h="2194892" stroke="0" extrusionOk="0">
                <a:moveTo>
                  <a:pt x="0" y="0"/>
                </a:moveTo>
                <a:cubicBezTo>
                  <a:pt x="112210" y="-4931"/>
                  <a:pt x="370486" y="8957"/>
                  <a:pt x="555811" y="0"/>
                </a:cubicBezTo>
                <a:cubicBezTo>
                  <a:pt x="741136" y="-8957"/>
                  <a:pt x="743182" y="-1159"/>
                  <a:pt x="899885" y="0"/>
                </a:cubicBezTo>
                <a:cubicBezTo>
                  <a:pt x="1056588" y="1159"/>
                  <a:pt x="1555792" y="28326"/>
                  <a:pt x="1773303" y="0"/>
                </a:cubicBezTo>
                <a:cubicBezTo>
                  <a:pt x="1990814" y="-28326"/>
                  <a:pt x="2065787" y="-9549"/>
                  <a:pt x="2329114" y="0"/>
                </a:cubicBezTo>
                <a:cubicBezTo>
                  <a:pt x="2592441" y="9549"/>
                  <a:pt x="2673865" y="22005"/>
                  <a:pt x="2884926" y="0"/>
                </a:cubicBezTo>
                <a:cubicBezTo>
                  <a:pt x="3095987" y="-22005"/>
                  <a:pt x="3458159" y="-10932"/>
                  <a:pt x="3758344" y="0"/>
                </a:cubicBezTo>
                <a:cubicBezTo>
                  <a:pt x="4058529" y="10932"/>
                  <a:pt x="4063753" y="-11336"/>
                  <a:pt x="4208286" y="0"/>
                </a:cubicBezTo>
                <a:cubicBezTo>
                  <a:pt x="4352819" y="11336"/>
                  <a:pt x="4680995" y="26953"/>
                  <a:pt x="5081704" y="0"/>
                </a:cubicBezTo>
                <a:cubicBezTo>
                  <a:pt x="5482413" y="-26953"/>
                  <a:pt x="5691430" y="-9265"/>
                  <a:pt x="5955122" y="0"/>
                </a:cubicBezTo>
                <a:cubicBezTo>
                  <a:pt x="6218814" y="9265"/>
                  <a:pt x="6427839" y="-32803"/>
                  <a:pt x="6616803" y="0"/>
                </a:cubicBezTo>
                <a:cubicBezTo>
                  <a:pt x="6805767" y="32803"/>
                  <a:pt x="7303508" y="-14190"/>
                  <a:pt x="7490220" y="0"/>
                </a:cubicBezTo>
                <a:cubicBezTo>
                  <a:pt x="7676932" y="14190"/>
                  <a:pt x="7910054" y="4214"/>
                  <a:pt x="8046032" y="0"/>
                </a:cubicBezTo>
                <a:cubicBezTo>
                  <a:pt x="8182010" y="-4214"/>
                  <a:pt x="8400896" y="-4051"/>
                  <a:pt x="8601843" y="0"/>
                </a:cubicBezTo>
                <a:cubicBezTo>
                  <a:pt x="8802790" y="4051"/>
                  <a:pt x="9074063" y="6173"/>
                  <a:pt x="9369392" y="0"/>
                </a:cubicBezTo>
                <a:cubicBezTo>
                  <a:pt x="9664721" y="-6173"/>
                  <a:pt x="9647388" y="26087"/>
                  <a:pt x="9925204" y="0"/>
                </a:cubicBezTo>
                <a:cubicBezTo>
                  <a:pt x="10203020" y="-26087"/>
                  <a:pt x="10319861" y="-31791"/>
                  <a:pt x="10586884" y="0"/>
                </a:cubicBezTo>
                <a:cubicBezTo>
                  <a:pt x="10564323" y="150184"/>
                  <a:pt x="10610669" y="386945"/>
                  <a:pt x="10586884" y="592621"/>
                </a:cubicBezTo>
                <a:cubicBezTo>
                  <a:pt x="10563099" y="798297"/>
                  <a:pt x="10559822" y="965965"/>
                  <a:pt x="10586884" y="1163293"/>
                </a:cubicBezTo>
                <a:cubicBezTo>
                  <a:pt x="10613946" y="1360621"/>
                  <a:pt x="10539957" y="1856234"/>
                  <a:pt x="10586884" y="2194892"/>
                </a:cubicBezTo>
                <a:cubicBezTo>
                  <a:pt x="10503711" y="2200294"/>
                  <a:pt x="10390236" y="2178993"/>
                  <a:pt x="10242810" y="2194892"/>
                </a:cubicBezTo>
                <a:cubicBezTo>
                  <a:pt x="10095384" y="2210791"/>
                  <a:pt x="9682913" y="2235257"/>
                  <a:pt x="9369392" y="2194892"/>
                </a:cubicBezTo>
                <a:cubicBezTo>
                  <a:pt x="9055871" y="2154527"/>
                  <a:pt x="8886610" y="2192229"/>
                  <a:pt x="8707712" y="2194892"/>
                </a:cubicBezTo>
                <a:cubicBezTo>
                  <a:pt x="8528814" y="2197555"/>
                  <a:pt x="8370299" y="2188266"/>
                  <a:pt x="8257770" y="2194892"/>
                </a:cubicBezTo>
                <a:cubicBezTo>
                  <a:pt x="8145241" y="2201518"/>
                  <a:pt x="7742927" y="2168889"/>
                  <a:pt x="7596089" y="2194892"/>
                </a:cubicBezTo>
                <a:cubicBezTo>
                  <a:pt x="7449251" y="2220895"/>
                  <a:pt x="7393121" y="2204401"/>
                  <a:pt x="7252016" y="2194892"/>
                </a:cubicBezTo>
                <a:cubicBezTo>
                  <a:pt x="7110911" y="2185383"/>
                  <a:pt x="6985695" y="2186745"/>
                  <a:pt x="6907942" y="2194892"/>
                </a:cubicBezTo>
                <a:cubicBezTo>
                  <a:pt x="6830189" y="2203039"/>
                  <a:pt x="6380615" y="2167912"/>
                  <a:pt x="6246262" y="2194892"/>
                </a:cubicBezTo>
                <a:cubicBezTo>
                  <a:pt x="6111909" y="2221872"/>
                  <a:pt x="5982686" y="2177842"/>
                  <a:pt x="5796319" y="2194892"/>
                </a:cubicBezTo>
                <a:cubicBezTo>
                  <a:pt x="5609952" y="2211942"/>
                  <a:pt x="5283127" y="2172135"/>
                  <a:pt x="5028770" y="2194892"/>
                </a:cubicBezTo>
                <a:cubicBezTo>
                  <a:pt x="4774413" y="2217649"/>
                  <a:pt x="4803647" y="2193064"/>
                  <a:pt x="4578827" y="2194892"/>
                </a:cubicBezTo>
                <a:cubicBezTo>
                  <a:pt x="4354007" y="2196720"/>
                  <a:pt x="3979069" y="2204249"/>
                  <a:pt x="3811278" y="2194892"/>
                </a:cubicBezTo>
                <a:cubicBezTo>
                  <a:pt x="3643487" y="2185535"/>
                  <a:pt x="3546835" y="2199155"/>
                  <a:pt x="3467205" y="2194892"/>
                </a:cubicBezTo>
                <a:cubicBezTo>
                  <a:pt x="3387575" y="2190629"/>
                  <a:pt x="2898408" y="2157411"/>
                  <a:pt x="2699655" y="2194892"/>
                </a:cubicBezTo>
                <a:cubicBezTo>
                  <a:pt x="2500902" y="2232374"/>
                  <a:pt x="2459960" y="2190752"/>
                  <a:pt x="2249713" y="2194892"/>
                </a:cubicBezTo>
                <a:cubicBezTo>
                  <a:pt x="2039466" y="2199032"/>
                  <a:pt x="2032480" y="2204147"/>
                  <a:pt x="1905639" y="2194892"/>
                </a:cubicBezTo>
                <a:cubicBezTo>
                  <a:pt x="1778798" y="2185637"/>
                  <a:pt x="1546037" y="2188295"/>
                  <a:pt x="1455697" y="2194892"/>
                </a:cubicBezTo>
                <a:cubicBezTo>
                  <a:pt x="1365357" y="2201489"/>
                  <a:pt x="1059779" y="2200904"/>
                  <a:pt x="688147" y="2194892"/>
                </a:cubicBezTo>
                <a:cubicBezTo>
                  <a:pt x="316515" y="2188881"/>
                  <a:pt x="251124" y="2198241"/>
                  <a:pt x="0" y="2194892"/>
                </a:cubicBezTo>
                <a:cubicBezTo>
                  <a:pt x="12758" y="2072490"/>
                  <a:pt x="15630" y="1941684"/>
                  <a:pt x="0" y="1712016"/>
                </a:cubicBezTo>
                <a:cubicBezTo>
                  <a:pt x="-15630" y="1482348"/>
                  <a:pt x="16077" y="1340314"/>
                  <a:pt x="0" y="1229140"/>
                </a:cubicBezTo>
                <a:cubicBezTo>
                  <a:pt x="-16077" y="1117966"/>
                  <a:pt x="-21336" y="798331"/>
                  <a:pt x="0" y="658468"/>
                </a:cubicBezTo>
                <a:cubicBezTo>
                  <a:pt x="21336" y="518605"/>
                  <a:pt x="-29731" y="260758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0">
            <a:solidFill>
              <a:srgbClr val="0A3830"/>
            </a:solidFill>
            <a:extLst>
              <a:ext uri="{C807C97D-BFC1-408E-A445-0C87EB9F89A2}">
                <ask:lineSketchStyleProps xmlns:ask="http://schemas.microsoft.com/office/drawing/2018/sketchyshapes" sd="1219033472">
                  <ask:type>
                    <ask:lineSketchFreehand/>
                  </ask:type>
                </ask:lineSketchStyleProps>
              </a:ext>
            </a:extLst>
          </a:ln>
        </p:spPr>
        <p:txBody>
          <a:bodyPr anchor="ctr">
            <a:normAutofit/>
          </a:bodyPr>
          <a:lstStyle/>
          <a:p>
            <a:r>
              <a:rPr lang="ru-RU" sz="5400" dirty="0">
                <a:solidFill>
                  <a:srgbClr val="0A3830"/>
                </a:solidFill>
              </a:rPr>
              <a:t>Тема магистерской диссертации и обоснование ее актуальности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8C9600C-A6A0-4683-8CCD-B16719DA15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2558" y="4155772"/>
            <a:ext cx="10586884" cy="1118318"/>
          </a:xfrm>
          <a:custGeom>
            <a:avLst/>
            <a:gdLst>
              <a:gd name="connsiteX0" fmla="*/ 0 w 10586884"/>
              <a:gd name="connsiteY0" fmla="*/ 0 h 1118318"/>
              <a:gd name="connsiteX1" fmla="*/ 344074 w 10586884"/>
              <a:gd name="connsiteY1" fmla="*/ 0 h 1118318"/>
              <a:gd name="connsiteX2" fmla="*/ 688147 w 10586884"/>
              <a:gd name="connsiteY2" fmla="*/ 0 h 1118318"/>
              <a:gd name="connsiteX3" fmla="*/ 1032221 w 10586884"/>
              <a:gd name="connsiteY3" fmla="*/ 0 h 1118318"/>
              <a:gd name="connsiteX4" fmla="*/ 1905639 w 10586884"/>
              <a:gd name="connsiteY4" fmla="*/ 0 h 1118318"/>
              <a:gd name="connsiteX5" fmla="*/ 2567319 w 10586884"/>
              <a:gd name="connsiteY5" fmla="*/ 0 h 1118318"/>
              <a:gd name="connsiteX6" fmla="*/ 2911393 w 10586884"/>
              <a:gd name="connsiteY6" fmla="*/ 0 h 1118318"/>
              <a:gd name="connsiteX7" fmla="*/ 3573073 w 10586884"/>
              <a:gd name="connsiteY7" fmla="*/ 0 h 1118318"/>
              <a:gd name="connsiteX8" fmla="*/ 4446491 w 10586884"/>
              <a:gd name="connsiteY8" fmla="*/ 0 h 1118318"/>
              <a:gd name="connsiteX9" fmla="*/ 5002303 w 10586884"/>
              <a:gd name="connsiteY9" fmla="*/ 0 h 1118318"/>
              <a:gd name="connsiteX10" fmla="*/ 5558114 w 10586884"/>
              <a:gd name="connsiteY10" fmla="*/ 0 h 1118318"/>
              <a:gd name="connsiteX11" fmla="*/ 6219794 w 10586884"/>
              <a:gd name="connsiteY11" fmla="*/ 0 h 1118318"/>
              <a:gd name="connsiteX12" fmla="*/ 6987343 w 10586884"/>
              <a:gd name="connsiteY12" fmla="*/ 0 h 1118318"/>
              <a:gd name="connsiteX13" fmla="*/ 7754893 w 10586884"/>
              <a:gd name="connsiteY13" fmla="*/ 0 h 1118318"/>
              <a:gd name="connsiteX14" fmla="*/ 8522442 w 10586884"/>
              <a:gd name="connsiteY14" fmla="*/ 0 h 1118318"/>
              <a:gd name="connsiteX15" fmla="*/ 9395860 w 10586884"/>
              <a:gd name="connsiteY15" fmla="*/ 0 h 1118318"/>
              <a:gd name="connsiteX16" fmla="*/ 10586884 w 10586884"/>
              <a:gd name="connsiteY16" fmla="*/ 0 h 1118318"/>
              <a:gd name="connsiteX17" fmla="*/ 10586884 w 10586884"/>
              <a:gd name="connsiteY17" fmla="*/ 570342 h 1118318"/>
              <a:gd name="connsiteX18" fmla="*/ 10586884 w 10586884"/>
              <a:gd name="connsiteY18" fmla="*/ 1118318 h 1118318"/>
              <a:gd name="connsiteX19" fmla="*/ 9713466 w 10586884"/>
              <a:gd name="connsiteY19" fmla="*/ 1118318 h 1118318"/>
              <a:gd name="connsiteX20" fmla="*/ 9051786 w 10586884"/>
              <a:gd name="connsiteY20" fmla="*/ 1118318 h 1118318"/>
              <a:gd name="connsiteX21" fmla="*/ 8495974 w 10586884"/>
              <a:gd name="connsiteY21" fmla="*/ 1118318 h 1118318"/>
              <a:gd name="connsiteX22" fmla="*/ 7940163 w 10586884"/>
              <a:gd name="connsiteY22" fmla="*/ 1118318 h 1118318"/>
              <a:gd name="connsiteX23" fmla="*/ 7384352 w 10586884"/>
              <a:gd name="connsiteY23" fmla="*/ 1118318 h 1118318"/>
              <a:gd name="connsiteX24" fmla="*/ 6828540 w 10586884"/>
              <a:gd name="connsiteY24" fmla="*/ 1118318 h 1118318"/>
              <a:gd name="connsiteX25" fmla="*/ 6060991 w 10586884"/>
              <a:gd name="connsiteY25" fmla="*/ 1118318 h 1118318"/>
              <a:gd name="connsiteX26" fmla="*/ 5399311 w 10586884"/>
              <a:gd name="connsiteY26" fmla="*/ 1118318 h 1118318"/>
              <a:gd name="connsiteX27" fmla="*/ 5055237 w 10586884"/>
              <a:gd name="connsiteY27" fmla="*/ 1118318 h 1118318"/>
              <a:gd name="connsiteX28" fmla="*/ 4499426 w 10586884"/>
              <a:gd name="connsiteY28" fmla="*/ 1118318 h 1118318"/>
              <a:gd name="connsiteX29" fmla="*/ 3731877 w 10586884"/>
              <a:gd name="connsiteY29" fmla="*/ 1118318 h 1118318"/>
              <a:gd name="connsiteX30" fmla="*/ 3281934 w 10586884"/>
              <a:gd name="connsiteY30" fmla="*/ 1118318 h 1118318"/>
              <a:gd name="connsiteX31" fmla="*/ 2408516 w 10586884"/>
              <a:gd name="connsiteY31" fmla="*/ 1118318 h 1118318"/>
              <a:gd name="connsiteX32" fmla="*/ 1535098 w 10586884"/>
              <a:gd name="connsiteY32" fmla="*/ 1118318 h 1118318"/>
              <a:gd name="connsiteX33" fmla="*/ 873418 w 10586884"/>
              <a:gd name="connsiteY33" fmla="*/ 1118318 h 1118318"/>
              <a:gd name="connsiteX34" fmla="*/ 0 w 10586884"/>
              <a:gd name="connsiteY34" fmla="*/ 1118318 h 1118318"/>
              <a:gd name="connsiteX35" fmla="*/ 0 w 10586884"/>
              <a:gd name="connsiteY35" fmla="*/ 559159 h 1118318"/>
              <a:gd name="connsiteX36" fmla="*/ 0 w 10586884"/>
              <a:gd name="connsiteY36" fmla="*/ 0 h 1118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0586884" h="1118318" fill="none" extrusionOk="0">
                <a:moveTo>
                  <a:pt x="0" y="0"/>
                </a:moveTo>
                <a:cubicBezTo>
                  <a:pt x="119995" y="4813"/>
                  <a:pt x="172473" y="-3649"/>
                  <a:pt x="344074" y="0"/>
                </a:cubicBezTo>
                <a:cubicBezTo>
                  <a:pt x="515675" y="3649"/>
                  <a:pt x="608840" y="-197"/>
                  <a:pt x="688147" y="0"/>
                </a:cubicBezTo>
                <a:cubicBezTo>
                  <a:pt x="767454" y="197"/>
                  <a:pt x="871301" y="14142"/>
                  <a:pt x="1032221" y="0"/>
                </a:cubicBezTo>
                <a:cubicBezTo>
                  <a:pt x="1193141" y="-14142"/>
                  <a:pt x="1493899" y="36796"/>
                  <a:pt x="1905639" y="0"/>
                </a:cubicBezTo>
                <a:cubicBezTo>
                  <a:pt x="2317379" y="-36796"/>
                  <a:pt x="2329923" y="-12535"/>
                  <a:pt x="2567319" y="0"/>
                </a:cubicBezTo>
                <a:cubicBezTo>
                  <a:pt x="2804715" y="12535"/>
                  <a:pt x="2793975" y="-9191"/>
                  <a:pt x="2911393" y="0"/>
                </a:cubicBezTo>
                <a:cubicBezTo>
                  <a:pt x="3028811" y="9191"/>
                  <a:pt x="3329220" y="1526"/>
                  <a:pt x="3573073" y="0"/>
                </a:cubicBezTo>
                <a:cubicBezTo>
                  <a:pt x="3816926" y="-1526"/>
                  <a:pt x="4234632" y="-32921"/>
                  <a:pt x="4446491" y="0"/>
                </a:cubicBezTo>
                <a:cubicBezTo>
                  <a:pt x="4658350" y="32921"/>
                  <a:pt x="4794494" y="6322"/>
                  <a:pt x="5002303" y="0"/>
                </a:cubicBezTo>
                <a:cubicBezTo>
                  <a:pt x="5210112" y="-6322"/>
                  <a:pt x="5328776" y="22584"/>
                  <a:pt x="5558114" y="0"/>
                </a:cubicBezTo>
                <a:cubicBezTo>
                  <a:pt x="5787452" y="-22584"/>
                  <a:pt x="5898962" y="-31932"/>
                  <a:pt x="6219794" y="0"/>
                </a:cubicBezTo>
                <a:cubicBezTo>
                  <a:pt x="6540626" y="31932"/>
                  <a:pt x="6641927" y="-27159"/>
                  <a:pt x="6987343" y="0"/>
                </a:cubicBezTo>
                <a:cubicBezTo>
                  <a:pt x="7332759" y="27159"/>
                  <a:pt x="7492531" y="14081"/>
                  <a:pt x="7754893" y="0"/>
                </a:cubicBezTo>
                <a:cubicBezTo>
                  <a:pt x="8017255" y="-14081"/>
                  <a:pt x="8243612" y="12034"/>
                  <a:pt x="8522442" y="0"/>
                </a:cubicBezTo>
                <a:cubicBezTo>
                  <a:pt x="8801272" y="-12034"/>
                  <a:pt x="9061021" y="-4116"/>
                  <a:pt x="9395860" y="0"/>
                </a:cubicBezTo>
                <a:cubicBezTo>
                  <a:pt x="9730699" y="4116"/>
                  <a:pt x="10108767" y="44029"/>
                  <a:pt x="10586884" y="0"/>
                </a:cubicBezTo>
                <a:cubicBezTo>
                  <a:pt x="10566234" y="281927"/>
                  <a:pt x="10607979" y="294692"/>
                  <a:pt x="10586884" y="570342"/>
                </a:cubicBezTo>
                <a:cubicBezTo>
                  <a:pt x="10565789" y="845992"/>
                  <a:pt x="10569104" y="881931"/>
                  <a:pt x="10586884" y="1118318"/>
                </a:cubicBezTo>
                <a:cubicBezTo>
                  <a:pt x="10399465" y="1144042"/>
                  <a:pt x="10104279" y="1087615"/>
                  <a:pt x="9713466" y="1118318"/>
                </a:cubicBezTo>
                <a:cubicBezTo>
                  <a:pt x="9322653" y="1149021"/>
                  <a:pt x="9376908" y="1099162"/>
                  <a:pt x="9051786" y="1118318"/>
                </a:cubicBezTo>
                <a:cubicBezTo>
                  <a:pt x="8726664" y="1137474"/>
                  <a:pt x="8703867" y="1119569"/>
                  <a:pt x="8495974" y="1118318"/>
                </a:cubicBezTo>
                <a:cubicBezTo>
                  <a:pt x="8288081" y="1117067"/>
                  <a:pt x="8190413" y="1103908"/>
                  <a:pt x="7940163" y="1118318"/>
                </a:cubicBezTo>
                <a:cubicBezTo>
                  <a:pt x="7689913" y="1132728"/>
                  <a:pt x="7542672" y="1129057"/>
                  <a:pt x="7384352" y="1118318"/>
                </a:cubicBezTo>
                <a:cubicBezTo>
                  <a:pt x="7226032" y="1107579"/>
                  <a:pt x="7069717" y="1097444"/>
                  <a:pt x="6828540" y="1118318"/>
                </a:cubicBezTo>
                <a:cubicBezTo>
                  <a:pt x="6587363" y="1139192"/>
                  <a:pt x="6343119" y="1108715"/>
                  <a:pt x="6060991" y="1118318"/>
                </a:cubicBezTo>
                <a:cubicBezTo>
                  <a:pt x="5778863" y="1127921"/>
                  <a:pt x="5701834" y="1093608"/>
                  <a:pt x="5399311" y="1118318"/>
                </a:cubicBezTo>
                <a:cubicBezTo>
                  <a:pt x="5096788" y="1143028"/>
                  <a:pt x="5153128" y="1115368"/>
                  <a:pt x="5055237" y="1118318"/>
                </a:cubicBezTo>
                <a:cubicBezTo>
                  <a:pt x="4957346" y="1121268"/>
                  <a:pt x="4686005" y="1111464"/>
                  <a:pt x="4499426" y="1118318"/>
                </a:cubicBezTo>
                <a:cubicBezTo>
                  <a:pt x="4312847" y="1125172"/>
                  <a:pt x="3985891" y="1148510"/>
                  <a:pt x="3731877" y="1118318"/>
                </a:cubicBezTo>
                <a:cubicBezTo>
                  <a:pt x="3477863" y="1088126"/>
                  <a:pt x="3478404" y="1123498"/>
                  <a:pt x="3281934" y="1118318"/>
                </a:cubicBezTo>
                <a:cubicBezTo>
                  <a:pt x="3085464" y="1113138"/>
                  <a:pt x="2635231" y="1142028"/>
                  <a:pt x="2408516" y="1118318"/>
                </a:cubicBezTo>
                <a:cubicBezTo>
                  <a:pt x="2181801" y="1094608"/>
                  <a:pt x="1800938" y="1083150"/>
                  <a:pt x="1535098" y="1118318"/>
                </a:cubicBezTo>
                <a:cubicBezTo>
                  <a:pt x="1269258" y="1153486"/>
                  <a:pt x="1153545" y="1111389"/>
                  <a:pt x="873418" y="1118318"/>
                </a:cubicBezTo>
                <a:cubicBezTo>
                  <a:pt x="593291" y="1125247"/>
                  <a:pt x="357477" y="1111401"/>
                  <a:pt x="0" y="1118318"/>
                </a:cubicBezTo>
                <a:cubicBezTo>
                  <a:pt x="-27088" y="1005688"/>
                  <a:pt x="-3257" y="791712"/>
                  <a:pt x="0" y="559159"/>
                </a:cubicBezTo>
                <a:cubicBezTo>
                  <a:pt x="3257" y="326606"/>
                  <a:pt x="-15317" y="208513"/>
                  <a:pt x="0" y="0"/>
                </a:cubicBezTo>
                <a:close/>
              </a:path>
              <a:path w="10586884" h="1118318" stroke="0" extrusionOk="0">
                <a:moveTo>
                  <a:pt x="0" y="0"/>
                </a:moveTo>
                <a:cubicBezTo>
                  <a:pt x="112210" y="-4931"/>
                  <a:pt x="370486" y="8957"/>
                  <a:pt x="555811" y="0"/>
                </a:cubicBezTo>
                <a:cubicBezTo>
                  <a:pt x="741136" y="-8957"/>
                  <a:pt x="743182" y="-1159"/>
                  <a:pt x="899885" y="0"/>
                </a:cubicBezTo>
                <a:cubicBezTo>
                  <a:pt x="1056588" y="1159"/>
                  <a:pt x="1555792" y="28326"/>
                  <a:pt x="1773303" y="0"/>
                </a:cubicBezTo>
                <a:cubicBezTo>
                  <a:pt x="1990814" y="-28326"/>
                  <a:pt x="2065787" y="-9549"/>
                  <a:pt x="2329114" y="0"/>
                </a:cubicBezTo>
                <a:cubicBezTo>
                  <a:pt x="2592441" y="9549"/>
                  <a:pt x="2673865" y="22005"/>
                  <a:pt x="2884926" y="0"/>
                </a:cubicBezTo>
                <a:cubicBezTo>
                  <a:pt x="3095987" y="-22005"/>
                  <a:pt x="3458159" y="-10932"/>
                  <a:pt x="3758344" y="0"/>
                </a:cubicBezTo>
                <a:cubicBezTo>
                  <a:pt x="4058529" y="10932"/>
                  <a:pt x="4063753" y="-11336"/>
                  <a:pt x="4208286" y="0"/>
                </a:cubicBezTo>
                <a:cubicBezTo>
                  <a:pt x="4352819" y="11336"/>
                  <a:pt x="4680995" y="26953"/>
                  <a:pt x="5081704" y="0"/>
                </a:cubicBezTo>
                <a:cubicBezTo>
                  <a:pt x="5482413" y="-26953"/>
                  <a:pt x="5691430" y="-9265"/>
                  <a:pt x="5955122" y="0"/>
                </a:cubicBezTo>
                <a:cubicBezTo>
                  <a:pt x="6218814" y="9265"/>
                  <a:pt x="6427839" y="-32803"/>
                  <a:pt x="6616803" y="0"/>
                </a:cubicBezTo>
                <a:cubicBezTo>
                  <a:pt x="6805767" y="32803"/>
                  <a:pt x="7303508" y="-14190"/>
                  <a:pt x="7490220" y="0"/>
                </a:cubicBezTo>
                <a:cubicBezTo>
                  <a:pt x="7676932" y="14190"/>
                  <a:pt x="7910054" y="4214"/>
                  <a:pt x="8046032" y="0"/>
                </a:cubicBezTo>
                <a:cubicBezTo>
                  <a:pt x="8182010" y="-4214"/>
                  <a:pt x="8400896" y="-4051"/>
                  <a:pt x="8601843" y="0"/>
                </a:cubicBezTo>
                <a:cubicBezTo>
                  <a:pt x="8802790" y="4051"/>
                  <a:pt x="9074063" y="6173"/>
                  <a:pt x="9369392" y="0"/>
                </a:cubicBezTo>
                <a:cubicBezTo>
                  <a:pt x="9664721" y="-6173"/>
                  <a:pt x="9647388" y="26087"/>
                  <a:pt x="9925204" y="0"/>
                </a:cubicBezTo>
                <a:cubicBezTo>
                  <a:pt x="10203020" y="-26087"/>
                  <a:pt x="10319861" y="-31791"/>
                  <a:pt x="10586884" y="0"/>
                </a:cubicBezTo>
                <a:cubicBezTo>
                  <a:pt x="10569728" y="153220"/>
                  <a:pt x="10609429" y="385095"/>
                  <a:pt x="10586884" y="581525"/>
                </a:cubicBezTo>
                <a:cubicBezTo>
                  <a:pt x="10564339" y="777956"/>
                  <a:pt x="10569755" y="899397"/>
                  <a:pt x="10586884" y="1118318"/>
                </a:cubicBezTo>
                <a:cubicBezTo>
                  <a:pt x="10407488" y="1102569"/>
                  <a:pt x="10037123" y="1089761"/>
                  <a:pt x="9819335" y="1118318"/>
                </a:cubicBezTo>
                <a:cubicBezTo>
                  <a:pt x="9601547" y="1146875"/>
                  <a:pt x="9567955" y="1121665"/>
                  <a:pt x="9369392" y="1118318"/>
                </a:cubicBezTo>
                <a:cubicBezTo>
                  <a:pt x="9170829" y="1114971"/>
                  <a:pt x="8809495" y="1158683"/>
                  <a:pt x="8495974" y="1118318"/>
                </a:cubicBezTo>
                <a:cubicBezTo>
                  <a:pt x="8182453" y="1077953"/>
                  <a:pt x="8013192" y="1115655"/>
                  <a:pt x="7834294" y="1118318"/>
                </a:cubicBezTo>
                <a:cubicBezTo>
                  <a:pt x="7655396" y="1120981"/>
                  <a:pt x="7496881" y="1111692"/>
                  <a:pt x="7384352" y="1118318"/>
                </a:cubicBezTo>
                <a:cubicBezTo>
                  <a:pt x="7271823" y="1124944"/>
                  <a:pt x="6869509" y="1092315"/>
                  <a:pt x="6722671" y="1118318"/>
                </a:cubicBezTo>
                <a:cubicBezTo>
                  <a:pt x="6575833" y="1144321"/>
                  <a:pt x="6519703" y="1127827"/>
                  <a:pt x="6378598" y="1118318"/>
                </a:cubicBezTo>
                <a:cubicBezTo>
                  <a:pt x="6237493" y="1108809"/>
                  <a:pt x="6112277" y="1110171"/>
                  <a:pt x="6034524" y="1118318"/>
                </a:cubicBezTo>
                <a:cubicBezTo>
                  <a:pt x="5956771" y="1126465"/>
                  <a:pt x="5507197" y="1091338"/>
                  <a:pt x="5372844" y="1118318"/>
                </a:cubicBezTo>
                <a:cubicBezTo>
                  <a:pt x="5238491" y="1145298"/>
                  <a:pt x="5109268" y="1101268"/>
                  <a:pt x="4922901" y="1118318"/>
                </a:cubicBezTo>
                <a:cubicBezTo>
                  <a:pt x="4736534" y="1135368"/>
                  <a:pt x="4409709" y="1095561"/>
                  <a:pt x="4155352" y="1118318"/>
                </a:cubicBezTo>
                <a:cubicBezTo>
                  <a:pt x="3900995" y="1141075"/>
                  <a:pt x="3930229" y="1116490"/>
                  <a:pt x="3705409" y="1118318"/>
                </a:cubicBezTo>
                <a:cubicBezTo>
                  <a:pt x="3480589" y="1120146"/>
                  <a:pt x="3105651" y="1127675"/>
                  <a:pt x="2937860" y="1118318"/>
                </a:cubicBezTo>
                <a:cubicBezTo>
                  <a:pt x="2770069" y="1108961"/>
                  <a:pt x="2673417" y="1122581"/>
                  <a:pt x="2593787" y="1118318"/>
                </a:cubicBezTo>
                <a:cubicBezTo>
                  <a:pt x="2514157" y="1114055"/>
                  <a:pt x="2024990" y="1080837"/>
                  <a:pt x="1826237" y="1118318"/>
                </a:cubicBezTo>
                <a:cubicBezTo>
                  <a:pt x="1627484" y="1155800"/>
                  <a:pt x="1586542" y="1114178"/>
                  <a:pt x="1376295" y="1118318"/>
                </a:cubicBezTo>
                <a:cubicBezTo>
                  <a:pt x="1166048" y="1122458"/>
                  <a:pt x="1159062" y="1127573"/>
                  <a:pt x="1032221" y="1118318"/>
                </a:cubicBezTo>
                <a:cubicBezTo>
                  <a:pt x="905380" y="1109063"/>
                  <a:pt x="672619" y="1111721"/>
                  <a:pt x="582279" y="1118318"/>
                </a:cubicBezTo>
                <a:cubicBezTo>
                  <a:pt x="491939" y="1124915"/>
                  <a:pt x="247448" y="1116567"/>
                  <a:pt x="0" y="1118318"/>
                </a:cubicBezTo>
                <a:cubicBezTo>
                  <a:pt x="-20307" y="915350"/>
                  <a:pt x="-15204" y="768316"/>
                  <a:pt x="0" y="581525"/>
                </a:cubicBezTo>
                <a:cubicBezTo>
                  <a:pt x="15204" y="394734"/>
                  <a:pt x="-4209" y="184335"/>
                  <a:pt x="0" y="0"/>
                </a:cubicBezTo>
                <a:close/>
              </a:path>
            </a:pathLst>
          </a:custGeom>
          <a:solidFill>
            <a:schemeClr val="bg1"/>
          </a:solidFill>
          <a:ln w="57150">
            <a:noFill/>
            <a:extLst>
              <a:ext uri="{C807C97D-BFC1-408E-A445-0C87EB9F89A2}">
                <ask:lineSketchStyleProps xmlns:ask="http://schemas.microsoft.com/office/drawing/2018/sketchyshapes" sd="1219033472">
                  <ask:type>
                    <ask:lineSketchFreehand/>
                  </ask:type>
                </ask:lineSketchStyleProps>
              </a:ext>
            </a:extLst>
          </a:ln>
        </p:spPr>
        <p:txBody>
          <a:bodyPr anchor="ctr"/>
          <a:lstStyle/>
          <a:p>
            <a:r>
              <a:rPr lang="ru-RU" sz="2800" dirty="0">
                <a:solidFill>
                  <a:srgbClr val="0A3830"/>
                </a:solidFill>
              </a:rPr>
              <a:t>Разработка модели выявления аномалий неразмеченных изображений с использованием методов глубокого обучения</a:t>
            </a:r>
            <a:endParaRPr lang="ru-RU" dirty="0">
              <a:solidFill>
                <a:srgbClr val="0A383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4686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FD4290-1CDF-4700-8512-FCDEB0CD11D0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18806E"/>
          </a:solidFill>
        </p:spPr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Про опыт РБ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7F98BF9-A427-4DC8-BC66-61B468E9C1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lang="ru-RU" dirty="0" err="1"/>
              <a:t>Бла-бла</a:t>
            </a: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CC85C79-1AD9-4F26-B76E-4AD9493638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lang="en-US" dirty="0"/>
              <a:t>graphics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474056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3CE6BA-377A-432C-B7A2-457D58546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125" y="540000"/>
            <a:ext cx="6120000" cy="1260000"/>
          </a:xfrm>
          <a:custGeom>
            <a:avLst/>
            <a:gdLst>
              <a:gd name="connsiteX0" fmla="*/ 0 w 6120000"/>
              <a:gd name="connsiteY0" fmla="*/ 0 h 1260000"/>
              <a:gd name="connsiteX1" fmla="*/ 802400 w 6120000"/>
              <a:gd name="connsiteY1" fmla="*/ 0 h 1260000"/>
              <a:gd name="connsiteX2" fmla="*/ 1543600 w 6120000"/>
              <a:gd name="connsiteY2" fmla="*/ 0 h 1260000"/>
              <a:gd name="connsiteX3" fmla="*/ 2223600 w 6120000"/>
              <a:gd name="connsiteY3" fmla="*/ 0 h 1260000"/>
              <a:gd name="connsiteX4" fmla="*/ 2903600 w 6120000"/>
              <a:gd name="connsiteY4" fmla="*/ 0 h 1260000"/>
              <a:gd name="connsiteX5" fmla="*/ 3706000 w 6120000"/>
              <a:gd name="connsiteY5" fmla="*/ 0 h 1260000"/>
              <a:gd name="connsiteX6" fmla="*/ 4447200 w 6120000"/>
              <a:gd name="connsiteY6" fmla="*/ 0 h 1260000"/>
              <a:gd name="connsiteX7" fmla="*/ 4943600 w 6120000"/>
              <a:gd name="connsiteY7" fmla="*/ 0 h 1260000"/>
              <a:gd name="connsiteX8" fmla="*/ 6120000 w 6120000"/>
              <a:gd name="connsiteY8" fmla="*/ 0 h 1260000"/>
              <a:gd name="connsiteX9" fmla="*/ 6120000 w 6120000"/>
              <a:gd name="connsiteY9" fmla="*/ 655200 h 1260000"/>
              <a:gd name="connsiteX10" fmla="*/ 6120000 w 6120000"/>
              <a:gd name="connsiteY10" fmla="*/ 1260000 h 1260000"/>
              <a:gd name="connsiteX11" fmla="*/ 5562400 w 6120000"/>
              <a:gd name="connsiteY11" fmla="*/ 1260000 h 1260000"/>
              <a:gd name="connsiteX12" fmla="*/ 4760000 w 6120000"/>
              <a:gd name="connsiteY12" fmla="*/ 1260000 h 1260000"/>
              <a:gd name="connsiteX13" fmla="*/ 4141200 w 6120000"/>
              <a:gd name="connsiteY13" fmla="*/ 1260000 h 1260000"/>
              <a:gd name="connsiteX14" fmla="*/ 3338800 w 6120000"/>
              <a:gd name="connsiteY14" fmla="*/ 1260000 h 1260000"/>
              <a:gd name="connsiteX15" fmla="*/ 2781200 w 6120000"/>
              <a:gd name="connsiteY15" fmla="*/ 1260000 h 1260000"/>
              <a:gd name="connsiteX16" fmla="*/ 2284800 w 6120000"/>
              <a:gd name="connsiteY16" fmla="*/ 1260000 h 1260000"/>
              <a:gd name="connsiteX17" fmla="*/ 1788400 w 6120000"/>
              <a:gd name="connsiteY17" fmla="*/ 1260000 h 1260000"/>
              <a:gd name="connsiteX18" fmla="*/ 1047200 w 6120000"/>
              <a:gd name="connsiteY18" fmla="*/ 1260000 h 1260000"/>
              <a:gd name="connsiteX19" fmla="*/ 0 w 6120000"/>
              <a:gd name="connsiteY19" fmla="*/ 1260000 h 1260000"/>
              <a:gd name="connsiteX20" fmla="*/ 0 w 6120000"/>
              <a:gd name="connsiteY20" fmla="*/ 630000 h 1260000"/>
              <a:gd name="connsiteX21" fmla="*/ 0 w 6120000"/>
              <a:gd name="connsiteY21" fmla="*/ 0 h 12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6120000" h="1260000" fill="none" extrusionOk="0">
                <a:moveTo>
                  <a:pt x="0" y="0"/>
                </a:moveTo>
                <a:cubicBezTo>
                  <a:pt x="336348" y="31969"/>
                  <a:pt x="573227" y="-34175"/>
                  <a:pt x="802400" y="0"/>
                </a:cubicBezTo>
                <a:cubicBezTo>
                  <a:pt x="1031573" y="34175"/>
                  <a:pt x="1333880" y="16976"/>
                  <a:pt x="1543600" y="0"/>
                </a:cubicBezTo>
                <a:cubicBezTo>
                  <a:pt x="1753320" y="-16976"/>
                  <a:pt x="2046193" y="16764"/>
                  <a:pt x="2223600" y="0"/>
                </a:cubicBezTo>
                <a:cubicBezTo>
                  <a:pt x="2401007" y="-16764"/>
                  <a:pt x="2611404" y="-28761"/>
                  <a:pt x="2903600" y="0"/>
                </a:cubicBezTo>
                <a:cubicBezTo>
                  <a:pt x="3195796" y="28761"/>
                  <a:pt x="3375632" y="20937"/>
                  <a:pt x="3706000" y="0"/>
                </a:cubicBezTo>
                <a:cubicBezTo>
                  <a:pt x="4036368" y="-20937"/>
                  <a:pt x="4198587" y="-36066"/>
                  <a:pt x="4447200" y="0"/>
                </a:cubicBezTo>
                <a:cubicBezTo>
                  <a:pt x="4695813" y="36066"/>
                  <a:pt x="4815589" y="-23987"/>
                  <a:pt x="4943600" y="0"/>
                </a:cubicBezTo>
                <a:cubicBezTo>
                  <a:pt x="5071611" y="23987"/>
                  <a:pt x="5576669" y="48842"/>
                  <a:pt x="6120000" y="0"/>
                </a:cubicBezTo>
                <a:cubicBezTo>
                  <a:pt x="6145578" y="260571"/>
                  <a:pt x="6137462" y="518794"/>
                  <a:pt x="6120000" y="655200"/>
                </a:cubicBezTo>
                <a:cubicBezTo>
                  <a:pt x="6102538" y="791606"/>
                  <a:pt x="6110291" y="1099874"/>
                  <a:pt x="6120000" y="1260000"/>
                </a:cubicBezTo>
                <a:cubicBezTo>
                  <a:pt x="5855120" y="1285362"/>
                  <a:pt x="5767793" y="1246171"/>
                  <a:pt x="5562400" y="1260000"/>
                </a:cubicBezTo>
                <a:cubicBezTo>
                  <a:pt x="5357007" y="1273829"/>
                  <a:pt x="5113258" y="1257991"/>
                  <a:pt x="4760000" y="1260000"/>
                </a:cubicBezTo>
                <a:cubicBezTo>
                  <a:pt x="4406742" y="1262009"/>
                  <a:pt x="4375688" y="1239629"/>
                  <a:pt x="4141200" y="1260000"/>
                </a:cubicBezTo>
                <a:cubicBezTo>
                  <a:pt x="3906712" y="1280371"/>
                  <a:pt x="3588363" y="1232584"/>
                  <a:pt x="3338800" y="1260000"/>
                </a:cubicBezTo>
                <a:cubicBezTo>
                  <a:pt x="3089237" y="1287416"/>
                  <a:pt x="2913281" y="1282443"/>
                  <a:pt x="2781200" y="1260000"/>
                </a:cubicBezTo>
                <a:cubicBezTo>
                  <a:pt x="2649119" y="1237557"/>
                  <a:pt x="2485982" y="1243155"/>
                  <a:pt x="2284800" y="1260000"/>
                </a:cubicBezTo>
                <a:cubicBezTo>
                  <a:pt x="2083618" y="1276845"/>
                  <a:pt x="1927842" y="1266864"/>
                  <a:pt x="1788400" y="1260000"/>
                </a:cubicBezTo>
                <a:cubicBezTo>
                  <a:pt x="1648958" y="1253136"/>
                  <a:pt x="1206204" y="1278920"/>
                  <a:pt x="1047200" y="1260000"/>
                </a:cubicBezTo>
                <a:cubicBezTo>
                  <a:pt x="888196" y="1241080"/>
                  <a:pt x="273233" y="1297732"/>
                  <a:pt x="0" y="1260000"/>
                </a:cubicBezTo>
                <a:cubicBezTo>
                  <a:pt x="16739" y="1113017"/>
                  <a:pt x="8079" y="846198"/>
                  <a:pt x="0" y="630000"/>
                </a:cubicBezTo>
                <a:cubicBezTo>
                  <a:pt x="-8079" y="413802"/>
                  <a:pt x="-13039" y="181113"/>
                  <a:pt x="0" y="0"/>
                </a:cubicBezTo>
                <a:close/>
              </a:path>
              <a:path w="6120000" h="1260000" stroke="0" extrusionOk="0">
                <a:moveTo>
                  <a:pt x="0" y="0"/>
                </a:moveTo>
                <a:cubicBezTo>
                  <a:pt x="179244" y="30007"/>
                  <a:pt x="422815" y="207"/>
                  <a:pt x="618800" y="0"/>
                </a:cubicBezTo>
                <a:cubicBezTo>
                  <a:pt x="814785" y="-207"/>
                  <a:pt x="971490" y="15349"/>
                  <a:pt x="1115200" y="0"/>
                </a:cubicBezTo>
                <a:cubicBezTo>
                  <a:pt x="1258910" y="-15349"/>
                  <a:pt x="1727682" y="-34099"/>
                  <a:pt x="1917600" y="0"/>
                </a:cubicBezTo>
                <a:cubicBezTo>
                  <a:pt x="2107518" y="34099"/>
                  <a:pt x="2348148" y="15513"/>
                  <a:pt x="2536400" y="0"/>
                </a:cubicBezTo>
                <a:cubicBezTo>
                  <a:pt x="2724652" y="-15513"/>
                  <a:pt x="3012179" y="-10587"/>
                  <a:pt x="3155200" y="0"/>
                </a:cubicBezTo>
                <a:cubicBezTo>
                  <a:pt x="3298221" y="10587"/>
                  <a:pt x="3760575" y="38911"/>
                  <a:pt x="3957600" y="0"/>
                </a:cubicBezTo>
                <a:cubicBezTo>
                  <a:pt x="4154625" y="-38911"/>
                  <a:pt x="4309261" y="22627"/>
                  <a:pt x="4515200" y="0"/>
                </a:cubicBezTo>
                <a:cubicBezTo>
                  <a:pt x="4721139" y="-22627"/>
                  <a:pt x="5042915" y="6751"/>
                  <a:pt x="5317600" y="0"/>
                </a:cubicBezTo>
                <a:cubicBezTo>
                  <a:pt x="5592285" y="-6751"/>
                  <a:pt x="5724080" y="15693"/>
                  <a:pt x="6120000" y="0"/>
                </a:cubicBezTo>
                <a:cubicBezTo>
                  <a:pt x="6101159" y="263038"/>
                  <a:pt x="6104697" y="409513"/>
                  <a:pt x="6120000" y="630000"/>
                </a:cubicBezTo>
                <a:cubicBezTo>
                  <a:pt x="6135303" y="850487"/>
                  <a:pt x="6147969" y="1063182"/>
                  <a:pt x="6120000" y="1260000"/>
                </a:cubicBezTo>
                <a:cubicBezTo>
                  <a:pt x="5926040" y="1233766"/>
                  <a:pt x="5722694" y="1239322"/>
                  <a:pt x="5378800" y="1260000"/>
                </a:cubicBezTo>
                <a:cubicBezTo>
                  <a:pt x="5034906" y="1280678"/>
                  <a:pt x="4823847" y="1296756"/>
                  <a:pt x="4576400" y="1260000"/>
                </a:cubicBezTo>
                <a:cubicBezTo>
                  <a:pt x="4328953" y="1223244"/>
                  <a:pt x="3943989" y="1249999"/>
                  <a:pt x="3774000" y="1260000"/>
                </a:cubicBezTo>
                <a:cubicBezTo>
                  <a:pt x="3604011" y="1270001"/>
                  <a:pt x="3452208" y="1263509"/>
                  <a:pt x="3216400" y="1260000"/>
                </a:cubicBezTo>
                <a:cubicBezTo>
                  <a:pt x="2980592" y="1256491"/>
                  <a:pt x="2738401" y="1279197"/>
                  <a:pt x="2536400" y="1260000"/>
                </a:cubicBezTo>
                <a:cubicBezTo>
                  <a:pt x="2334399" y="1240803"/>
                  <a:pt x="1975352" y="1251480"/>
                  <a:pt x="1734000" y="1260000"/>
                </a:cubicBezTo>
                <a:cubicBezTo>
                  <a:pt x="1492648" y="1268520"/>
                  <a:pt x="1244672" y="1250430"/>
                  <a:pt x="1054000" y="1260000"/>
                </a:cubicBezTo>
                <a:cubicBezTo>
                  <a:pt x="863328" y="1269570"/>
                  <a:pt x="302758" y="1223577"/>
                  <a:pt x="0" y="1260000"/>
                </a:cubicBezTo>
                <a:cubicBezTo>
                  <a:pt x="-21137" y="1057051"/>
                  <a:pt x="-7874" y="884694"/>
                  <a:pt x="0" y="655200"/>
                </a:cubicBezTo>
                <a:cubicBezTo>
                  <a:pt x="7874" y="425706"/>
                  <a:pt x="1712" y="325613"/>
                  <a:pt x="0" y="0"/>
                </a:cubicBezTo>
                <a:close/>
              </a:path>
            </a:pathLst>
          </a:custGeom>
          <a:solidFill>
            <a:srgbClr val="18806E"/>
          </a:solidFill>
          <a:ln w="76200">
            <a:solidFill>
              <a:srgbClr val="18806E"/>
            </a:solidFill>
            <a:extLst>
              <a:ext uri="{C807C97D-BFC1-408E-A445-0C87EB9F89A2}">
                <ask:lineSketchStyleProps xmlns:ask="http://schemas.microsoft.com/office/drawing/2018/sketchyshapes" sd="1219033472">
                  <ask:type>
                    <ask:lineSketchFreehand/>
                  </ask:type>
                </ask:lineSketchStyleProps>
              </a:ext>
            </a:extLst>
          </a:ln>
        </p:spPr>
        <p:txBody>
          <a:bodyPr lIns="0">
            <a:normAutofit/>
          </a:bodyPr>
          <a:lstStyle/>
          <a:p>
            <a:pPr algn="ctr"/>
            <a:r>
              <a:rPr lang="ru-RU" sz="3600" b="1" dirty="0">
                <a:solidFill>
                  <a:schemeClr val="bg1"/>
                </a:solidFill>
              </a:rPr>
              <a:t>Отрасли применения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4E7D1E2-B1FA-44B2-99C1-604E8FD518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125" y="2011678"/>
            <a:ext cx="6120000" cy="4306322"/>
          </a:xfrm>
          <a:solidFill>
            <a:schemeClr val="bg1"/>
          </a:solidFill>
        </p:spPr>
        <p:txBody>
          <a:bodyPr anchor="ctr">
            <a:normAutofit/>
          </a:bodyPr>
          <a:lstStyle/>
          <a:p>
            <a:pPr algn="just"/>
            <a:r>
              <a:rPr lang="ru-RU" dirty="0">
                <a:solidFill>
                  <a:srgbClr val="0A3830"/>
                </a:solidFill>
              </a:rPr>
              <a:t>Металлургическое производство</a:t>
            </a:r>
          </a:p>
          <a:p>
            <a:pPr algn="just"/>
            <a:r>
              <a:rPr lang="ru-RU" dirty="0">
                <a:solidFill>
                  <a:srgbClr val="0A3830"/>
                </a:solidFill>
              </a:rPr>
              <a:t>Железнодорожный транспорт</a:t>
            </a:r>
          </a:p>
          <a:p>
            <a:pPr algn="just"/>
            <a:r>
              <a:rPr lang="ru-RU" dirty="0">
                <a:solidFill>
                  <a:srgbClr val="0A3830"/>
                </a:solidFill>
              </a:rPr>
              <a:t>Диагностика линий электропередач</a:t>
            </a:r>
          </a:p>
          <a:p>
            <a:pPr algn="just"/>
            <a:r>
              <a:rPr lang="ru-RU" dirty="0">
                <a:solidFill>
                  <a:srgbClr val="0A3830"/>
                </a:solidFill>
              </a:rPr>
              <a:t>Гражданское строительство</a:t>
            </a:r>
          </a:p>
          <a:p>
            <a:pPr algn="just"/>
            <a:r>
              <a:rPr lang="ru-RU" dirty="0">
                <a:solidFill>
                  <a:srgbClr val="0A3830"/>
                </a:solidFill>
              </a:rPr>
              <a:t>Мониторинг технического состояния инженерных сооружений</a:t>
            </a:r>
          </a:p>
          <a:p>
            <a:pPr algn="just"/>
            <a:r>
              <a:rPr lang="ru-RU" dirty="0">
                <a:solidFill>
                  <a:srgbClr val="0A3830"/>
                </a:solidFill>
              </a:rPr>
              <a:t>Агропромышленный сектор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598B853-716B-4364-A37B-7E426F260E7B}"/>
              </a:ext>
            </a:extLst>
          </p:cNvPr>
          <p:cNvSpPr/>
          <p:nvPr/>
        </p:nvSpPr>
        <p:spPr>
          <a:xfrm>
            <a:off x="7200000" y="540000"/>
            <a:ext cx="4992000" cy="5778000"/>
          </a:xfrm>
          <a:prstGeom prst="rect">
            <a:avLst/>
          </a:prstGeom>
          <a:solidFill>
            <a:srgbClr val="1880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PiCtUrEs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82200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3">
            <a:extLst>
              <a:ext uri="{FF2B5EF4-FFF2-40B4-BE49-F238E27FC236}">
                <a16:creationId xmlns:a16="http://schemas.microsoft.com/office/drawing/2014/main" id="{1C9E8E6D-CA13-4BA4-914E-E6E301BE2D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6420" y="1484671"/>
            <a:ext cx="5726394" cy="4549940"/>
          </a:xfrm>
          <a:custGeom>
            <a:avLst/>
            <a:gdLst>
              <a:gd name="connsiteX0" fmla="*/ 0 w 5726394"/>
              <a:gd name="connsiteY0" fmla="*/ 0 h 4549940"/>
              <a:gd name="connsiteX1" fmla="*/ 521738 w 5726394"/>
              <a:gd name="connsiteY1" fmla="*/ 0 h 4549940"/>
              <a:gd name="connsiteX2" fmla="*/ 1158004 w 5726394"/>
              <a:gd name="connsiteY2" fmla="*/ 0 h 4549940"/>
              <a:gd name="connsiteX3" fmla="*/ 1908798 w 5726394"/>
              <a:gd name="connsiteY3" fmla="*/ 0 h 4549940"/>
              <a:gd name="connsiteX4" fmla="*/ 2430536 w 5726394"/>
              <a:gd name="connsiteY4" fmla="*/ 0 h 4549940"/>
              <a:gd name="connsiteX5" fmla="*/ 3124066 w 5726394"/>
              <a:gd name="connsiteY5" fmla="*/ 0 h 4549940"/>
              <a:gd name="connsiteX6" fmla="*/ 3645804 w 5726394"/>
              <a:gd name="connsiteY6" fmla="*/ 0 h 4549940"/>
              <a:gd name="connsiteX7" fmla="*/ 4282070 w 5726394"/>
              <a:gd name="connsiteY7" fmla="*/ 0 h 4549940"/>
              <a:gd name="connsiteX8" fmla="*/ 4975600 w 5726394"/>
              <a:gd name="connsiteY8" fmla="*/ 0 h 4549940"/>
              <a:gd name="connsiteX9" fmla="*/ 5726394 w 5726394"/>
              <a:gd name="connsiteY9" fmla="*/ 0 h 4549940"/>
              <a:gd name="connsiteX10" fmla="*/ 5726394 w 5726394"/>
              <a:gd name="connsiteY10" fmla="*/ 513493 h 4549940"/>
              <a:gd name="connsiteX11" fmla="*/ 5726394 w 5726394"/>
              <a:gd name="connsiteY11" fmla="*/ 1163485 h 4549940"/>
              <a:gd name="connsiteX12" fmla="*/ 5726394 w 5726394"/>
              <a:gd name="connsiteY12" fmla="*/ 1904475 h 4549940"/>
              <a:gd name="connsiteX13" fmla="*/ 5726394 w 5726394"/>
              <a:gd name="connsiteY13" fmla="*/ 2599966 h 4549940"/>
              <a:gd name="connsiteX14" fmla="*/ 5726394 w 5726394"/>
              <a:gd name="connsiteY14" fmla="*/ 3204458 h 4549940"/>
              <a:gd name="connsiteX15" fmla="*/ 5726394 w 5726394"/>
              <a:gd name="connsiteY15" fmla="*/ 3899949 h 4549940"/>
              <a:gd name="connsiteX16" fmla="*/ 5726394 w 5726394"/>
              <a:gd name="connsiteY16" fmla="*/ 4549940 h 4549940"/>
              <a:gd name="connsiteX17" fmla="*/ 5090128 w 5726394"/>
              <a:gd name="connsiteY17" fmla="*/ 4549940 h 4549940"/>
              <a:gd name="connsiteX18" fmla="*/ 4339334 w 5726394"/>
              <a:gd name="connsiteY18" fmla="*/ 4549940 h 4549940"/>
              <a:gd name="connsiteX19" fmla="*/ 3588540 w 5726394"/>
              <a:gd name="connsiteY19" fmla="*/ 4549940 h 4549940"/>
              <a:gd name="connsiteX20" fmla="*/ 2895010 w 5726394"/>
              <a:gd name="connsiteY20" fmla="*/ 4549940 h 4549940"/>
              <a:gd name="connsiteX21" fmla="*/ 2201480 w 5726394"/>
              <a:gd name="connsiteY21" fmla="*/ 4549940 h 4549940"/>
              <a:gd name="connsiteX22" fmla="*/ 1507950 w 5726394"/>
              <a:gd name="connsiteY22" fmla="*/ 4549940 h 4549940"/>
              <a:gd name="connsiteX23" fmla="*/ 986212 w 5726394"/>
              <a:gd name="connsiteY23" fmla="*/ 4549940 h 4549940"/>
              <a:gd name="connsiteX24" fmla="*/ 0 w 5726394"/>
              <a:gd name="connsiteY24" fmla="*/ 4549940 h 4549940"/>
              <a:gd name="connsiteX25" fmla="*/ 0 w 5726394"/>
              <a:gd name="connsiteY25" fmla="*/ 3899949 h 4549940"/>
              <a:gd name="connsiteX26" fmla="*/ 0 w 5726394"/>
              <a:gd name="connsiteY26" fmla="*/ 3386455 h 4549940"/>
              <a:gd name="connsiteX27" fmla="*/ 0 w 5726394"/>
              <a:gd name="connsiteY27" fmla="*/ 2690965 h 4549940"/>
              <a:gd name="connsiteX28" fmla="*/ 0 w 5726394"/>
              <a:gd name="connsiteY28" fmla="*/ 2177471 h 4549940"/>
              <a:gd name="connsiteX29" fmla="*/ 0 w 5726394"/>
              <a:gd name="connsiteY29" fmla="*/ 1527480 h 4549940"/>
              <a:gd name="connsiteX30" fmla="*/ 0 w 5726394"/>
              <a:gd name="connsiteY30" fmla="*/ 786490 h 4549940"/>
              <a:gd name="connsiteX31" fmla="*/ 0 w 5726394"/>
              <a:gd name="connsiteY31" fmla="*/ 0 h 4549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5726394" h="4549940" fill="none" extrusionOk="0">
                <a:moveTo>
                  <a:pt x="0" y="0"/>
                </a:moveTo>
                <a:cubicBezTo>
                  <a:pt x="176007" y="-5236"/>
                  <a:pt x="363986" y="-16135"/>
                  <a:pt x="521738" y="0"/>
                </a:cubicBezTo>
                <a:cubicBezTo>
                  <a:pt x="679490" y="16135"/>
                  <a:pt x="946419" y="-24117"/>
                  <a:pt x="1158004" y="0"/>
                </a:cubicBezTo>
                <a:cubicBezTo>
                  <a:pt x="1369589" y="24117"/>
                  <a:pt x="1545183" y="11856"/>
                  <a:pt x="1908798" y="0"/>
                </a:cubicBezTo>
                <a:cubicBezTo>
                  <a:pt x="2272413" y="-11856"/>
                  <a:pt x="2197664" y="-23375"/>
                  <a:pt x="2430536" y="0"/>
                </a:cubicBezTo>
                <a:cubicBezTo>
                  <a:pt x="2663408" y="23375"/>
                  <a:pt x="2902380" y="20162"/>
                  <a:pt x="3124066" y="0"/>
                </a:cubicBezTo>
                <a:cubicBezTo>
                  <a:pt x="3345752" y="-20162"/>
                  <a:pt x="3536044" y="-19881"/>
                  <a:pt x="3645804" y="0"/>
                </a:cubicBezTo>
                <a:cubicBezTo>
                  <a:pt x="3755564" y="19881"/>
                  <a:pt x="4058627" y="16612"/>
                  <a:pt x="4282070" y="0"/>
                </a:cubicBezTo>
                <a:cubicBezTo>
                  <a:pt x="4505513" y="-16612"/>
                  <a:pt x="4683053" y="5692"/>
                  <a:pt x="4975600" y="0"/>
                </a:cubicBezTo>
                <a:cubicBezTo>
                  <a:pt x="5268147" y="-5692"/>
                  <a:pt x="5443330" y="-25898"/>
                  <a:pt x="5726394" y="0"/>
                </a:cubicBezTo>
                <a:cubicBezTo>
                  <a:pt x="5748334" y="191262"/>
                  <a:pt x="5721150" y="297864"/>
                  <a:pt x="5726394" y="513493"/>
                </a:cubicBezTo>
                <a:cubicBezTo>
                  <a:pt x="5731638" y="729122"/>
                  <a:pt x="5725522" y="911868"/>
                  <a:pt x="5726394" y="1163485"/>
                </a:cubicBezTo>
                <a:cubicBezTo>
                  <a:pt x="5727266" y="1415102"/>
                  <a:pt x="5745818" y="1748300"/>
                  <a:pt x="5726394" y="1904475"/>
                </a:cubicBezTo>
                <a:cubicBezTo>
                  <a:pt x="5706971" y="2060650"/>
                  <a:pt x="5702198" y="2285730"/>
                  <a:pt x="5726394" y="2599966"/>
                </a:cubicBezTo>
                <a:cubicBezTo>
                  <a:pt x="5750590" y="2914202"/>
                  <a:pt x="5738381" y="3044953"/>
                  <a:pt x="5726394" y="3204458"/>
                </a:cubicBezTo>
                <a:cubicBezTo>
                  <a:pt x="5714407" y="3363963"/>
                  <a:pt x="5695594" y="3731906"/>
                  <a:pt x="5726394" y="3899949"/>
                </a:cubicBezTo>
                <a:cubicBezTo>
                  <a:pt x="5757194" y="4067992"/>
                  <a:pt x="5750083" y="4326592"/>
                  <a:pt x="5726394" y="4549940"/>
                </a:cubicBezTo>
                <a:cubicBezTo>
                  <a:pt x="5451372" y="4544247"/>
                  <a:pt x="5245062" y="4539507"/>
                  <a:pt x="5090128" y="4549940"/>
                </a:cubicBezTo>
                <a:cubicBezTo>
                  <a:pt x="4935194" y="4560373"/>
                  <a:pt x="4664967" y="4528269"/>
                  <a:pt x="4339334" y="4549940"/>
                </a:cubicBezTo>
                <a:cubicBezTo>
                  <a:pt x="4013701" y="4571611"/>
                  <a:pt x="3914485" y="4522565"/>
                  <a:pt x="3588540" y="4549940"/>
                </a:cubicBezTo>
                <a:cubicBezTo>
                  <a:pt x="3262595" y="4577315"/>
                  <a:pt x="3168868" y="4563195"/>
                  <a:pt x="2895010" y="4549940"/>
                </a:cubicBezTo>
                <a:cubicBezTo>
                  <a:pt x="2621152" y="4536686"/>
                  <a:pt x="2348887" y="4530548"/>
                  <a:pt x="2201480" y="4549940"/>
                </a:cubicBezTo>
                <a:cubicBezTo>
                  <a:pt x="2054073" y="4569333"/>
                  <a:pt x="1790954" y="4548805"/>
                  <a:pt x="1507950" y="4549940"/>
                </a:cubicBezTo>
                <a:cubicBezTo>
                  <a:pt x="1224946" y="4551076"/>
                  <a:pt x="1240666" y="4562729"/>
                  <a:pt x="986212" y="4549940"/>
                </a:cubicBezTo>
                <a:cubicBezTo>
                  <a:pt x="731758" y="4537151"/>
                  <a:pt x="318897" y="4586525"/>
                  <a:pt x="0" y="4549940"/>
                </a:cubicBezTo>
                <a:cubicBezTo>
                  <a:pt x="14228" y="4393901"/>
                  <a:pt x="-31188" y="4118505"/>
                  <a:pt x="0" y="3899949"/>
                </a:cubicBezTo>
                <a:cubicBezTo>
                  <a:pt x="31188" y="3681393"/>
                  <a:pt x="-16727" y="3498918"/>
                  <a:pt x="0" y="3386455"/>
                </a:cubicBezTo>
                <a:cubicBezTo>
                  <a:pt x="16727" y="3273992"/>
                  <a:pt x="-19282" y="2892046"/>
                  <a:pt x="0" y="2690965"/>
                </a:cubicBezTo>
                <a:cubicBezTo>
                  <a:pt x="19282" y="2489884"/>
                  <a:pt x="3855" y="2356861"/>
                  <a:pt x="0" y="2177471"/>
                </a:cubicBezTo>
                <a:cubicBezTo>
                  <a:pt x="-3855" y="1998081"/>
                  <a:pt x="-8727" y="1674080"/>
                  <a:pt x="0" y="1527480"/>
                </a:cubicBezTo>
                <a:cubicBezTo>
                  <a:pt x="8727" y="1380880"/>
                  <a:pt x="24727" y="1008205"/>
                  <a:pt x="0" y="786490"/>
                </a:cubicBezTo>
                <a:cubicBezTo>
                  <a:pt x="-24727" y="564775"/>
                  <a:pt x="-9831" y="298779"/>
                  <a:pt x="0" y="0"/>
                </a:cubicBezTo>
                <a:close/>
              </a:path>
              <a:path w="5726394" h="4549940" stroke="0" extrusionOk="0">
                <a:moveTo>
                  <a:pt x="0" y="0"/>
                </a:moveTo>
                <a:cubicBezTo>
                  <a:pt x="165853" y="11229"/>
                  <a:pt x="431407" y="19245"/>
                  <a:pt x="579002" y="0"/>
                </a:cubicBezTo>
                <a:cubicBezTo>
                  <a:pt x="726597" y="-19245"/>
                  <a:pt x="822135" y="13797"/>
                  <a:pt x="1043476" y="0"/>
                </a:cubicBezTo>
                <a:cubicBezTo>
                  <a:pt x="1264817" y="-13797"/>
                  <a:pt x="1633909" y="-17428"/>
                  <a:pt x="1794270" y="0"/>
                </a:cubicBezTo>
                <a:cubicBezTo>
                  <a:pt x="1954631" y="17428"/>
                  <a:pt x="2123048" y="7226"/>
                  <a:pt x="2373272" y="0"/>
                </a:cubicBezTo>
                <a:cubicBezTo>
                  <a:pt x="2623496" y="-7226"/>
                  <a:pt x="2674885" y="-19912"/>
                  <a:pt x="2952274" y="0"/>
                </a:cubicBezTo>
                <a:cubicBezTo>
                  <a:pt x="3229663" y="19912"/>
                  <a:pt x="3376758" y="21686"/>
                  <a:pt x="3703068" y="0"/>
                </a:cubicBezTo>
                <a:cubicBezTo>
                  <a:pt x="4029378" y="-21686"/>
                  <a:pt x="4034371" y="-13726"/>
                  <a:pt x="4224806" y="0"/>
                </a:cubicBezTo>
                <a:cubicBezTo>
                  <a:pt x="4415241" y="13726"/>
                  <a:pt x="4790918" y="1309"/>
                  <a:pt x="4975600" y="0"/>
                </a:cubicBezTo>
                <a:cubicBezTo>
                  <a:pt x="5160282" y="-1309"/>
                  <a:pt x="5499614" y="35052"/>
                  <a:pt x="5726394" y="0"/>
                </a:cubicBezTo>
                <a:cubicBezTo>
                  <a:pt x="5758533" y="290150"/>
                  <a:pt x="5700529" y="469260"/>
                  <a:pt x="5726394" y="649991"/>
                </a:cubicBezTo>
                <a:cubicBezTo>
                  <a:pt x="5752259" y="830722"/>
                  <a:pt x="5719343" y="989070"/>
                  <a:pt x="5726394" y="1299983"/>
                </a:cubicBezTo>
                <a:cubicBezTo>
                  <a:pt x="5733445" y="1610896"/>
                  <a:pt x="5746997" y="1705741"/>
                  <a:pt x="5726394" y="1995474"/>
                </a:cubicBezTo>
                <a:cubicBezTo>
                  <a:pt x="5705791" y="2285207"/>
                  <a:pt x="5729680" y="2353562"/>
                  <a:pt x="5726394" y="2508967"/>
                </a:cubicBezTo>
                <a:cubicBezTo>
                  <a:pt x="5723108" y="2664372"/>
                  <a:pt x="5739079" y="2932348"/>
                  <a:pt x="5726394" y="3158958"/>
                </a:cubicBezTo>
                <a:cubicBezTo>
                  <a:pt x="5713709" y="3385568"/>
                  <a:pt x="5703055" y="3537237"/>
                  <a:pt x="5726394" y="3808950"/>
                </a:cubicBezTo>
                <a:cubicBezTo>
                  <a:pt x="5749733" y="4080663"/>
                  <a:pt x="5714535" y="4311212"/>
                  <a:pt x="5726394" y="4549940"/>
                </a:cubicBezTo>
                <a:cubicBezTo>
                  <a:pt x="5416085" y="4565808"/>
                  <a:pt x="5232249" y="4523442"/>
                  <a:pt x="5032864" y="4549940"/>
                </a:cubicBezTo>
                <a:cubicBezTo>
                  <a:pt x="4833479" y="4576439"/>
                  <a:pt x="4573612" y="4571386"/>
                  <a:pt x="4396598" y="4549940"/>
                </a:cubicBezTo>
                <a:cubicBezTo>
                  <a:pt x="4219584" y="4528494"/>
                  <a:pt x="4082631" y="4563468"/>
                  <a:pt x="3932124" y="4549940"/>
                </a:cubicBezTo>
                <a:cubicBezTo>
                  <a:pt x="3781617" y="4536412"/>
                  <a:pt x="3550601" y="4550967"/>
                  <a:pt x="3410386" y="4549940"/>
                </a:cubicBezTo>
                <a:cubicBezTo>
                  <a:pt x="3270171" y="4548913"/>
                  <a:pt x="2920881" y="4557321"/>
                  <a:pt x="2659592" y="4549940"/>
                </a:cubicBezTo>
                <a:cubicBezTo>
                  <a:pt x="2398303" y="4542559"/>
                  <a:pt x="2309494" y="4530785"/>
                  <a:pt x="2023326" y="4549940"/>
                </a:cubicBezTo>
                <a:cubicBezTo>
                  <a:pt x="1737158" y="4569095"/>
                  <a:pt x="1699480" y="4534291"/>
                  <a:pt x="1501588" y="4549940"/>
                </a:cubicBezTo>
                <a:cubicBezTo>
                  <a:pt x="1303696" y="4565589"/>
                  <a:pt x="1118089" y="4549549"/>
                  <a:pt x="865322" y="4549940"/>
                </a:cubicBezTo>
                <a:cubicBezTo>
                  <a:pt x="612555" y="4550331"/>
                  <a:pt x="184645" y="4512956"/>
                  <a:pt x="0" y="4549940"/>
                </a:cubicBezTo>
                <a:cubicBezTo>
                  <a:pt x="18441" y="4346351"/>
                  <a:pt x="-18747" y="4217319"/>
                  <a:pt x="0" y="4036447"/>
                </a:cubicBezTo>
                <a:cubicBezTo>
                  <a:pt x="18747" y="3855575"/>
                  <a:pt x="-10776" y="3615119"/>
                  <a:pt x="0" y="3340956"/>
                </a:cubicBezTo>
                <a:cubicBezTo>
                  <a:pt x="10776" y="3066793"/>
                  <a:pt x="-7399" y="2986188"/>
                  <a:pt x="0" y="2781963"/>
                </a:cubicBezTo>
                <a:cubicBezTo>
                  <a:pt x="7399" y="2577738"/>
                  <a:pt x="7178" y="2331537"/>
                  <a:pt x="0" y="2040973"/>
                </a:cubicBezTo>
                <a:cubicBezTo>
                  <a:pt x="-7178" y="1750409"/>
                  <a:pt x="-20173" y="1592707"/>
                  <a:pt x="0" y="1436481"/>
                </a:cubicBezTo>
                <a:cubicBezTo>
                  <a:pt x="20173" y="1280255"/>
                  <a:pt x="18817" y="1121840"/>
                  <a:pt x="0" y="922988"/>
                </a:cubicBezTo>
                <a:cubicBezTo>
                  <a:pt x="-18817" y="724136"/>
                  <a:pt x="45215" y="324266"/>
                  <a:pt x="0" y="0"/>
                </a:cubicBezTo>
                <a:close/>
              </a:path>
            </a:pathLst>
          </a:custGeom>
          <a:solidFill>
            <a:srgbClr val="18806E"/>
          </a:solidFill>
          <a:ln w="44450" cmpd="sng">
            <a:noFill/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sk:type>
                    <ask:lineSketchFreehand/>
                  </ask:type>
                </ask:lineSketchStyleProps>
              </a:ext>
            </a:extLst>
          </a:ln>
        </p:spPr>
        <p:txBody>
          <a:bodyPr tIns="144000" anchor="ctr">
            <a:norm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Автоматическое извлечение признаков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Высокая точность на сложных данных</a:t>
            </a:r>
          </a:p>
          <a:p>
            <a:r>
              <a:rPr lang="ru-RU" dirty="0">
                <a:solidFill>
                  <a:schemeClr val="bg1"/>
                </a:solidFill>
              </a:rPr>
              <a:t>Устойчивость к шуму и вариациям</a:t>
            </a:r>
            <a:endParaRPr lang="en-US" b="1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Эффективность в условиях "</a:t>
            </a:r>
            <a:r>
              <a:rPr lang="ru-RU" dirty="0" err="1">
                <a:solidFill>
                  <a:schemeClr val="bg1"/>
                </a:solidFill>
              </a:rPr>
              <a:t>неразмеченности</a:t>
            </a:r>
            <a:r>
              <a:rPr lang="ru-RU" dirty="0">
                <a:solidFill>
                  <a:schemeClr val="bg1"/>
                </a:solidFill>
              </a:rPr>
              <a:t>" данных</a:t>
            </a:r>
            <a:r>
              <a:rPr lang="en-US" dirty="0">
                <a:solidFill>
                  <a:schemeClr val="bg1"/>
                </a:solidFill>
              </a:rPr>
              <a:t>;</a:t>
            </a:r>
          </a:p>
          <a:p>
            <a:r>
              <a:rPr lang="ru-RU" dirty="0">
                <a:solidFill>
                  <a:schemeClr val="bg1"/>
                </a:solidFill>
              </a:rPr>
              <a:t>Масштабируемость и универсальность</a:t>
            </a:r>
            <a:r>
              <a:rPr lang="en-US" dirty="0">
                <a:solidFill>
                  <a:schemeClr val="bg1"/>
                </a:solidFill>
              </a:rPr>
              <a:t>. 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4E50023-BD83-4617-BE09-BEE12F0644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94090" y="1484668"/>
            <a:ext cx="4841491" cy="4549941"/>
          </a:xfrm>
          <a:custGeom>
            <a:avLst/>
            <a:gdLst>
              <a:gd name="connsiteX0" fmla="*/ 0 w 4841491"/>
              <a:gd name="connsiteY0" fmla="*/ 0 h 4549941"/>
              <a:gd name="connsiteX1" fmla="*/ 788471 w 4841491"/>
              <a:gd name="connsiteY1" fmla="*/ 0 h 4549941"/>
              <a:gd name="connsiteX2" fmla="*/ 1576943 w 4841491"/>
              <a:gd name="connsiteY2" fmla="*/ 0 h 4549941"/>
              <a:gd name="connsiteX3" fmla="*/ 2268584 w 4841491"/>
              <a:gd name="connsiteY3" fmla="*/ 0 h 4549941"/>
              <a:gd name="connsiteX4" fmla="*/ 3008641 w 4841491"/>
              <a:gd name="connsiteY4" fmla="*/ 0 h 4549941"/>
              <a:gd name="connsiteX5" fmla="*/ 3651867 w 4841491"/>
              <a:gd name="connsiteY5" fmla="*/ 0 h 4549941"/>
              <a:gd name="connsiteX6" fmla="*/ 4841491 w 4841491"/>
              <a:gd name="connsiteY6" fmla="*/ 0 h 4549941"/>
              <a:gd name="connsiteX7" fmla="*/ 4841491 w 4841491"/>
              <a:gd name="connsiteY7" fmla="*/ 740990 h 4549941"/>
              <a:gd name="connsiteX8" fmla="*/ 4841491 w 4841491"/>
              <a:gd name="connsiteY8" fmla="*/ 1299983 h 4549941"/>
              <a:gd name="connsiteX9" fmla="*/ 4841491 w 4841491"/>
              <a:gd name="connsiteY9" fmla="*/ 1813476 h 4549941"/>
              <a:gd name="connsiteX10" fmla="*/ 4841491 w 4841491"/>
              <a:gd name="connsiteY10" fmla="*/ 2372469 h 4549941"/>
              <a:gd name="connsiteX11" fmla="*/ 4841491 w 4841491"/>
              <a:gd name="connsiteY11" fmla="*/ 2976961 h 4549941"/>
              <a:gd name="connsiteX12" fmla="*/ 4841491 w 4841491"/>
              <a:gd name="connsiteY12" fmla="*/ 3626953 h 4549941"/>
              <a:gd name="connsiteX13" fmla="*/ 4841491 w 4841491"/>
              <a:gd name="connsiteY13" fmla="*/ 4549941 h 4549941"/>
              <a:gd name="connsiteX14" fmla="*/ 4053020 w 4841491"/>
              <a:gd name="connsiteY14" fmla="*/ 4549941 h 4549941"/>
              <a:gd name="connsiteX15" fmla="*/ 3361378 w 4841491"/>
              <a:gd name="connsiteY15" fmla="*/ 4549941 h 4549941"/>
              <a:gd name="connsiteX16" fmla="*/ 2669736 w 4841491"/>
              <a:gd name="connsiteY16" fmla="*/ 4549941 h 4549941"/>
              <a:gd name="connsiteX17" fmla="*/ 1978095 w 4841491"/>
              <a:gd name="connsiteY17" fmla="*/ 4549941 h 4549941"/>
              <a:gd name="connsiteX18" fmla="*/ 1286453 w 4841491"/>
              <a:gd name="connsiteY18" fmla="*/ 4549941 h 4549941"/>
              <a:gd name="connsiteX19" fmla="*/ 643227 w 4841491"/>
              <a:gd name="connsiteY19" fmla="*/ 4549941 h 4549941"/>
              <a:gd name="connsiteX20" fmla="*/ 0 w 4841491"/>
              <a:gd name="connsiteY20" fmla="*/ 4549941 h 4549941"/>
              <a:gd name="connsiteX21" fmla="*/ 0 w 4841491"/>
              <a:gd name="connsiteY21" fmla="*/ 3899949 h 4549941"/>
              <a:gd name="connsiteX22" fmla="*/ 0 w 4841491"/>
              <a:gd name="connsiteY22" fmla="*/ 3204458 h 4549941"/>
              <a:gd name="connsiteX23" fmla="*/ 0 w 4841491"/>
              <a:gd name="connsiteY23" fmla="*/ 2508967 h 4549941"/>
              <a:gd name="connsiteX24" fmla="*/ 0 w 4841491"/>
              <a:gd name="connsiteY24" fmla="*/ 1767977 h 4549941"/>
              <a:gd name="connsiteX25" fmla="*/ 0 w 4841491"/>
              <a:gd name="connsiteY25" fmla="*/ 1117986 h 4549941"/>
              <a:gd name="connsiteX26" fmla="*/ 0 w 4841491"/>
              <a:gd name="connsiteY26" fmla="*/ 0 h 4549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4841491" h="4549941" fill="none" extrusionOk="0">
                <a:moveTo>
                  <a:pt x="0" y="0"/>
                </a:moveTo>
                <a:cubicBezTo>
                  <a:pt x="380297" y="29742"/>
                  <a:pt x="615233" y="22582"/>
                  <a:pt x="788471" y="0"/>
                </a:cubicBezTo>
                <a:cubicBezTo>
                  <a:pt x="961709" y="-22582"/>
                  <a:pt x="1353587" y="-15646"/>
                  <a:pt x="1576943" y="0"/>
                </a:cubicBezTo>
                <a:cubicBezTo>
                  <a:pt x="1800299" y="15646"/>
                  <a:pt x="1937597" y="20248"/>
                  <a:pt x="2268584" y="0"/>
                </a:cubicBezTo>
                <a:cubicBezTo>
                  <a:pt x="2599571" y="-20248"/>
                  <a:pt x="2693716" y="-21136"/>
                  <a:pt x="3008641" y="0"/>
                </a:cubicBezTo>
                <a:cubicBezTo>
                  <a:pt x="3323566" y="21136"/>
                  <a:pt x="3516963" y="-12542"/>
                  <a:pt x="3651867" y="0"/>
                </a:cubicBezTo>
                <a:cubicBezTo>
                  <a:pt x="3786771" y="12542"/>
                  <a:pt x="4518720" y="3111"/>
                  <a:pt x="4841491" y="0"/>
                </a:cubicBezTo>
                <a:cubicBezTo>
                  <a:pt x="4821723" y="211182"/>
                  <a:pt x="4849667" y="382200"/>
                  <a:pt x="4841491" y="740990"/>
                </a:cubicBezTo>
                <a:cubicBezTo>
                  <a:pt x="4833316" y="1099780"/>
                  <a:pt x="4819326" y="1022642"/>
                  <a:pt x="4841491" y="1299983"/>
                </a:cubicBezTo>
                <a:cubicBezTo>
                  <a:pt x="4863656" y="1577324"/>
                  <a:pt x="4866225" y="1671079"/>
                  <a:pt x="4841491" y="1813476"/>
                </a:cubicBezTo>
                <a:cubicBezTo>
                  <a:pt x="4816757" y="1955873"/>
                  <a:pt x="4831309" y="2243273"/>
                  <a:pt x="4841491" y="2372469"/>
                </a:cubicBezTo>
                <a:cubicBezTo>
                  <a:pt x="4851673" y="2501665"/>
                  <a:pt x="4847458" y="2815063"/>
                  <a:pt x="4841491" y="2976961"/>
                </a:cubicBezTo>
                <a:cubicBezTo>
                  <a:pt x="4835524" y="3138859"/>
                  <a:pt x="4821791" y="3398540"/>
                  <a:pt x="4841491" y="3626953"/>
                </a:cubicBezTo>
                <a:cubicBezTo>
                  <a:pt x="4861191" y="3855366"/>
                  <a:pt x="4848974" y="4225010"/>
                  <a:pt x="4841491" y="4549941"/>
                </a:cubicBezTo>
                <a:cubicBezTo>
                  <a:pt x="4674836" y="4530319"/>
                  <a:pt x="4394444" y="4582633"/>
                  <a:pt x="4053020" y="4549941"/>
                </a:cubicBezTo>
                <a:cubicBezTo>
                  <a:pt x="3711596" y="4517249"/>
                  <a:pt x="3605690" y="4532224"/>
                  <a:pt x="3361378" y="4549941"/>
                </a:cubicBezTo>
                <a:cubicBezTo>
                  <a:pt x="3117066" y="4567658"/>
                  <a:pt x="3012269" y="4557770"/>
                  <a:pt x="2669736" y="4549941"/>
                </a:cubicBezTo>
                <a:cubicBezTo>
                  <a:pt x="2327203" y="4542112"/>
                  <a:pt x="2223537" y="4523266"/>
                  <a:pt x="1978095" y="4549941"/>
                </a:cubicBezTo>
                <a:cubicBezTo>
                  <a:pt x="1732653" y="4576616"/>
                  <a:pt x="1462424" y="4536926"/>
                  <a:pt x="1286453" y="4549941"/>
                </a:cubicBezTo>
                <a:cubicBezTo>
                  <a:pt x="1110482" y="4562956"/>
                  <a:pt x="841213" y="4542312"/>
                  <a:pt x="643227" y="4549941"/>
                </a:cubicBezTo>
                <a:cubicBezTo>
                  <a:pt x="445241" y="4557570"/>
                  <a:pt x="236232" y="4552075"/>
                  <a:pt x="0" y="4549941"/>
                </a:cubicBezTo>
                <a:cubicBezTo>
                  <a:pt x="18602" y="4268482"/>
                  <a:pt x="13041" y="4125036"/>
                  <a:pt x="0" y="3899949"/>
                </a:cubicBezTo>
                <a:cubicBezTo>
                  <a:pt x="-13041" y="3674862"/>
                  <a:pt x="27312" y="3424360"/>
                  <a:pt x="0" y="3204458"/>
                </a:cubicBezTo>
                <a:cubicBezTo>
                  <a:pt x="-27312" y="2984556"/>
                  <a:pt x="33134" y="2758023"/>
                  <a:pt x="0" y="2508967"/>
                </a:cubicBezTo>
                <a:cubicBezTo>
                  <a:pt x="-33134" y="2259911"/>
                  <a:pt x="-5873" y="1951454"/>
                  <a:pt x="0" y="1767977"/>
                </a:cubicBezTo>
                <a:cubicBezTo>
                  <a:pt x="5873" y="1584500"/>
                  <a:pt x="23758" y="1372628"/>
                  <a:pt x="0" y="1117986"/>
                </a:cubicBezTo>
                <a:cubicBezTo>
                  <a:pt x="-23758" y="863344"/>
                  <a:pt x="15142" y="280093"/>
                  <a:pt x="0" y="0"/>
                </a:cubicBezTo>
                <a:close/>
              </a:path>
              <a:path w="4841491" h="4549941" stroke="0" extrusionOk="0">
                <a:moveTo>
                  <a:pt x="0" y="0"/>
                </a:moveTo>
                <a:cubicBezTo>
                  <a:pt x="139090" y="-6170"/>
                  <a:pt x="428753" y="22204"/>
                  <a:pt x="643227" y="0"/>
                </a:cubicBezTo>
                <a:cubicBezTo>
                  <a:pt x="857701" y="-22204"/>
                  <a:pt x="1076096" y="25285"/>
                  <a:pt x="1189624" y="0"/>
                </a:cubicBezTo>
                <a:cubicBezTo>
                  <a:pt x="1303152" y="-25285"/>
                  <a:pt x="1634036" y="1413"/>
                  <a:pt x="1978095" y="0"/>
                </a:cubicBezTo>
                <a:cubicBezTo>
                  <a:pt x="2322154" y="-1413"/>
                  <a:pt x="2485575" y="-19917"/>
                  <a:pt x="2621322" y="0"/>
                </a:cubicBezTo>
                <a:cubicBezTo>
                  <a:pt x="2757069" y="19917"/>
                  <a:pt x="3129565" y="29389"/>
                  <a:pt x="3264548" y="0"/>
                </a:cubicBezTo>
                <a:cubicBezTo>
                  <a:pt x="3399531" y="-29389"/>
                  <a:pt x="3848642" y="-1921"/>
                  <a:pt x="4053020" y="0"/>
                </a:cubicBezTo>
                <a:cubicBezTo>
                  <a:pt x="4257398" y="1921"/>
                  <a:pt x="4598445" y="-3947"/>
                  <a:pt x="4841491" y="0"/>
                </a:cubicBezTo>
                <a:cubicBezTo>
                  <a:pt x="4872107" y="224267"/>
                  <a:pt x="4812543" y="568388"/>
                  <a:pt x="4841491" y="740990"/>
                </a:cubicBezTo>
                <a:cubicBezTo>
                  <a:pt x="4870440" y="913592"/>
                  <a:pt x="4837551" y="1113364"/>
                  <a:pt x="4841491" y="1299983"/>
                </a:cubicBezTo>
                <a:cubicBezTo>
                  <a:pt x="4845431" y="1486602"/>
                  <a:pt x="4850875" y="1635826"/>
                  <a:pt x="4841491" y="1858976"/>
                </a:cubicBezTo>
                <a:cubicBezTo>
                  <a:pt x="4832107" y="2082126"/>
                  <a:pt x="4832438" y="2202607"/>
                  <a:pt x="4841491" y="2508967"/>
                </a:cubicBezTo>
                <a:cubicBezTo>
                  <a:pt x="4850544" y="2815327"/>
                  <a:pt x="4862094" y="2914725"/>
                  <a:pt x="4841491" y="3204458"/>
                </a:cubicBezTo>
                <a:cubicBezTo>
                  <a:pt x="4820888" y="3494191"/>
                  <a:pt x="4848013" y="3557235"/>
                  <a:pt x="4841491" y="3717952"/>
                </a:cubicBezTo>
                <a:cubicBezTo>
                  <a:pt x="4834969" y="3878669"/>
                  <a:pt x="4877827" y="4295337"/>
                  <a:pt x="4841491" y="4549941"/>
                </a:cubicBezTo>
                <a:cubicBezTo>
                  <a:pt x="4656160" y="4549471"/>
                  <a:pt x="4471255" y="4530028"/>
                  <a:pt x="4149849" y="4549941"/>
                </a:cubicBezTo>
                <a:cubicBezTo>
                  <a:pt x="3828443" y="4569854"/>
                  <a:pt x="3596740" y="4575176"/>
                  <a:pt x="3458208" y="4549941"/>
                </a:cubicBezTo>
                <a:cubicBezTo>
                  <a:pt x="3319676" y="4524706"/>
                  <a:pt x="3042597" y="4521463"/>
                  <a:pt x="2669736" y="4549941"/>
                </a:cubicBezTo>
                <a:cubicBezTo>
                  <a:pt x="2296875" y="4578419"/>
                  <a:pt x="2213181" y="4555107"/>
                  <a:pt x="1978095" y="4549941"/>
                </a:cubicBezTo>
                <a:cubicBezTo>
                  <a:pt x="1743009" y="4544775"/>
                  <a:pt x="1581178" y="4565333"/>
                  <a:pt x="1431698" y="4549941"/>
                </a:cubicBezTo>
                <a:cubicBezTo>
                  <a:pt x="1282218" y="4534549"/>
                  <a:pt x="1066346" y="4532582"/>
                  <a:pt x="836886" y="4549941"/>
                </a:cubicBezTo>
                <a:cubicBezTo>
                  <a:pt x="607426" y="4567300"/>
                  <a:pt x="403061" y="4509290"/>
                  <a:pt x="0" y="4549941"/>
                </a:cubicBezTo>
                <a:cubicBezTo>
                  <a:pt x="-19130" y="4399379"/>
                  <a:pt x="-22810" y="4055935"/>
                  <a:pt x="0" y="3899949"/>
                </a:cubicBezTo>
                <a:cubicBezTo>
                  <a:pt x="22810" y="3743963"/>
                  <a:pt x="-1784" y="3497090"/>
                  <a:pt x="0" y="3249958"/>
                </a:cubicBezTo>
                <a:cubicBezTo>
                  <a:pt x="1784" y="3002826"/>
                  <a:pt x="20416" y="2940887"/>
                  <a:pt x="0" y="2645466"/>
                </a:cubicBezTo>
                <a:cubicBezTo>
                  <a:pt x="-20416" y="2350045"/>
                  <a:pt x="-19433" y="2302187"/>
                  <a:pt x="0" y="2131972"/>
                </a:cubicBezTo>
                <a:cubicBezTo>
                  <a:pt x="19433" y="1961757"/>
                  <a:pt x="-18747" y="1799351"/>
                  <a:pt x="0" y="1618479"/>
                </a:cubicBezTo>
                <a:cubicBezTo>
                  <a:pt x="18747" y="1437607"/>
                  <a:pt x="-10776" y="1197151"/>
                  <a:pt x="0" y="922988"/>
                </a:cubicBezTo>
                <a:cubicBezTo>
                  <a:pt x="10776" y="648825"/>
                  <a:pt x="-22763" y="313306"/>
                  <a:pt x="0" y="0"/>
                </a:cubicBezTo>
                <a:close/>
              </a:path>
            </a:pathLst>
          </a:custGeom>
          <a:solidFill>
            <a:schemeClr val="bg1"/>
          </a:solidFill>
          <a:ln w="44450" cmpd="sng">
            <a:noFill/>
            <a:extLst>
              <a:ext uri="{C807C97D-BFC1-408E-A445-0C87EB9F89A2}">
                <ask:lineSketchStyleProps xmlns:ask="http://schemas.microsoft.com/office/drawing/2018/sketchyshapes" sd="1219033472">
                  <ask:type>
                    <ask:lineSketchFreehand/>
                  </ask:type>
                </ask:lineSketchStyleProps>
              </a:ext>
            </a:extLst>
          </a:ln>
        </p:spPr>
        <p:txBody>
          <a:bodyPr anchor="ctr">
            <a:normAutofit/>
          </a:bodyPr>
          <a:lstStyle/>
          <a:p>
            <a:r>
              <a:rPr lang="ru-RU" dirty="0">
                <a:solidFill>
                  <a:srgbClr val="0A3830"/>
                </a:solidFill>
              </a:rPr>
              <a:t>Требовательность к данным</a:t>
            </a:r>
          </a:p>
          <a:p>
            <a:r>
              <a:rPr lang="ru-RU" dirty="0">
                <a:solidFill>
                  <a:srgbClr val="0A3830"/>
                </a:solidFill>
              </a:rPr>
              <a:t>Вычислительная сложность</a:t>
            </a:r>
          </a:p>
          <a:p>
            <a:r>
              <a:rPr lang="ru-RU" dirty="0">
                <a:solidFill>
                  <a:srgbClr val="0A3830"/>
                </a:solidFill>
              </a:rPr>
              <a:t>Низкая интерпретируемость</a:t>
            </a:r>
          </a:p>
          <a:p>
            <a:r>
              <a:rPr lang="ru-RU" dirty="0">
                <a:solidFill>
                  <a:srgbClr val="0A3830"/>
                </a:solidFill>
              </a:rPr>
              <a:t>Сложность разработки</a:t>
            </a:r>
          </a:p>
          <a:p>
            <a:r>
              <a:rPr lang="ru-RU" dirty="0">
                <a:solidFill>
                  <a:srgbClr val="0A3830"/>
                </a:solidFill>
              </a:rPr>
              <a:t>Проблемы переобучения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272D4F94-CD94-4C62-9F1D-EAD1073B1FB2}"/>
              </a:ext>
            </a:extLst>
          </p:cNvPr>
          <p:cNvSpPr/>
          <p:nvPr/>
        </p:nvSpPr>
        <p:spPr>
          <a:xfrm>
            <a:off x="556419" y="682967"/>
            <a:ext cx="5726394" cy="587785"/>
          </a:xfrm>
          <a:custGeom>
            <a:avLst/>
            <a:gdLst>
              <a:gd name="connsiteX0" fmla="*/ 0 w 5726394"/>
              <a:gd name="connsiteY0" fmla="*/ 97966 h 587785"/>
              <a:gd name="connsiteX1" fmla="*/ 97966 w 5726394"/>
              <a:gd name="connsiteY1" fmla="*/ 0 h 587785"/>
              <a:gd name="connsiteX2" fmla="*/ 789274 w 5726394"/>
              <a:gd name="connsiteY2" fmla="*/ 0 h 587785"/>
              <a:gd name="connsiteX3" fmla="*/ 1369972 w 5726394"/>
              <a:gd name="connsiteY3" fmla="*/ 0 h 587785"/>
              <a:gd name="connsiteX4" fmla="*/ 2116585 w 5726394"/>
              <a:gd name="connsiteY4" fmla="*/ 0 h 587785"/>
              <a:gd name="connsiteX5" fmla="*/ 2697283 w 5726394"/>
              <a:gd name="connsiteY5" fmla="*/ 0 h 587785"/>
              <a:gd name="connsiteX6" fmla="*/ 3443896 w 5726394"/>
              <a:gd name="connsiteY6" fmla="*/ 0 h 587785"/>
              <a:gd name="connsiteX7" fmla="*/ 3969289 w 5726394"/>
              <a:gd name="connsiteY7" fmla="*/ 0 h 587785"/>
              <a:gd name="connsiteX8" fmla="*/ 4715902 w 5726394"/>
              <a:gd name="connsiteY8" fmla="*/ 0 h 587785"/>
              <a:gd name="connsiteX9" fmla="*/ 5628428 w 5726394"/>
              <a:gd name="connsiteY9" fmla="*/ 0 h 587785"/>
              <a:gd name="connsiteX10" fmla="*/ 5726394 w 5726394"/>
              <a:gd name="connsiteY10" fmla="*/ 97966 h 587785"/>
              <a:gd name="connsiteX11" fmla="*/ 5726394 w 5726394"/>
              <a:gd name="connsiteY11" fmla="*/ 489819 h 587785"/>
              <a:gd name="connsiteX12" fmla="*/ 5628428 w 5726394"/>
              <a:gd name="connsiteY12" fmla="*/ 587785 h 587785"/>
              <a:gd name="connsiteX13" fmla="*/ 5047729 w 5726394"/>
              <a:gd name="connsiteY13" fmla="*/ 587785 h 587785"/>
              <a:gd name="connsiteX14" fmla="*/ 4411726 w 5726394"/>
              <a:gd name="connsiteY14" fmla="*/ 587785 h 587785"/>
              <a:gd name="connsiteX15" fmla="*/ 3720419 w 5726394"/>
              <a:gd name="connsiteY15" fmla="*/ 587785 h 587785"/>
              <a:gd name="connsiteX16" fmla="*/ 3139720 w 5726394"/>
              <a:gd name="connsiteY16" fmla="*/ 587785 h 587785"/>
              <a:gd name="connsiteX17" fmla="*/ 2337803 w 5726394"/>
              <a:gd name="connsiteY17" fmla="*/ 587785 h 587785"/>
              <a:gd name="connsiteX18" fmla="*/ 1646495 w 5726394"/>
              <a:gd name="connsiteY18" fmla="*/ 587785 h 587785"/>
              <a:gd name="connsiteX19" fmla="*/ 844578 w 5726394"/>
              <a:gd name="connsiteY19" fmla="*/ 587785 h 587785"/>
              <a:gd name="connsiteX20" fmla="*/ 97966 w 5726394"/>
              <a:gd name="connsiteY20" fmla="*/ 587785 h 587785"/>
              <a:gd name="connsiteX21" fmla="*/ 0 w 5726394"/>
              <a:gd name="connsiteY21" fmla="*/ 489819 h 587785"/>
              <a:gd name="connsiteX22" fmla="*/ 0 w 5726394"/>
              <a:gd name="connsiteY22" fmla="*/ 97966 h 58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5726394" h="587785" fill="none" extrusionOk="0">
                <a:moveTo>
                  <a:pt x="0" y="97966"/>
                </a:moveTo>
                <a:cubicBezTo>
                  <a:pt x="-5908" y="43527"/>
                  <a:pt x="51314" y="6417"/>
                  <a:pt x="97966" y="0"/>
                </a:cubicBezTo>
                <a:cubicBezTo>
                  <a:pt x="413311" y="-12532"/>
                  <a:pt x="580263" y="10382"/>
                  <a:pt x="789274" y="0"/>
                </a:cubicBezTo>
                <a:cubicBezTo>
                  <a:pt x="998285" y="-10382"/>
                  <a:pt x="1186937" y="28757"/>
                  <a:pt x="1369972" y="0"/>
                </a:cubicBezTo>
                <a:cubicBezTo>
                  <a:pt x="1553007" y="-28757"/>
                  <a:pt x="1861952" y="15376"/>
                  <a:pt x="2116585" y="0"/>
                </a:cubicBezTo>
                <a:cubicBezTo>
                  <a:pt x="2371218" y="-15376"/>
                  <a:pt x="2530042" y="-1872"/>
                  <a:pt x="2697283" y="0"/>
                </a:cubicBezTo>
                <a:cubicBezTo>
                  <a:pt x="2864524" y="1872"/>
                  <a:pt x="3204072" y="-8065"/>
                  <a:pt x="3443896" y="0"/>
                </a:cubicBezTo>
                <a:cubicBezTo>
                  <a:pt x="3683720" y="8065"/>
                  <a:pt x="3835433" y="21741"/>
                  <a:pt x="3969289" y="0"/>
                </a:cubicBezTo>
                <a:cubicBezTo>
                  <a:pt x="4103145" y="-21741"/>
                  <a:pt x="4497767" y="9466"/>
                  <a:pt x="4715902" y="0"/>
                </a:cubicBezTo>
                <a:cubicBezTo>
                  <a:pt x="4934037" y="-9466"/>
                  <a:pt x="5331144" y="-31596"/>
                  <a:pt x="5628428" y="0"/>
                </a:cubicBezTo>
                <a:cubicBezTo>
                  <a:pt x="5673114" y="5282"/>
                  <a:pt x="5727036" y="45600"/>
                  <a:pt x="5726394" y="97966"/>
                </a:cubicBezTo>
                <a:cubicBezTo>
                  <a:pt x="5743384" y="205287"/>
                  <a:pt x="5745125" y="321690"/>
                  <a:pt x="5726394" y="489819"/>
                </a:cubicBezTo>
                <a:cubicBezTo>
                  <a:pt x="5729303" y="543154"/>
                  <a:pt x="5681868" y="592388"/>
                  <a:pt x="5628428" y="587785"/>
                </a:cubicBezTo>
                <a:cubicBezTo>
                  <a:pt x="5342947" y="595333"/>
                  <a:pt x="5333410" y="589807"/>
                  <a:pt x="5047729" y="587785"/>
                </a:cubicBezTo>
                <a:cubicBezTo>
                  <a:pt x="4762048" y="585763"/>
                  <a:pt x="4633630" y="568529"/>
                  <a:pt x="4411726" y="587785"/>
                </a:cubicBezTo>
                <a:cubicBezTo>
                  <a:pt x="4189822" y="607041"/>
                  <a:pt x="3955010" y="568776"/>
                  <a:pt x="3720419" y="587785"/>
                </a:cubicBezTo>
                <a:cubicBezTo>
                  <a:pt x="3485828" y="606794"/>
                  <a:pt x="3264738" y="563980"/>
                  <a:pt x="3139720" y="587785"/>
                </a:cubicBezTo>
                <a:cubicBezTo>
                  <a:pt x="3014702" y="611590"/>
                  <a:pt x="2631457" y="606160"/>
                  <a:pt x="2337803" y="587785"/>
                </a:cubicBezTo>
                <a:cubicBezTo>
                  <a:pt x="2044149" y="569410"/>
                  <a:pt x="1940080" y="570887"/>
                  <a:pt x="1646495" y="587785"/>
                </a:cubicBezTo>
                <a:cubicBezTo>
                  <a:pt x="1352910" y="604683"/>
                  <a:pt x="1167101" y="556951"/>
                  <a:pt x="844578" y="587785"/>
                </a:cubicBezTo>
                <a:cubicBezTo>
                  <a:pt x="522055" y="618619"/>
                  <a:pt x="448287" y="590343"/>
                  <a:pt x="97966" y="587785"/>
                </a:cubicBezTo>
                <a:cubicBezTo>
                  <a:pt x="42428" y="593035"/>
                  <a:pt x="904" y="542402"/>
                  <a:pt x="0" y="489819"/>
                </a:cubicBezTo>
                <a:cubicBezTo>
                  <a:pt x="-7783" y="374089"/>
                  <a:pt x="-16215" y="272122"/>
                  <a:pt x="0" y="97966"/>
                </a:cubicBezTo>
                <a:close/>
              </a:path>
              <a:path w="5726394" h="587785" stroke="0" extrusionOk="0">
                <a:moveTo>
                  <a:pt x="0" y="97966"/>
                </a:moveTo>
                <a:cubicBezTo>
                  <a:pt x="-11239" y="36928"/>
                  <a:pt x="36126" y="2903"/>
                  <a:pt x="97966" y="0"/>
                </a:cubicBezTo>
                <a:cubicBezTo>
                  <a:pt x="417950" y="-28258"/>
                  <a:pt x="645262" y="12923"/>
                  <a:pt x="899883" y="0"/>
                </a:cubicBezTo>
                <a:cubicBezTo>
                  <a:pt x="1154504" y="-12923"/>
                  <a:pt x="1240099" y="-28079"/>
                  <a:pt x="1535886" y="0"/>
                </a:cubicBezTo>
                <a:cubicBezTo>
                  <a:pt x="1831673" y="28079"/>
                  <a:pt x="1889196" y="4072"/>
                  <a:pt x="2116585" y="0"/>
                </a:cubicBezTo>
                <a:cubicBezTo>
                  <a:pt x="2343974" y="-4072"/>
                  <a:pt x="2521097" y="34092"/>
                  <a:pt x="2863197" y="0"/>
                </a:cubicBezTo>
                <a:cubicBezTo>
                  <a:pt x="3205297" y="-34092"/>
                  <a:pt x="3262838" y="-3134"/>
                  <a:pt x="3499200" y="0"/>
                </a:cubicBezTo>
                <a:cubicBezTo>
                  <a:pt x="3735562" y="3134"/>
                  <a:pt x="4014747" y="1505"/>
                  <a:pt x="4301117" y="0"/>
                </a:cubicBezTo>
                <a:cubicBezTo>
                  <a:pt x="4587487" y="-1505"/>
                  <a:pt x="4762818" y="-988"/>
                  <a:pt x="4881816" y="0"/>
                </a:cubicBezTo>
                <a:cubicBezTo>
                  <a:pt x="5000814" y="988"/>
                  <a:pt x="5429930" y="-35988"/>
                  <a:pt x="5628428" y="0"/>
                </a:cubicBezTo>
                <a:cubicBezTo>
                  <a:pt x="5695312" y="3072"/>
                  <a:pt x="5715205" y="42051"/>
                  <a:pt x="5726394" y="97966"/>
                </a:cubicBezTo>
                <a:cubicBezTo>
                  <a:pt x="5741380" y="269445"/>
                  <a:pt x="5737166" y="407068"/>
                  <a:pt x="5726394" y="489819"/>
                </a:cubicBezTo>
                <a:cubicBezTo>
                  <a:pt x="5731076" y="539298"/>
                  <a:pt x="5688340" y="584041"/>
                  <a:pt x="5628428" y="587785"/>
                </a:cubicBezTo>
                <a:cubicBezTo>
                  <a:pt x="5478627" y="587201"/>
                  <a:pt x="5199392" y="569118"/>
                  <a:pt x="4937120" y="587785"/>
                </a:cubicBezTo>
                <a:cubicBezTo>
                  <a:pt x="4674848" y="606452"/>
                  <a:pt x="4541861" y="603822"/>
                  <a:pt x="4356422" y="587785"/>
                </a:cubicBezTo>
                <a:cubicBezTo>
                  <a:pt x="4170983" y="571748"/>
                  <a:pt x="3886306" y="604212"/>
                  <a:pt x="3665114" y="587785"/>
                </a:cubicBezTo>
                <a:cubicBezTo>
                  <a:pt x="3443922" y="571358"/>
                  <a:pt x="3117185" y="560203"/>
                  <a:pt x="2863197" y="587785"/>
                </a:cubicBezTo>
                <a:cubicBezTo>
                  <a:pt x="2609209" y="615367"/>
                  <a:pt x="2383737" y="620374"/>
                  <a:pt x="2171889" y="587785"/>
                </a:cubicBezTo>
                <a:cubicBezTo>
                  <a:pt x="1960041" y="555196"/>
                  <a:pt x="1831355" y="603430"/>
                  <a:pt x="1646495" y="587785"/>
                </a:cubicBezTo>
                <a:cubicBezTo>
                  <a:pt x="1461635" y="572140"/>
                  <a:pt x="1261365" y="601493"/>
                  <a:pt x="1065797" y="587785"/>
                </a:cubicBezTo>
                <a:cubicBezTo>
                  <a:pt x="870229" y="574077"/>
                  <a:pt x="389900" y="544395"/>
                  <a:pt x="97966" y="587785"/>
                </a:cubicBezTo>
                <a:cubicBezTo>
                  <a:pt x="52126" y="586036"/>
                  <a:pt x="1060" y="553993"/>
                  <a:pt x="0" y="489819"/>
                </a:cubicBezTo>
                <a:cubicBezTo>
                  <a:pt x="-4928" y="314876"/>
                  <a:pt x="-13721" y="222621"/>
                  <a:pt x="0" y="97966"/>
                </a:cubicBezTo>
                <a:close/>
              </a:path>
            </a:pathLst>
          </a:custGeom>
          <a:solidFill>
            <a:srgbClr val="18806E"/>
          </a:solidFill>
          <a:ln w="88900" cap="flat">
            <a:solidFill>
              <a:srgbClr val="18806E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3600" b="1" dirty="0">
                <a:solidFill>
                  <a:schemeClr val="bg1"/>
                </a:solidFill>
              </a:rPr>
              <a:t>Преимущества</a:t>
            </a:r>
            <a:endParaRPr lang="ru-RU" sz="2400" b="1" dirty="0">
              <a:solidFill>
                <a:schemeClr val="bg1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117C232A-661F-441A-B257-5666CFB263BC}"/>
              </a:ext>
            </a:extLst>
          </p:cNvPr>
          <p:cNvSpPr/>
          <p:nvPr/>
        </p:nvSpPr>
        <p:spPr>
          <a:xfrm>
            <a:off x="6794090" y="682966"/>
            <a:ext cx="4841491" cy="587785"/>
          </a:xfrm>
          <a:custGeom>
            <a:avLst/>
            <a:gdLst>
              <a:gd name="connsiteX0" fmla="*/ 0 w 4841491"/>
              <a:gd name="connsiteY0" fmla="*/ 97966 h 587785"/>
              <a:gd name="connsiteX1" fmla="*/ 97966 w 4841491"/>
              <a:gd name="connsiteY1" fmla="*/ 0 h 587785"/>
              <a:gd name="connsiteX2" fmla="*/ 715162 w 4841491"/>
              <a:gd name="connsiteY2" fmla="*/ 0 h 587785"/>
              <a:gd name="connsiteX3" fmla="*/ 1239446 w 4841491"/>
              <a:gd name="connsiteY3" fmla="*/ 0 h 587785"/>
              <a:gd name="connsiteX4" fmla="*/ 1903097 w 4841491"/>
              <a:gd name="connsiteY4" fmla="*/ 0 h 587785"/>
              <a:gd name="connsiteX5" fmla="*/ 2566749 w 4841491"/>
              <a:gd name="connsiteY5" fmla="*/ 0 h 587785"/>
              <a:gd name="connsiteX6" fmla="*/ 3137489 w 4841491"/>
              <a:gd name="connsiteY6" fmla="*/ 0 h 587785"/>
              <a:gd name="connsiteX7" fmla="*/ 3847596 w 4841491"/>
              <a:gd name="connsiteY7" fmla="*/ 0 h 587785"/>
              <a:gd name="connsiteX8" fmla="*/ 4743525 w 4841491"/>
              <a:gd name="connsiteY8" fmla="*/ 0 h 587785"/>
              <a:gd name="connsiteX9" fmla="*/ 4841491 w 4841491"/>
              <a:gd name="connsiteY9" fmla="*/ 97966 h 587785"/>
              <a:gd name="connsiteX10" fmla="*/ 4841491 w 4841491"/>
              <a:gd name="connsiteY10" fmla="*/ 489819 h 587785"/>
              <a:gd name="connsiteX11" fmla="*/ 4743525 w 4841491"/>
              <a:gd name="connsiteY11" fmla="*/ 587785 h 587785"/>
              <a:gd name="connsiteX12" fmla="*/ 4033418 w 4841491"/>
              <a:gd name="connsiteY12" fmla="*/ 587785 h 587785"/>
              <a:gd name="connsiteX13" fmla="*/ 3369767 w 4841491"/>
              <a:gd name="connsiteY13" fmla="*/ 587785 h 587785"/>
              <a:gd name="connsiteX14" fmla="*/ 2845482 w 4841491"/>
              <a:gd name="connsiteY14" fmla="*/ 587785 h 587785"/>
              <a:gd name="connsiteX15" fmla="*/ 2274742 w 4841491"/>
              <a:gd name="connsiteY15" fmla="*/ 587785 h 587785"/>
              <a:gd name="connsiteX16" fmla="*/ 1704002 w 4841491"/>
              <a:gd name="connsiteY16" fmla="*/ 587785 h 587785"/>
              <a:gd name="connsiteX17" fmla="*/ 1086806 w 4841491"/>
              <a:gd name="connsiteY17" fmla="*/ 587785 h 587785"/>
              <a:gd name="connsiteX18" fmla="*/ 97966 w 4841491"/>
              <a:gd name="connsiteY18" fmla="*/ 587785 h 587785"/>
              <a:gd name="connsiteX19" fmla="*/ 0 w 4841491"/>
              <a:gd name="connsiteY19" fmla="*/ 489819 h 587785"/>
              <a:gd name="connsiteX20" fmla="*/ 0 w 4841491"/>
              <a:gd name="connsiteY20" fmla="*/ 97966 h 58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4841491" h="587785" fill="none" extrusionOk="0">
                <a:moveTo>
                  <a:pt x="0" y="97966"/>
                </a:moveTo>
                <a:cubicBezTo>
                  <a:pt x="-3363" y="34229"/>
                  <a:pt x="52734" y="-2766"/>
                  <a:pt x="97966" y="0"/>
                </a:cubicBezTo>
                <a:cubicBezTo>
                  <a:pt x="353963" y="12112"/>
                  <a:pt x="418047" y="18417"/>
                  <a:pt x="715162" y="0"/>
                </a:cubicBezTo>
                <a:cubicBezTo>
                  <a:pt x="1012277" y="-18417"/>
                  <a:pt x="1028857" y="-2007"/>
                  <a:pt x="1239446" y="0"/>
                </a:cubicBezTo>
                <a:cubicBezTo>
                  <a:pt x="1450035" y="2007"/>
                  <a:pt x="1748780" y="17456"/>
                  <a:pt x="1903097" y="0"/>
                </a:cubicBezTo>
                <a:cubicBezTo>
                  <a:pt x="2057414" y="-17456"/>
                  <a:pt x="2342930" y="6295"/>
                  <a:pt x="2566749" y="0"/>
                </a:cubicBezTo>
                <a:cubicBezTo>
                  <a:pt x="2790568" y="-6295"/>
                  <a:pt x="2869468" y="-26669"/>
                  <a:pt x="3137489" y="0"/>
                </a:cubicBezTo>
                <a:cubicBezTo>
                  <a:pt x="3405510" y="26669"/>
                  <a:pt x="3575826" y="-9360"/>
                  <a:pt x="3847596" y="0"/>
                </a:cubicBezTo>
                <a:cubicBezTo>
                  <a:pt x="4119366" y="9360"/>
                  <a:pt x="4445060" y="33305"/>
                  <a:pt x="4743525" y="0"/>
                </a:cubicBezTo>
                <a:cubicBezTo>
                  <a:pt x="4795124" y="-2760"/>
                  <a:pt x="4832339" y="49385"/>
                  <a:pt x="4841491" y="97966"/>
                </a:cubicBezTo>
                <a:cubicBezTo>
                  <a:pt x="4840197" y="272878"/>
                  <a:pt x="4847616" y="344508"/>
                  <a:pt x="4841491" y="489819"/>
                </a:cubicBezTo>
                <a:cubicBezTo>
                  <a:pt x="4834869" y="544766"/>
                  <a:pt x="4798167" y="581027"/>
                  <a:pt x="4743525" y="587785"/>
                </a:cubicBezTo>
                <a:cubicBezTo>
                  <a:pt x="4524842" y="563863"/>
                  <a:pt x="4333387" y="590017"/>
                  <a:pt x="4033418" y="587785"/>
                </a:cubicBezTo>
                <a:cubicBezTo>
                  <a:pt x="3733449" y="585553"/>
                  <a:pt x="3632044" y="564007"/>
                  <a:pt x="3369767" y="587785"/>
                </a:cubicBezTo>
                <a:cubicBezTo>
                  <a:pt x="3107490" y="611563"/>
                  <a:pt x="3067118" y="597152"/>
                  <a:pt x="2845482" y="587785"/>
                </a:cubicBezTo>
                <a:cubicBezTo>
                  <a:pt x="2623846" y="578418"/>
                  <a:pt x="2463124" y="601862"/>
                  <a:pt x="2274742" y="587785"/>
                </a:cubicBezTo>
                <a:cubicBezTo>
                  <a:pt x="2086360" y="573708"/>
                  <a:pt x="1830909" y="561193"/>
                  <a:pt x="1704002" y="587785"/>
                </a:cubicBezTo>
                <a:cubicBezTo>
                  <a:pt x="1577095" y="614377"/>
                  <a:pt x="1345206" y="573365"/>
                  <a:pt x="1086806" y="587785"/>
                </a:cubicBezTo>
                <a:cubicBezTo>
                  <a:pt x="828406" y="602205"/>
                  <a:pt x="304896" y="598809"/>
                  <a:pt x="97966" y="587785"/>
                </a:cubicBezTo>
                <a:cubicBezTo>
                  <a:pt x="48121" y="588508"/>
                  <a:pt x="-9915" y="552579"/>
                  <a:pt x="0" y="489819"/>
                </a:cubicBezTo>
                <a:cubicBezTo>
                  <a:pt x="-14585" y="404647"/>
                  <a:pt x="-18100" y="238487"/>
                  <a:pt x="0" y="97966"/>
                </a:cubicBezTo>
                <a:close/>
              </a:path>
              <a:path w="4841491" h="587785" stroke="0" extrusionOk="0">
                <a:moveTo>
                  <a:pt x="0" y="97966"/>
                </a:moveTo>
                <a:cubicBezTo>
                  <a:pt x="3547" y="54460"/>
                  <a:pt x="48329" y="-5377"/>
                  <a:pt x="97966" y="0"/>
                </a:cubicBezTo>
                <a:cubicBezTo>
                  <a:pt x="285973" y="-21698"/>
                  <a:pt x="635486" y="36297"/>
                  <a:pt x="854528" y="0"/>
                </a:cubicBezTo>
                <a:cubicBezTo>
                  <a:pt x="1073570" y="-36297"/>
                  <a:pt x="1236770" y="-12107"/>
                  <a:pt x="1471724" y="0"/>
                </a:cubicBezTo>
                <a:cubicBezTo>
                  <a:pt x="1706678" y="12107"/>
                  <a:pt x="1867322" y="-28407"/>
                  <a:pt x="2042464" y="0"/>
                </a:cubicBezTo>
                <a:cubicBezTo>
                  <a:pt x="2217606" y="28407"/>
                  <a:pt x="2382439" y="13983"/>
                  <a:pt x="2613204" y="0"/>
                </a:cubicBezTo>
                <a:cubicBezTo>
                  <a:pt x="2843969" y="-13983"/>
                  <a:pt x="2987214" y="-15368"/>
                  <a:pt x="3183944" y="0"/>
                </a:cubicBezTo>
                <a:cubicBezTo>
                  <a:pt x="3380674" y="15368"/>
                  <a:pt x="3740561" y="-14963"/>
                  <a:pt x="3894051" y="0"/>
                </a:cubicBezTo>
                <a:cubicBezTo>
                  <a:pt x="4047541" y="14963"/>
                  <a:pt x="4323780" y="18031"/>
                  <a:pt x="4743525" y="0"/>
                </a:cubicBezTo>
                <a:cubicBezTo>
                  <a:pt x="4797875" y="-2910"/>
                  <a:pt x="4852381" y="36778"/>
                  <a:pt x="4841491" y="97966"/>
                </a:cubicBezTo>
                <a:cubicBezTo>
                  <a:pt x="4844280" y="229872"/>
                  <a:pt x="4852375" y="344384"/>
                  <a:pt x="4841491" y="489819"/>
                </a:cubicBezTo>
                <a:cubicBezTo>
                  <a:pt x="4842314" y="542958"/>
                  <a:pt x="4791597" y="596055"/>
                  <a:pt x="4743525" y="587785"/>
                </a:cubicBezTo>
                <a:cubicBezTo>
                  <a:pt x="4498139" y="614567"/>
                  <a:pt x="4228532" y="617156"/>
                  <a:pt x="4079874" y="587785"/>
                </a:cubicBezTo>
                <a:cubicBezTo>
                  <a:pt x="3931216" y="558414"/>
                  <a:pt x="3608254" y="571739"/>
                  <a:pt x="3462678" y="587785"/>
                </a:cubicBezTo>
                <a:cubicBezTo>
                  <a:pt x="3317102" y="603831"/>
                  <a:pt x="3069872" y="612699"/>
                  <a:pt x="2799027" y="587785"/>
                </a:cubicBezTo>
                <a:cubicBezTo>
                  <a:pt x="2528182" y="562871"/>
                  <a:pt x="2353580" y="560266"/>
                  <a:pt x="2228287" y="587785"/>
                </a:cubicBezTo>
                <a:cubicBezTo>
                  <a:pt x="2102994" y="615304"/>
                  <a:pt x="1724445" y="608345"/>
                  <a:pt x="1518180" y="587785"/>
                </a:cubicBezTo>
                <a:cubicBezTo>
                  <a:pt x="1311915" y="567225"/>
                  <a:pt x="1057789" y="606546"/>
                  <a:pt x="900984" y="587785"/>
                </a:cubicBezTo>
                <a:cubicBezTo>
                  <a:pt x="744179" y="569024"/>
                  <a:pt x="282136" y="618230"/>
                  <a:pt x="97966" y="587785"/>
                </a:cubicBezTo>
                <a:cubicBezTo>
                  <a:pt x="41511" y="594125"/>
                  <a:pt x="-1320" y="546588"/>
                  <a:pt x="0" y="489819"/>
                </a:cubicBezTo>
                <a:cubicBezTo>
                  <a:pt x="-17398" y="332611"/>
                  <a:pt x="17735" y="210729"/>
                  <a:pt x="0" y="97966"/>
                </a:cubicBezTo>
                <a:close/>
              </a:path>
            </a:pathLst>
          </a:custGeom>
          <a:solidFill>
            <a:schemeClr val="bg1"/>
          </a:solidFill>
          <a:ln w="88900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3659010720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b="1" dirty="0">
                <a:solidFill>
                  <a:srgbClr val="0A3830"/>
                </a:solidFill>
              </a:rPr>
              <a:t>Недостатки</a:t>
            </a:r>
          </a:p>
        </p:txBody>
      </p:sp>
    </p:spTree>
    <p:extLst>
      <p:ext uri="{BB962C8B-B14F-4D97-AF65-F5344CB8AC3E}">
        <p14:creationId xmlns:p14="http://schemas.microsoft.com/office/powerpoint/2010/main" val="1542077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0706B1D-186D-474B-8DCC-88923B4F05C5}"/>
              </a:ext>
            </a:extLst>
          </p:cNvPr>
          <p:cNvSpPr/>
          <p:nvPr/>
        </p:nvSpPr>
        <p:spPr>
          <a:xfrm>
            <a:off x="1" y="698"/>
            <a:ext cx="5102942" cy="6857302"/>
          </a:xfrm>
          <a:prstGeom prst="rect">
            <a:avLst/>
          </a:prstGeom>
          <a:solidFill>
            <a:srgbClr val="1880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ru-RU" sz="280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3CE6BA-377A-432C-B7A2-457D58546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96" y="1571690"/>
            <a:ext cx="4127365" cy="1260000"/>
          </a:xfrm>
          <a:custGeom>
            <a:avLst/>
            <a:gdLst>
              <a:gd name="connsiteX0" fmla="*/ 0 w 4127365"/>
              <a:gd name="connsiteY0" fmla="*/ 0 h 1260000"/>
              <a:gd name="connsiteX1" fmla="*/ 646621 w 4127365"/>
              <a:gd name="connsiteY1" fmla="*/ 0 h 1260000"/>
              <a:gd name="connsiteX2" fmla="*/ 1210694 w 4127365"/>
              <a:gd name="connsiteY2" fmla="*/ 0 h 1260000"/>
              <a:gd name="connsiteX3" fmla="*/ 1816041 w 4127365"/>
              <a:gd name="connsiteY3" fmla="*/ 0 h 1260000"/>
              <a:gd name="connsiteX4" fmla="*/ 2545208 w 4127365"/>
              <a:gd name="connsiteY4" fmla="*/ 0 h 1260000"/>
              <a:gd name="connsiteX5" fmla="*/ 3191829 w 4127365"/>
              <a:gd name="connsiteY5" fmla="*/ 0 h 1260000"/>
              <a:gd name="connsiteX6" fmla="*/ 4127365 w 4127365"/>
              <a:gd name="connsiteY6" fmla="*/ 0 h 1260000"/>
              <a:gd name="connsiteX7" fmla="*/ 4127365 w 4127365"/>
              <a:gd name="connsiteY7" fmla="*/ 642600 h 1260000"/>
              <a:gd name="connsiteX8" fmla="*/ 4127365 w 4127365"/>
              <a:gd name="connsiteY8" fmla="*/ 1260000 h 1260000"/>
              <a:gd name="connsiteX9" fmla="*/ 3439471 w 4127365"/>
              <a:gd name="connsiteY9" fmla="*/ 1260000 h 1260000"/>
              <a:gd name="connsiteX10" fmla="*/ 2834124 w 4127365"/>
              <a:gd name="connsiteY10" fmla="*/ 1260000 h 1260000"/>
              <a:gd name="connsiteX11" fmla="*/ 2063683 w 4127365"/>
              <a:gd name="connsiteY11" fmla="*/ 1260000 h 1260000"/>
              <a:gd name="connsiteX12" fmla="*/ 1417062 w 4127365"/>
              <a:gd name="connsiteY12" fmla="*/ 1260000 h 1260000"/>
              <a:gd name="connsiteX13" fmla="*/ 852989 w 4127365"/>
              <a:gd name="connsiteY13" fmla="*/ 1260000 h 1260000"/>
              <a:gd name="connsiteX14" fmla="*/ 0 w 4127365"/>
              <a:gd name="connsiteY14" fmla="*/ 1260000 h 1260000"/>
              <a:gd name="connsiteX15" fmla="*/ 0 w 4127365"/>
              <a:gd name="connsiteY15" fmla="*/ 655200 h 1260000"/>
              <a:gd name="connsiteX16" fmla="*/ 0 w 4127365"/>
              <a:gd name="connsiteY16" fmla="*/ 0 h 12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127365" h="1260000" fill="none" extrusionOk="0">
                <a:moveTo>
                  <a:pt x="0" y="0"/>
                </a:moveTo>
                <a:cubicBezTo>
                  <a:pt x="259166" y="22486"/>
                  <a:pt x="472343" y="-14418"/>
                  <a:pt x="646621" y="0"/>
                </a:cubicBezTo>
                <a:cubicBezTo>
                  <a:pt x="820899" y="14418"/>
                  <a:pt x="1059574" y="14386"/>
                  <a:pt x="1210694" y="0"/>
                </a:cubicBezTo>
                <a:cubicBezTo>
                  <a:pt x="1361814" y="-14386"/>
                  <a:pt x="1630450" y="-26254"/>
                  <a:pt x="1816041" y="0"/>
                </a:cubicBezTo>
                <a:cubicBezTo>
                  <a:pt x="2001632" y="26254"/>
                  <a:pt x="2213900" y="-12674"/>
                  <a:pt x="2545208" y="0"/>
                </a:cubicBezTo>
                <a:cubicBezTo>
                  <a:pt x="2876516" y="12674"/>
                  <a:pt x="2895925" y="25041"/>
                  <a:pt x="3191829" y="0"/>
                </a:cubicBezTo>
                <a:cubicBezTo>
                  <a:pt x="3487733" y="-25041"/>
                  <a:pt x="3692437" y="-30189"/>
                  <a:pt x="4127365" y="0"/>
                </a:cubicBezTo>
                <a:cubicBezTo>
                  <a:pt x="4135039" y="209104"/>
                  <a:pt x="4133731" y="328589"/>
                  <a:pt x="4127365" y="642600"/>
                </a:cubicBezTo>
                <a:cubicBezTo>
                  <a:pt x="4120999" y="956611"/>
                  <a:pt x="4097425" y="1129724"/>
                  <a:pt x="4127365" y="1260000"/>
                </a:cubicBezTo>
                <a:cubicBezTo>
                  <a:pt x="3836066" y="1237348"/>
                  <a:pt x="3698132" y="1238220"/>
                  <a:pt x="3439471" y="1260000"/>
                </a:cubicBezTo>
                <a:cubicBezTo>
                  <a:pt x="3180810" y="1281780"/>
                  <a:pt x="3131487" y="1242033"/>
                  <a:pt x="2834124" y="1260000"/>
                </a:cubicBezTo>
                <a:cubicBezTo>
                  <a:pt x="2536761" y="1277967"/>
                  <a:pt x="2293089" y="1241136"/>
                  <a:pt x="2063683" y="1260000"/>
                </a:cubicBezTo>
                <a:cubicBezTo>
                  <a:pt x="1834277" y="1278864"/>
                  <a:pt x="1715909" y="1271770"/>
                  <a:pt x="1417062" y="1260000"/>
                </a:cubicBezTo>
                <a:cubicBezTo>
                  <a:pt x="1118215" y="1248230"/>
                  <a:pt x="1092861" y="1267613"/>
                  <a:pt x="852989" y="1260000"/>
                </a:cubicBezTo>
                <a:cubicBezTo>
                  <a:pt x="613117" y="1252387"/>
                  <a:pt x="199484" y="1222062"/>
                  <a:pt x="0" y="1260000"/>
                </a:cubicBezTo>
                <a:cubicBezTo>
                  <a:pt x="-9976" y="1101897"/>
                  <a:pt x="960" y="835980"/>
                  <a:pt x="0" y="655200"/>
                </a:cubicBezTo>
                <a:cubicBezTo>
                  <a:pt x="-960" y="474420"/>
                  <a:pt x="-7841" y="147544"/>
                  <a:pt x="0" y="0"/>
                </a:cubicBezTo>
                <a:close/>
              </a:path>
              <a:path w="4127365" h="1260000" stroke="0" extrusionOk="0">
                <a:moveTo>
                  <a:pt x="0" y="0"/>
                </a:moveTo>
                <a:cubicBezTo>
                  <a:pt x="151656" y="14629"/>
                  <a:pt x="427266" y="-17814"/>
                  <a:pt x="646621" y="0"/>
                </a:cubicBezTo>
                <a:cubicBezTo>
                  <a:pt x="865976" y="17814"/>
                  <a:pt x="941047" y="-10843"/>
                  <a:pt x="1210694" y="0"/>
                </a:cubicBezTo>
                <a:cubicBezTo>
                  <a:pt x="1480341" y="10843"/>
                  <a:pt x="1746602" y="-26368"/>
                  <a:pt x="1981135" y="0"/>
                </a:cubicBezTo>
                <a:cubicBezTo>
                  <a:pt x="2215668" y="26368"/>
                  <a:pt x="2481427" y="-11765"/>
                  <a:pt x="2627756" y="0"/>
                </a:cubicBezTo>
                <a:cubicBezTo>
                  <a:pt x="2774085" y="11765"/>
                  <a:pt x="2987031" y="12592"/>
                  <a:pt x="3274376" y="0"/>
                </a:cubicBezTo>
                <a:cubicBezTo>
                  <a:pt x="3561721" y="-12592"/>
                  <a:pt x="3736516" y="-31005"/>
                  <a:pt x="4127365" y="0"/>
                </a:cubicBezTo>
                <a:cubicBezTo>
                  <a:pt x="4155418" y="121602"/>
                  <a:pt x="4116756" y="447040"/>
                  <a:pt x="4127365" y="604800"/>
                </a:cubicBezTo>
                <a:cubicBezTo>
                  <a:pt x="4137974" y="762560"/>
                  <a:pt x="4125140" y="1057550"/>
                  <a:pt x="4127365" y="1260000"/>
                </a:cubicBezTo>
                <a:cubicBezTo>
                  <a:pt x="3944408" y="1242825"/>
                  <a:pt x="3663510" y="1276325"/>
                  <a:pt x="3522018" y="1260000"/>
                </a:cubicBezTo>
                <a:cubicBezTo>
                  <a:pt x="3380526" y="1243675"/>
                  <a:pt x="3100653" y="1290177"/>
                  <a:pt x="2834124" y="1260000"/>
                </a:cubicBezTo>
                <a:cubicBezTo>
                  <a:pt x="2567595" y="1229823"/>
                  <a:pt x="2403508" y="1239923"/>
                  <a:pt x="2146230" y="1260000"/>
                </a:cubicBezTo>
                <a:cubicBezTo>
                  <a:pt x="1888952" y="1280077"/>
                  <a:pt x="1651034" y="1252043"/>
                  <a:pt x="1499609" y="1260000"/>
                </a:cubicBezTo>
                <a:cubicBezTo>
                  <a:pt x="1348184" y="1267957"/>
                  <a:pt x="1010283" y="1226155"/>
                  <a:pt x="729168" y="1260000"/>
                </a:cubicBezTo>
                <a:cubicBezTo>
                  <a:pt x="448053" y="1293845"/>
                  <a:pt x="328116" y="1273814"/>
                  <a:pt x="0" y="1260000"/>
                </a:cubicBezTo>
                <a:cubicBezTo>
                  <a:pt x="20531" y="1022945"/>
                  <a:pt x="25600" y="830614"/>
                  <a:pt x="0" y="655200"/>
                </a:cubicBezTo>
                <a:cubicBezTo>
                  <a:pt x="-25600" y="479786"/>
                  <a:pt x="12220" y="209133"/>
                  <a:pt x="0" y="0"/>
                </a:cubicBezTo>
                <a:close/>
              </a:path>
            </a:pathLst>
          </a:custGeom>
          <a:solidFill>
            <a:schemeClr val="bg1"/>
          </a:solidFill>
          <a:ln w="76200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sk:type>
                    <ask:lineSketchFreehand/>
                  </ask:type>
                </ask:lineSketchStyleProps>
              </a:ext>
            </a:extLst>
          </a:ln>
        </p:spPr>
        <p:txBody>
          <a:bodyPr lIns="0">
            <a:normAutofit/>
          </a:bodyPr>
          <a:lstStyle/>
          <a:p>
            <a:pPr algn="ctr"/>
            <a:r>
              <a:rPr lang="ru-RU" sz="3600" b="1" dirty="0">
                <a:solidFill>
                  <a:srgbClr val="0A3830"/>
                </a:solidFill>
              </a:rPr>
              <a:t>Другие методы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4E7D1E2-B1FA-44B2-99C1-604E8FD518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796" y="3043368"/>
            <a:ext cx="4127365" cy="2432503"/>
          </a:xfrm>
          <a:solidFill>
            <a:schemeClr val="bg1"/>
          </a:solidFill>
        </p:spPr>
        <p:txBody>
          <a:bodyPr anchor="ctr">
            <a:normAutofit/>
          </a:bodyPr>
          <a:lstStyle/>
          <a:p>
            <a:r>
              <a:rPr lang="ru-RU" dirty="0">
                <a:solidFill>
                  <a:srgbClr val="0A3830"/>
                </a:solidFill>
              </a:rPr>
              <a:t>Статистические методы</a:t>
            </a:r>
          </a:p>
          <a:p>
            <a:r>
              <a:rPr lang="ru-RU" dirty="0">
                <a:solidFill>
                  <a:srgbClr val="0A3830"/>
                </a:solidFill>
              </a:rPr>
              <a:t>Структурные методы</a:t>
            </a:r>
          </a:p>
          <a:p>
            <a:r>
              <a:rPr lang="ru-RU" dirty="0">
                <a:solidFill>
                  <a:srgbClr val="0A3830"/>
                </a:solidFill>
              </a:rPr>
              <a:t>Методы на основе моделей</a:t>
            </a:r>
          </a:p>
          <a:p>
            <a:r>
              <a:rPr lang="ru-RU" dirty="0">
                <a:solidFill>
                  <a:srgbClr val="0A3830"/>
                </a:solidFill>
              </a:rPr>
              <a:t>Спектральные методы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598B853-716B-4364-A37B-7E426F260E7B}"/>
              </a:ext>
            </a:extLst>
          </p:cNvPr>
          <p:cNvSpPr/>
          <p:nvPr/>
        </p:nvSpPr>
        <p:spPr>
          <a:xfrm>
            <a:off x="5751871" y="803056"/>
            <a:ext cx="6440129" cy="2294265"/>
          </a:xfrm>
          <a:prstGeom prst="rect">
            <a:avLst/>
          </a:prstGeom>
          <a:solidFill>
            <a:srgbClr val="1880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400" dirty="0"/>
              <a:t>Просты в реализации и внедрении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400" dirty="0"/>
              <a:t>Быстрая скорость разработки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400" dirty="0"/>
              <a:t>Не требуют большого количества данных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400" dirty="0"/>
              <a:t>Низкие требования к данным о дефектах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400" dirty="0"/>
              <a:t>Низкая временная сложность обучения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400" dirty="0"/>
              <a:t>Меньшее время обработки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8717486D-3025-4BD6-85BE-ABC432A68F35}"/>
              </a:ext>
            </a:extLst>
          </p:cNvPr>
          <p:cNvSpPr/>
          <p:nvPr/>
        </p:nvSpPr>
        <p:spPr>
          <a:xfrm>
            <a:off x="8780206" y="3356122"/>
            <a:ext cx="3297868" cy="4752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solidFill>
                  <a:srgbClr val="0A3830"/>
                </a:solidFill>
              </a:rPr>
              <a:t>Недостатки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269904EE-D76A-4B44-8DD4-9EFB247A8ABE}"/>
              </a:ext>
            </a:extLst>
          </p:cNvPr>
          <p:cNvSpPr/>
          <p:nvPr/>
        </p:nvSpPr>
        <p:spPr>
          <a:xfrm>
            <a:off x="8780206" y="240891"/>
            <a:ext cx="3297868" cy="476076"/>
          </a:xfrm>
          <a:prstGeom prst="roundRect">
            <a:avLst/>
          </a:prstGeom>
          <a:solidFill>
            <a:srgbClr val="18806E"/>
          </a:solidFill>
          <a:ln>
            <a:solidFill>
              <a:srgbClr val="1880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solidFill>
                  <a:schemeClr val="bg1"/>
                </a:solidFill>
              </a:rPr>
              <a:t>Преимущества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F0BA808F-77AB-472B-A9FE-C9426D4A11F7}"/>
              </a:ext>
            </a:extLst>
          </p:cNvPr>
          <p:cNvSpPr/>
          <p:nvPr/>
        </p:nvSpPr>
        <p:spPr>
          <a:xfrm>
            <a:off x="5751871" y="3953070"/>
            <a:ext cx="6440129" cy="26640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A3830"/>
                </a:solidFill>
              </a:rPr>
              <a:t>Требуют ручной настройки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A3830"/>
                </a:solidFill>
              </a:rPr>
              <a:t>Слабая адаптивность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A3830"/>
                </a:solidFill>
              </a:rPr>
              <a:t>Чувствительность к условиям съемки изображений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A3830"/>
                </a:solidFill>
              </a:rPr>
              <a:t>Узкая область применения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0A3830"/>
                </a:solidFill>
              </a:rPr>
              <a:t>Не подходят для обнаружения нерегулярных дефектов</a:t>
            </a:r>
          </a:p>
        </p:txBody>
      </p:sp>
    </p:spTree>
    <p:extLst>
      <p:ext uri="{BB962C8B-B14F-4D97-AF65-F5344CB8AC3E}">
        <p14:creationId xmlns:p14="http://schemas.microsoft.com/office/powerpoint/2010/main" val="920682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3FC8EEA6-31F7-45A4-BACE-2C218AE97AE6}"/>
              </a:ext>
            </a:extLst>
          </p:cNvPr>
          <p:cNvSpPr/>
          <p:nvPr/>
        </p:nvSpPr>
        <p:spPr>
          <a:xfrm>
            <a:off x="6218904" y="330454"/>
            <a:ext cx="5732206" cy="6138471"/>
          </a:xfrm>
          <a:prstGeom prst="rect">
            <a:avLst/>
          </a:prstGeom>
          <a:solidFill>
            <a:srgbClr val="1880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9C85A5C2-242B-4AE2-97A2-8A1C596379B6}"/>
              </a:ext>
            </a:extLst>
          </p:cNvPr>
          <p:cNvSpPr/>
          <p:nvPr/>
        </p:nvSpPr>
        <p:spPr>
          <a:xfrm>
            <a:off x="363794" y="3391933"/>
            <a:ext cx="5732206" cy="307699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C9E8E6D-CA13-4BA4-914E-E6E301BE2D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3346" y="4371512"/>
            <a:ext cx="5333102" cy="1895230"/>
          </a:xfrm>
          <a:custGeom>
            <a:avLst/>
            <a:gdLst>
              <a:gd name="connsiteX0" fmla="*/ 0 w 5333102"/>
              <a:gd name="connsiteY0" fmla="*/ 0 h 1895230"/>
              <a:gd name="connsiteX1" fmla="*/ 773300 w 5333102"/>
              <a:gd name="connsiteY1" fmla="*/ 0 h 1895230"/>
              <a:gd name="connsiteX2" fmla="*/ 1493269 w 5333102"/>
              <a:gd name="connsiteY2" fmla="*/ 0 h 1895230"/>
              <a:gd name="connsiteX3" fmla="*/ 2159906 w 5333102"/>
              <a:gd name="connsiteY3" fmla="*/ 0 h 1895230"/>
              <a:gd name="connsiteX4" fmla="*/ 2826544 w 5333102"/>
              <a:gd name="connsiteY4" fmla="*/ 0 h 1895230"/>
              <a:gd name="connsiteX5" fmla="*/ 3599844 w 5333102"/>
              <a:gd name="connsiteY5" fmla="*/ 0 h 1895230"/>
              <a:gd name="connsiteX6" fmla="*/ 4319813 w 5333102"/>
              <a:gd name="connsiteY6" fmla="*/ 0 h 1895230"/>
              <a:gd name="connsiteX7" fmla="*/ 5333102 w 5333102"/>
              <a:gd name="connsiteY7" fmla="*/ 0 h 1895230"/>
              <a:gd name="connsiteX8" fmla="*/ 5333102 w 5333102"/>
              <a:gd name="connsiteY8" fmla="*/ 612791 h 1895230"/>
              <a:gd name="connsiteX9" fmla="*/ 5333102 w 5333102"/>
              <a:gd name="connsiteY9" fmla="*/ 1187677 h 1895230"/>
              <a:gd name="connsiteX10" fmla="*/ 5333102 w 5333102"/>
              <a:gd name="connsiteY10" fmla="*/ 1895230 h 1895230"/>
              <a:gd name="connsiteX11" fmla="*/ 4773126 w 5333102"/>
              <a:gd name="connsiteY11" fmla="*/ 1895230 h 1895230"/>
              <a:gd name="connsiteX12" fmla="*/ 3999827 w 5333102"/>
              <a:gd name="connsiteY12" fmla="*/ 1895230 h 1895230"/>
              <a:gd name="connsiteX13" fmla="*/ 3386520 w 5333102"/>
              <a:gd name="connsiteY13" fmla="*/ 1895230 h 1895230"/>
              <a:gd name="connsiteX14" fmla="*/ 2613220 w 5333102"/>
              <a:gd name="connsiteY14" fmla="*/ 1895230 h 1895230"/>
              <a:gd name="connsiteX15" fmla="*/ 2053244 w 5333102"/>
              <a:gd name="connsiteY15" fmla="*/ 1895230 h 1895230"/>
              <a:gd name="connsiteX16" fmla="*/ 1546600 w 5333102"/>
              <a:gd name="connsiteY16" fmla="*/ 1895230 h 1895230"/>
              <a:gd name="connsiteX17" fmla="*/ 1039955 w 5333102"/>
              <a:gd name="connsiteY17" fmla="*/ 1895230 h 1895230"/>
              <a:gd name="connsiteX18" fmla="*/ 0 w 5333102"/>
              <a:gd name="connsiteY18" fmla="*/ 1895230 h 1895230"/>
              <a:gd name="connsiteX19" fmla="*/ 0 w 5333102"/>
              <a:gd name="connsiteY19" fmla="*/ 1320344 h 1895230"/>
              <a:gd name="connsiteX20" fmla="*/ 0 w 5333102"/>
              <a:gd name="connsiteY20" fmla="*/ 650696 h 1895230"/>
              <a:gd name="connsiteX21" fmla="*/ 0 w 5333102"/>
              <a:gd name="connsiteY21" fmla="*/ 0 h 1895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5333102" h="1895230" fill="none" extrusionOk="0">
                <a:moveTo>
                  <a:pt x="0" y="0"/>
                </a:moveTo>
                <a:cubicBezTo>
                  <a:pt x="208658" y="-10066"/>
                  <a:pt x="517693" y="1700"/>
                  <a:pt x="773300" y="0"/>
                </a:cubicBezTo>
                <a:cubicBezTo>
                  <a:pt x="1028907" y="-1700"/>
                  <a:pt x="1157767" y="28604"/>
                  <a:pt x="1493269" y="0"/>
                </a:cubicBezTo>
                <a:cubicBezTo>
                  <a:pt x="1828771" y="-28604"/>
                  <a:pt x="1908906" y="28615"/>
                  <a:pt x="2159906" y="0"/>
                </a:cubicBezTo>
                <a:cubicBezTo>
                  <a:pt x="2410906" y="-28615"/>
                  <a:pt x="2512651" y="11276"/>
                  <a:pt x="2826544" y="0"/>
                </a:cubicBezTo>
                <a:cubicBezTo>
                  <a:pt x="3140437" y="-11276"/>
                  <a:pt x="3400437" y="13382"/>
                  <a:pt x="3599844" y="0"/>
                </a:cubicBezTo>
                <a:cubicBezTo>
                  <a:pt x="3799251" y="-13382"/>
                  <a:pt x="4050864" y="-35183"/>
                  <a:pt x="4319813" y="0"/>
                </a:cubicBezTo>
                <a:cubicBezTo>
                  <a:pt x="4588762" y="35183"/>
                  <a:pt x="4856492" y="-37132"/>
                  <a:pt x="5333102" y="0"/>
                </a:cubicBezTo>
                <a:cubicBezTo>
                  <a:pt x="5320916" y="272965"/>
                  <a:pt x="5360195" y="327026"/>
                  <a:pt x="5333102" y="612791"/>
                </a:cubicBezTo>
                <a:cubicBezTo>
                  <a:pt x="5306009" y="898556"/>
                  <a:pt x="5315177" y="1024103"/>
                  <a:pt x="5333102" y="1187677"/>
                </a:cubicBezTo>
                <a:cubicBezTo>
                  <a:pt x="5351027" y="1351251"/>
                  <a:pt x="5308150" y="1665827"/>
                  <a:pt x="5333102" y="1895230"/>
                </a:cubicBezTo>
                <a:cubicBezTo>
                  <a:pt x="5067537" y="1885860"/>
                  <a:pt x="4947358" y="1913787"/>
                  <a:pt x="4773126" y="1895230"/>
                </a:cubicBezTo>
                <a:cubicBezTo>
                  <a:pt x="4598894" y="1876673"/>
                  <a:pt x="4381940" y="1885837"/>
                  <a:pt x="3999827" y="1895230"/>
                </a:cubicBezTo>
                <a:cubicBezTo>
                  <a:pt x="3617714" y="1904623"/>
                  <a:pt x="3606595" y="1920254"/>
                  <a:pt x="3386520" y="1895230"/>
                </a:cubicBezTo>
                <a:cubicBezTo>
                  <a:pt x="3166445" y="1870206"/>
                  <a:pt x="2899756" y="1885099"/>
                  <a:pt x="2613220" y="1895230"/>
                </a:cubicBezTo>
                <a:cubicBezTo>
                  <a:pt x="2326684" y="1905361"/>
                  <a:pt x="2202144" y="1880096"/>
                  <a:pt x="2053244" y="1895230"/>
                </a:cubicBezTo>
                <a:cubicBezTo>
                  <a:pt x="1904344" y="1910364"/>
                  <a:pt x="1766890" y="1871056"/>
                  <a:pt x="1546600" y="1895230"/>
                </a:cubicBezTo>
                <a:cubicBezTo>
                  <a:pt x="1326310" y="1919404"/>
                  <a:pt x="1269702" y="1890957"/>
                  <a:pt x="1039955" y="1895230"/>
                </a:cubicBezTo>
                <a:cubicBezTo>
                  <a:pt x="810209" y="1899503"/>
                  <a:pt x="396687" y="1871000"/>
                  <a:pt x="0" y="1895230"/>
                </a:cubicBezTo>
                <a:cubicBezTo>
                  <a:pt x="10040" y="1722090"/>
                  <a:pt x="-8616" y="1489336"/>
                  <a:pt x="0" y="1320344"/>
                </a:cubicBezTo>
                <a:cubicBezTo>
                  <a:pt x="8616" y="1151352"/>
                  <a:pt x="19301" y="864299"/>
                  <a:pt x="0" y="650696"/>
                </a:cubicBezTo>
                <a:cubicBezTo>
                  <a:pt x="-19301" y="437093"/>
                  <a:pt x="29162" y="237847"/>
                  <a:pt x="0" y="0"/>
                </a:cubicBezTo>
                <a:close/>
              </a:path>
              <a:path w="5333102" h="1895230" stroke="0" extrusionOk="0">
                <a:moveTo>
                  <a:pt x="0" y="0"/>
                </a:moveTo>
                <a:cubicBezTo>
                  <a:pt x="214095" y="-28647"/>
                  <a:pt x="433351" y="14"/>
                  <a:pt x="613307" y="0"/>
                </a:cubicBezTo>
                <a:cubicBezTo>
                  <a:pt x="793263" y="-14"/>
                  <a:pt x="884314" y="-19603"/>
                  <a:pt x="1119951" y="0"/>
                </a:cubicBezTo>
                <a:cubicBezTo>
                  <a:pt x="1355588" y="19603"/>
                  <a:pt x="1545383" y="-19904"/>
                  <a:pt x="1893251" y="0"/>
                </a:cubicBezTo>
                <a:cubicBezTo>
                  <a:pt x="2241119" y="19904"/>
                  <a:pt x="2368739" y="-12394"/>
                  <a:pt x="2506558" y="0"/>
                </a:cubicBezTo>
                <a:cubicBezTo>
                  <a:pt x="2644377" y="12394"/>
                  <a:pt x="2845033" y="25450"/>
                  <a:pt x="3119865" y="0"/>
                </a:cubicBezTo>
                <a:cubicBezTo>
                  <a:pt x="3394697" y="-25450"/>
                  <a:pt x="3607323" y="38502"/>
                  <a:pt x="3893164" y="0"/>
                </a:cubicBezTo>
                <a:cubicBezTo>
                  <a:pt x="4179005" y="-38502"/>
                  <a:pt x="4194165" y="-6191"/>
                  <a:pt x="4453140" y="0"/>
                </a:cubicBezTo>
                <a:cubicBezTo>
                  <a:pt x="4712115" y="6191"/>
                  <a:pt x="5076344" y="11840"/>
                  <a:pt x="5333102" y="0"/>
                </a:cubicBezTo>
                <a:cubicBezTo>
                  <a:pt x="5313623" y="216395"/>
                  <a:pt x="5324678" y="358279"/>
                  <a:pt x="5333102" y="669648"/>
                </a:cubicBezTo>
                <a:cubicBezTo>
                  <a:pt x="5341526" y="981017"/>
                  <a:pt x="5348666" y="1110897"/>
                  <a:pt x="5333102" y="1263487"/>
                </a:cubicBezTo>
                <a:cubicBezTo>
                  <a:pt x="5317538" y="1416077"/>
                  <a:pt x="5361261" y="1660546"/>
                  <a:pt x="5333102" y="1895230"/>
                </a:cubicBezTo>
                <a:cubicBezTo>
                  <a:pt x="5035324" y="1875246"/>
                  <a:pt x="4834396" y="1872786"/>
                  <a:pt x="4613133" y="1895230"/>
                </a:cubicBezTo>
                <a:cubicBezTo>
                  <a:pt x="4391870" y="1917674"/>
                  <a:pt x="4175547" y="1897611"/>
                  <a:pt x="3839833" y="1895230"/>
                </a:cubicBezTo>
                <a:cubicBezTo>
                  <a:pt x="3504119" y="1892849"/>
                  <a:pt x="3445521" y="1892034"/>
                  <a:pt x="3066534" y="1895230"/>
                </a:cubicBezTo>
                <a:cubicBezTo>
                  <a:pt x="2687547" y="1898426"/>
                  <a:pt x="2726424" y="1922522"/>
                  <a:pt x="2506558" y="1895230"/>
                </a:cubicBezTo>
                <a:cubicBezTo>
                  <a:pt x="2286692" y="1867938"/>
                  <a:pt x="2032289" y="1906265"/>
                  <a:pt x="1839920" y="1895230"/>
                </a:cubicBezTo>
                <a:cubicBezTo>
                  <a:pt x="1647551" y="1884195"/>
                  <a:pt x="1272606" y="1915185"/>
                  <a:pt x="1066620" y="1895230"/>
                </a:cubicBezTo>
                <a:cubicBezTo>
                  <a:pt x="860634" y="1875275"/>
                  <a:pt x="488127" y="1918561"/>
                  <a:pt x="0" y="1895230"/>
                </a:cubicBezTo>
                <a:cubicBezTo>
                  <a:pt x="15223" y="1743080"/>
                  <a:pt x="-17436" y="1592985"/>
                  <a:pt x="0" y="1320344"/>
                </a:cubicBezTo>
                <a:cubicBezTo>
                  <a:pt x="17436" y="1047703"/>
                  <a:pt x="15629" y="915075"/>
                  <a:pt x="0" y="726505"/>
                </a:cubicBezTo>
                <a:cubicBezTo>
                  <a:pt x="-15629" y="537935"/>
                  <a:pt x="9626" y="205158"/>
                  <a:pt x="0" y="0"/>
                </a:cubicBezTo>
                <a:close/>
              </a:path>
            </a:pathLst>
          </a:custGeom>
          <a:solidFill>
            <a:schemeClr val="bg1"/>
          </a:solidFill>
          <a:ln w="44450" cmpd="sng">
            <a:noFill/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sk:type>
                    <ask:lineSketchFreehand/>
                  </ask:type>
                </ask:lineSketchStyleProps>
              </a:ext>
            </a:extLst>
          </a:ln>
        </p:spPr>
        <p:txBody>
          <a:bodyPr tIns="144000" anchor="ctr">
            <a:normAutofit fontScale="92500"/>
          </a:bodyPr>
          <a:lstStyle/>
          <a:p>
            <a:pPr marL="514350" indent="-514350">
              <a:buAutoNum type="arabicPeriod"/>
            </a:pPr>
            <a:r>
              <a:rPr lang="ru-RU" dirty="0">
                <a:solidFill>
                  <a:srgbClr val="0A3830"/>
                </a:solidFill>
              </a:rPr>
              <a:t>Компьютерное зрение</a:t>
            </a:r>
          </a:p>
          <a:p>
            <a:pPr marL="514350" indent="-514350">
              <a:buAutoNum type="arabicPeriod"/>
            </a:pPr>
            <a:r>
              <a:rPr lang="ru-RU" dirty="0">
                <a:solidFill>
                  <a:srgbClr val="0A3830"/>
                </a:solidFill>
              </a:rPr>
              <a:t>Глубокое обучение</a:t>
            </a:r>
          </a:p>
          <a:p>
            <a:pPr marL="514350" indent="-514350">
              <a:buAutoNum type="arabicPeriod"/>
            </a:pPr>
            <a:r>
              <a:rPr lang="ru-RU" dirty="0">
                <a:solidFill>
                  <a:srgbClr val="0A3830"/>
                </a:solidFill>
              </a:rPr>
              <a:t>Искусственный интеллект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4E50023-BD83-4617-BE09-BEE12F0644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40129" y="1353829"/>
            <a:ext cx="5260258" cy="4912913"/>
          </a:xfrm>
          <a:custGeom>
            <a:avLst/>
            <a:gdLst>
              <a:gd name="connsiteX0" fmla="*/ 0 w 5260258"/>
              <a:gd name="connsiteY0" fmla="*/ 0 h 4912913"/>
              <a:gd name="connsiteX1" fmla="*/ 552327 w 5260258"/>
              <a:gd name="connsiteY1" fmla="*/ 0 h 4912913"/>
              <a:gd name="connsiteX2" fmla="*/ 1209859 w 5260258"/>
              <a:gd name="connsiteY2" fmla="*/ 0 h 4912913"/>
              <a:gd name="connsiteX3" fmla="*/ 1972597 w 5260258"/>
              <a:gd name="connsiteY3" fmla="*/ 0 h 4912913"/>
              <a:gd name="connsiteX4" fmla="*/ 2524924 w 5260258"/>
              <a:gd name="connsiteY4" fmla="*/ 0 h 4912913"/>
              <a:gd name="connsiteX5" fmla="*/ 3235059 w 5260258"/>
              <a:gd name="connsiteY5" fmla="*/ 0 h 4912913"/>
              <a:gd name="connsiteX6" fmla="*/ 3787386 w 5260258"/>
              <a:gd name="connsiteY6" fmla="*/ 0 h 4912913"/>
              <a:gd name="connsiteX7" fmla="*/ 4444918 w 5260258"/>
              <a:gd name="connsiteY7" fmla="*/ 0 h 4912913"/>
              <a:gd name="connsiteX8" fmla="*/ 5260258 w 5260258"/>
              <a:gd name="connsiteY8" fmla="*/ 0 h 4912913"/>
              <a:gd name="connsiteX9" fmla="*/ 5260258 w 5260258"/>
              <a:gd name="connsiteY9" fmla="*/ 466727 h 4912913"/>
              <a:gd name="connsiteX10" fmla="*/ 5260258 w 5260258"/>
              <a:gd name="connsiteY10" fmla="*/ 1179099 h 4912913"/>
              <a:gd name="connsiteX11" fmla="*/ 5260258 w 5260258"/>
              <a:gd name="connsiteY11" fmla="*/ 1793213 h 4912913"/>
              <a:gd name="connsiteX12" fmla="*/ 5260258 w 5260258"/>
              <a:gd name="connsiteY12" fmla="*/ 2505586 h 4912913"/>
              <a:gd name="connsiteX13" fmla="*/ 5260258 w 5260258"/>
              <a:gd name="connsiteY13" fmla="*/ 3168829 h 4912913"/>
              <a:gd name="connsiteX14" fmla="*/ 5260258 w 5260258"/>
              <a:gd name="connsiteY14" fmla="*/ 3733814 h 4912913"/>
              <a:gd name="connsiteX15" fmla="*/ 5260258 w 5260258"/>
              <a:gd name="connsiteY15" fmla="*/ 4912913 h 4912913"/>
              <a:gd name="connsiteX16" fmla="*/ 4707931 w 5260258"/>
              <a:gd name="connsiteY16" fmla="*/ 4912913 h 4912913"/>
              <a:gd name="connsiteX17" fmla="*/ 4050399 w 5260258"/>
              <a:gd name="connsiteY17" fmla="*/ 4912913 h 4912913"/>
              <a:gd name="connsiteX18" fmla="*/ 3287661 w 5260258"/>
              <a:gd name="connsiteY18" fmla="*/ 4912913 h 4912913"/>
              <a:gd name="connsiteX19" fmla="*/ 2524924 w 5260258"/>
              <a:gd name="connsiteY19" fmla="*/ 4912913 h 4912913"/>
              <a:gd name="connsiteX20" fmla="*/ 1814789 w 5260258"/>
              <a:gd name="connsiteY20" fmla="*/ 4912913 h 4912913"/>
              <a:gd name="connsiteX21" fmla="*/ 1104654 w 5260258"/>
              <a:gd name="connsiteY21" fmla="*/ 4912913 h 4912913"/>
              <a:gd name="connsiteX22" fmla="*/ 0 w 5260258"/>
              <a:gd name="connsiteY22" fmla="*/ 4912913 h 4912913"/>
              <a:gd name="connsiteX23" fmla="*/ 0 w 5260258"/>
              <a:gd name="connsiteY23" fmla="*/ 4397057 h 4912913"/>
              <a:gd name="connsiteX24" fmla="*/ 0 w 5260258"/>
              <a:gd name="connsiteY24" fmla="*/ 3782943 h 4912913"/>
              <a:gd name="connsiteX25" fmla="*/ 0 w 5260258"/>
              <a:gd name="connsiteY25" fmla="*/ 3168829 h 4912913"/>
              <a:gd name="connsiteX26" fmla="*/ 0 w 5260258"/>
              <a:gd name="connsiteY26" fmla="*/ 2702102 h 4912913"/>
              <a:gd name="connsiteX27" fmla="*/ 0 w 5260258"/>
              <a:gd name="connsiteY27" fmla="*/ 2038859 h 4912913"/>
              <a:gd name="connsiteX28" fmla="*/ 0 w 5260258"/>
              <a:gd name="connsiteY28" fmla="*/ 1572132 h 4912913"/>
              <a:gd name="connsiteX29" fmla="*/ 0 w 5260258"/>
              <a:gd name="connsiteY29" fmla="*/ 958018 h 4912913"/>
              <a:gd name="connsiteX30" fmla="*/ 0 w 5260258"/>
              <a:gd name="connsiteY30" fmla="*/ 0 h 4912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5260258" h="4912913" fill="none" extrusionOk="0">
                <a:moveTo>
                  <a:pt x="0" y="0"/>
                </a:moveTo>
                <a:cubicBezTo>
                  <a:pt x="152326" y="-5768"/>
                  <a:pt x="426467" y="-17573"/>
                  <a:pt x="552327" y="0"/>
                </a:cubicBezTo>
                <a:cubicBezTo>
                  <a:pt x="678187" y="17573"/>
                  <a:pt x="1040371" y="-3428"/>
                  <a:pt x="1209859" y="0"/>
                </a:cubicBezTo>
                <a:cubicBezTo>
                  <a:pt x="1379347" y="3428"/>
                  <a:pt x="1624729" y="32754"/>
                  <a:pt x="1972597" y="0"/>
                </a:cubicBezTo>
                <a:cubicBezTo>
                  <a:pt x="2320465" y="-32754"/>
                  <a:pt x="2331798" y="11541"/>
                  <a:pt x="2524924" y="0"/>
                </a:cubicBezTo>
                <a:cubicBezTo>
                  <a:pt x="2718050" y="-11541"/>
                  <a:pt x="2959675" y="-3668"/>
                  <a:pt x="3235059" y="0"/>
                </a:cubicBezTo>
                <a:cubicBezTo>
                  <a:pt x="3510444" y="3668"/>
                  <a:pt x="3552028" y="21748"/>
                  <a:pt x="3787386" y="0"/>
                </a:cubicBezTo>
                <a:cubicBezTo>
                  <a:pt x="4022744" y="-21748"/>
                  <a:pt x="4195517" y="18625"/>
                  <a:pt x="4444918" y="0"/>
                </a:cubicBezTo>
                <a:cubicBezTo>
                  <a:pt x="4694319" y="-18625"/>
                  <a:pt x="4899992" y="27792"/>
                  <a:pt x="5260258" y="0"/>
                </a:cubicBezTo>
                <a:cubicBezTo>
                  <a:pt x="5262045" y="185782"/>
                  <a:pt x="5255734" y="291044"/>
                  <a:pt x="5260258" y="466727"/>
                </a:cubicBezTo>
                <a:cubicBezTo>
                  <a:pt x="5264782" y="642410"/>
                  <a:pt x="5274682" y="901806"/>
                  <a:pt x="5260258" y="1179099"/>
                </a:cubicBezTo>
                <a:cubicBezTo>
                  <a:pt x="5245834" y="1456392"/>
                  <a:pt x="5278883" y="1669990"/>
                  <a:pt x="5260258" y="1793213"/>
                </a:cubicBezTo>
                <a:cubicBezTo>
                  <a:pt x="5241633" y="1916436"/>
                  <a:pt x="5259756" y="2152311"/>
                  <a:pt x="5260258" y="2505586"/>
                </a:cubicBezTo>
                <a:cubicBezTo>
                  <a:pt x="5260760" y="2858861"/>
                  <a:pt x="5290823" y="3022536"/>
                  <a:pt x="5260258" y="3168829"/>
                </a:cubicBezTo>
                <a:cubicBezTo>
                  <a:pt x="5229693" y="3315122"/>
                  <a:pt x="5263379" y="3529323"/>
                  <a:pt x="5260258" y="3733814"/>
                </a:cubicBezTo>
                <a:cubicBezTo>
                  <a:pt x="5257137" y="3938305"/>
                  <a:pt x="5301953" y="4385328"/>
                  <a:pt x="5260258" y="4912913"/>
                </a:cubicBezTo>
                <a:cubicBezTo>
                  <a:pt x="5075483" y="4892659"/>
                  <a:pt x="4894135" y="4928929"/>
                  <a:pt x="4707931" y="4912913"/>
                </a:cubicBezTo>
                <a:cubicBezTo>
                  <a:pt x="4521727" y="4896897"/>
                  <a:pt x="4357257" y="4897166"/>
                  <a:pt x="4050399" y="4912913"/>
                </a:cubicBezTo>
                <a:cubicBezTo>
                  <a:pt x="3743541" y="4928660"/>
                  <a:pt x="3602401" y="4881553"/>
                  <a:pt x="3287661" y="4912913"/>
                </a:cubicBezTo>
                <a:cubicBezTo>
                  <a:pt x="2972921" y="4944273"/>
                  <a:pt x="2904472" y="4929286"/>
                  <a:pt x="2524924" y="4912913"/>
                </a:cubicBezTo>
                <a:cubicBezTo>
                  <a:pt x="2145376" y="4896540"/>
                  <a:pt x="2102436" y="4915951"/>
                  <a:pt x="1814789" y="4912913"/>
                </a:cubicBezTo>
                <a:cubicBezTo>
                  <a:pt x="1527142" y="4909875"/>
                  <a:pt x="1250750" y="4941197"/>
                  <a:pt x="1104654" y="4912913"/>
                </a:cubicBezTo>
                <a:cubicBezTo>
                  <a:pt x="958559" y="4884629"/>
                  <a:pt x="345515" y="4917426"/>
                  <a:pt x="0" y="4912913"/>
                </a:cubicBezTo>
                <a:cubicBezTo>
                  <a:pt x="23535" y="4793569"/>
                  <a:pt x="6944" y="4557686"/>
                  <a:pt x="0" y="4397057"/>
                </a:cubicBezTo>
                <a:cubicBezTo>
                  <a:pt x="-6944" y="4236428"/>
                  <a:pt x="4184" y="4063831"/>
                  <a:pt x="0" y="3782943"/>
                </a:cubicBezTo>
                <a:cubicBezTo>
                  <a:pt x="-4184" y="3502055"/>
                  <a:pt x="26274" y="3357960"/>
                  <a:pt x="0" y="3168829"/>
                </a:cubicBezTo>
                <a:cubicBezTo>
                  <a:pt x="-26274" y="2979698"/>
                  <a:pt x="14472" y="2800009"/>
                  <a:pt x="0" y="2702102"/>
                </a:cubicBezTo>
                <a:cubicBezTo>
                  <a:pt x="-14472" y="2604195"/>
                  <a:pt x="19638" y="2174988"/>
                  <a:pt x="0" y="2038859"/>
                </a:cubicBezTo>
                <a:cubicBezTo>
                  <a:pt x="-19638" y="1902730"/>
                  <a:pt x="-17512" y="1790878"/>
                  <a:pt x="0" y="1572132"/>
                </a:cubicBezTo>
                <a:cubicBezTo>
                  <a:pt x="17512" y="1353386"/>
                  <a:pt x="19865" y="1238843"/>
                  <a:pt x="0" y="958018"/>
                </a:cubicBezTo>
                <a:cubicBezTo>
                  <a:pt x="-19865" y="677193"/>
                  <a:pt x="45958" y="327486"/>
                  <a:pt x="0" y="0"/>
                </a:cubicBezTo>
                <a:close/>
              </a:path>
              <a:path w="5260258" h="4912913" stroke="0" extrusionOk="0">
                <a:moveTo>
                  <a:pt x="0" y="0"/>
                </a:moveTo>
                <a:cubicBezTo>
                  <a:pt x="194631" y="27063"/>
                  <a:pt x="391317" y="9356"/>
                  <a:pt x="604930" y="0"/>
                </a:cubicBezTo>
                <a:cubicBezTo>
                  <a:pt x="818543" y="-9356"/>
                  <a:pt x="964765" y="-4914"/>
                  <a:pt x="1104654" y="0"/>
                </a:cubicBezTo>
                <a:cubicBezTo>
                  <a:pt x="1244543" y="4914"/>
                  <a:pt x="1608389" y="-24554"/>
                  <a:pt x="1867392" y="0"/>
                </a:cubicBezTo>
                <a:cubicBezTo>
                  <a:pt x="2126395" y="24554"/>
                  <a:pt x="2348430" y="12816"/>
                  <a:pt x="2472321" y="0"/>
                </a:cubicBezTo>
                <a:cubicBezTo>
                  <a:pt x="2596212" y="-12816"/>
                  <a:pt x="2782866" y="-11584"/>
                  <a:pt x="3077251" y="0"/>
                </a:cubicBezTo>
                <a:cubicBezTo>
                  <a:pt x="3371636" y="11584"/>
                  <a:pt x="3471743" y="-20099"/>
                  <a:pt x="3839988" y="0"/>
                </a:cubicBezTo>
                <a:cubicBezTo>
                  <a:pt x="4208233" y="20099"/>
                  <a:pt x="4138444" y="3783"/>
                  <a:pt x="4392315" y="0"/>
                </a:cubicBezTo>
                <a:cubicBezTo>
                  <a:pt x="4646186" y="-3783"/>
                  <a:pt x="4923104" y="79"/>
                  <a:pt x="5260258" y="0"/>
                </a:cubicBezTo>
                <a:cubicBezTo>
                  <a:pt x="5265984" y="286966"/>
                  <a:pt x="5250933" y="496573"/>
                  <a:pt x="5260258" y="712372"/>
                </a:cubicBezTo>
                <a:cubicBezTo>
                  <a:pt x="5269583" y="928171"/>
                  <a:pt x="5262101" y="1107282"/>
                  <a:pt x="5260258" y="1228228"/>
                </a:cubicBezTo>
                <a:cubicBezTo>
                  <a:pt x="5258415" y="1349174"/>
                  <a:pt x="5260644" y="1651576"/>
                  <a:pt x="5260258" y="1842342"/>
                </a:cubicBezTo>
                <a:cubicBezTo>
                  <a:pt x="5259872" y="2033108"/>
                  <a:pt x="5264541" y="2212326"/>
                  <a:pt x="5260258" y="2505586"/>
                </a:cubicBezTo>
                <a:cubicBezTo>
                  <a:pt x="5255975" y="2798846"/>
                  <a:pt x="5282435" y="2821799"/>
                  <a:pt x="5260258" y="2972312"/>
                </a:cubicBezTo>
                <a:cubicBezTo>
                  <a:pt x="5238081" y="3122825"/>
                  <a:pt x="5247781" y="3379755"/>
                  <a:pt x="5260258" y="3586426"/>
                </a:cubicBezTo>
                <a:cubicBezTo>
                  <a:pt x="5272735" y="3793097"/>
                  <a:pt x="5232598" y="4072722"/>
                  <a:pt x="5260258" y="4200541"/>
                </a:cubicBezTo>
                <a:cubicBezTo>
                  <a:pt x="5287918" y="4328361"/>
                  <a:pt x="5285775" y="4737736"/>
                  <a:pt x="5260258" y="4912913"/>
                </a:cubicBezTo>
                <a:cubicBezTo>
                  <a:pt x="5101173" y="4919934"/>
                  <a:pt x="4831623" y="4945781"/>
                  <a:pt x="4550123" y="4912913"/>
                </a:cubicBezTo>
                <a:cubicBezTo>
                  <a:pt x="4268624" y="4880045"/>
                  <a:pt x="4085832" y="4930599"/>
                  <a:pt x="3892591" y="4912913"/>
                </a:cubicBezTo>
                <a:cubicBezTo>
                  <a:pt x="3699350" y="4895227"/>
                  <a:pt x="3496798" y="4921536"/>
                  <a:pt x="3392866" y="4912913"/>
                </a:cubicBezTo>
                <a:cubicBezTo>
                  <a:pt x="3288934" y="4904290"/>
                  <a:pt x="3115281" y="4922390"/>
                  <a:pt x="2840539" y="4912913"/>
                </a:cubicBezTo>
                <a:cubicBezTo>
                  <a:pt x="2565797" y="4903436"/>
                  <a:pt x="2240439" y="4895781"/>
                  <a:pt x="2077802" y="4912913"/>
                </a:cubicBezTo>
                <a:cubicBezTo>
                  <a:pt x="1915165" y="4930045"/>
                  <a:pt x="1699320" y="4941449"/>
                  <a:pt x="1420270" y="4912913"/>
                </a:cubicBezTo>
                <a:cubicBezTo>
                  <a:pt x="1141220" y="4884377"/>
                  <a:pt x="1029555" y="4913444"/>
                  <a:pt x="867943" y="4912913"/>
                </a:cubicBezTo>
                <a:cubicBezTo>
                  <a:pt x="706331" y="4912382"/>
                  <a:pt x="332323" y="4891183"/>
                  <a:pt x="0" y="4912913"/>
                </a:cubicBezTo>
                <a:cubicBezTo>
                  <a:pt x="-6248" y="4738726"/>
                  <a:pt x="4915" y="4568713"/>
                  <a:pt x="0" y="4446186"/>
                </a:cubicBezTo>
                <a:cubicBezTo>
                  <a:pt x="-4915" y="4323659"/>
                  <a:pt x="12955" y="4192216"/>
                  <a:pt x="0" y="3979460"/>
                </a:cubicBezTo>
                <a:cubicBezTo>
                  <a:pt x="-12955" y="3766704"/>
                  <a:pt x="11415" y="3485116"/>
                  <a:pt x="0" y="3316216"/>
                </a:cubicBezTo>
                <a:cubicBezTo>
                  <a:pt x="-11415" y="3147316"/>
                  <a:pt x="-24446" y="3024205"/>
                  <a:pt x="0" y="2800360"/>
                </a:cubicBezTo>
                <a:cubicBezTo>
                  <a:pt x="24446" y="2576515"/>
                  <a:pt x="2025" y="2415399"/>
                  <a:pt x="0" y="2087988"/>
                </a:cubicBezTo>
                <a:cubicBezTo>
                  <a:pt x="-2025" y="1760577"/>
                  <a:pt x="-6903" y="1717329"/>
                  <a:pt x="0" y="1523003"/>
                </a:cubicBezTo>
                <a:cubicBezTo>
                  <a:pt x="6903" y="1328677"/>
                  <a:pt x="-8890" y="1219726"/>
                  <a:pt x="0" y="1056276"/>
                </a:cubicBezTo>
                <a:cubicBezTo>
                  <a:pt x="8890" y="892826"/>
                  <a:pt x="-41554" y="254037"/>
                  <a:pt x="0" y="0"/>
                </a:cubicBezTo>
                <a:close/>
              </a:path>
            </a:pathLst>
          </a:custGeom>
          <a:solidFill>
            <a:schemeClr val="bg1"/>
          </a:solidFill>
          <a:ln w="44450" cmpd="sng">
            <a:noFill/>
            <a:extLst>
              <a:ext uri="{C807C97D-BFC1-408E-A445-0C87EB9F89A2}">
                <ask:lineSketchStyleProps xmlns:ask="http://schemas.microsoft.com/office/drawing/2018/sketchyshapes" sd="1219033472">
                  <ask:type>
                    <ask:lineSketchFreehand/>
                  </ask:type>
                </ask:lineSketchStyleProps>
              </a:ext>
            </a:extLst>
          </a:ln>
        </p:spPr>
        <p:txBody>
          <a:bodyPr anchor="ctr">
            <a:normAutofit fontScale="92500"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dirty="0">
                <a:solidFill>
                  <a:srgbClr val="0A3830"/>
                </a:solidFill>
              </a:rPr>
              <a:t>Исследовать и проанализировать существующие методы выявления аномалий изображений;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solidFill>
                  <a:srgbClr val="0A3830"/>
                </a:solidFill>
              </a:rPr>
              <a:t>Разработать метод моделирования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solidFill>
                  <a:srgbClr val="0A3830"/>
                </a:solidFill>
              </a:rPr>
              <a:t>Реализовать компьютерную программу модели;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solidFill>
                  <a:srgbClr val="0A3830"/>
                </a:solidFill>
              </a:rPr>
              <a:t>Провести тестирование модели;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solidFill>
                  <a:srgbClr val="0A3830"/>
                </a:solidFill>
              </a:rPr>
              <a:t>Провести анализ результатов работы модели.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272D4F94-CD94-4C62-9F1D-EAD1073B1FB2}"/>
              </a:ext>
            </a:extLst>
          </p:cNvPr>
          <p:cNvSpPr/>
          <p:nvPr/>
        </p:nvSpPr>
        <p:spPr>
          <a:xfrm>
            <a:off x="563345" y="3587830"/>
            <a:ext cx="5333103" cy="587785"/>
          </a:xfrm>
          <a:custGeom>
            <a:avLst/>
            <a:gdLst>
              <a:gd name="connsiteX0" fmla="*/ 0 w 5333103"/>
              <a:gd name="connsiteY0" fmla="*/ 97966 h 587785"/>
              <a:gd name="connsiteX1" fmla="*/ 97966 w 5333103"/>
              <a:gd name="connsiteY1" fmla="*/ 0 h 587785"/>
              <a:gd name="connsiteX2" fmla="*/ 740112 w 5333103"/>
              <a:gd name="connsiteY2" fmla="*/ 0 h 587785"/>
              <a:gd name="connsiteX3" fmla="*/ 1279515 w 5333103"/>
              <a:gd name="connsiteY3" fmla="*/ 0 h 587785"/>
              <a:gd name="connsiteX4" fmla="*/ 1973033 w 5333103"/>
              <a:gd name="connsiteY4" fmla="*/ 0 h 587785"/>
              <a:gd name="connsiteX5" fmla="*/ 2512436 w 5333103"/>
              <a:gd name="connsiteY5" fmla="*/ 0 h 587785"/>
              <a:gd name="connsiteX6" fmla="*/ 3205954 w 5333103"/>
              <a:gd name="connsiteY6" fmla="*/ 0 h 587785"/>
              <a:gd name="connsiteX7" fmla="*/ 3693986 w 5333103"/>
              <a:gd name="connsiteY7" fmla="*/ 0 h 587785"/>
              <a:gd name="connsiteX8" fmla="*/ 4387504 w 5333103"/>
              <a:gd name="connsiteY8" fmla="*/ 0 h 587785"/>
              <a:gd name="connsiteX9" fmla="*/ 5235137 w 5333103"/>
              <a:gd name="connsiteY9" fmla="*/ 0 h 587785"/>
              <a:gd name="connsiteX10" fmla="*/ 5333103 w 5333103"/>
              <a:gd name="connsiteY10" fmla="*/ 97966 h 587785"/>
              <a:gd name="connsiteX11" fmla="*/ 5333103 w 5333103"/>
              <a:gd name="connsiteY11" fmla="*/ 489819 h 587785"/>
              <a:gd name="connsiteX12" fmla="*/ 5235137 w 5333103"/>
              <a:gd name="connsiteY12" fmla="*/ 587785 h 587785"/>
              <a:gd name="connsiteX13" fmla="*/ 4695734 w 5333103"/>
              <a:gd name="connsiteY13" fmla="*/ 587785 h 587785"/>
              <a:gd name="connsiteX14" fmla="*/ 4104959 w 5333103"/>
              <a:gd name="connsiteY14" fmla="*/ 587785 h 587785"/>
              <a:gd name="connsiteX15" fmla="*/ 3462813 w 5333103"/>
              <a:gd name="connsiteY15" fmla="*/ 587785 h 587785"/>
              <a:gd name="connsiteX16" fmla="*/ 2923410 w 5333103"/>
              <a:gd name="connsiteY16" fmla="*/ 587785 h 587785"/>
              <a:gd name="connsiteX17" fmla="*/ 2178520 w 5333103"/>
              <a:gd name="connsiteY17" fmla="*/ 587785 h 587785"/>
              <a:gd name="connsiteX18" fmla="*/ 1536374 w 5333103"/>
              <a:gd name="connsiteY18" fmla="*/ 587785 h 587785"/>
              <a:gd name="connsiteX19" fmla="*/ 791484 w 5333103"/>
              <a:gd name="connsiteY19" fmla="*/ 587785 h 587785"/>
              <a:gd name="connsiteX20" fmla="*/ 97966 w 5333103"/>
              <a:gd name="connsiteY20" fmla="*/ 587785 h 587785"/>
              <a:gd name="connsiteX21" fmla="*/ 0 w 5333103"/>
              <a:gd name="connsiteY21" fmla="*/ 489819 h 587785"/>
              <a:gd name="connsiteX22" fmla="*/ 0 w 5333103"/>
              <a:gd name="connsiteY22" fmla="*/ 97966 h 58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5333103" h="587785" fill="none" extrusionOk="0">
                <a:moveTo>
                  <a:pt x="0" y="97966"/>
                </a:moveTo>
                <a:cubicBezTo>
                  <a:pt x="-5908" y="43527"/>
                  <a:pt x="51314" y="6417"/>
                  <a:pt x="97966" y="0"/>
                </a:cubicBezTo>
                <a:cubicBezTo>
                  <a:pt x="358816" y="9403"/>
                  <a:pt x="541569" y="-25099"/>
                  <a:pt x="740112" y="0"/>
                </a:cubicBezTo>
                <a:cubicBezTo>
                  <a:pt x="938655" y="25099"/>
                  <a:pt x="1083500" y="-9728"/>
                  <a:pt x="1279515" y="0"/>
                </a:cubicBezTo>
                <a:cubicBezTo>
                  <a:pt x="1475530" y="9728"/>
                  <a:pt x="1802316" y="15684"/>
                  <a:pt x="1973033" y="0"/>
                </a:cubicBezTo>
                <a:cubicBezTo>
                  <a:pt x="2143750" y="-15684"/>
                  <a:pt x="2322911" y="-7592"/>
                  <a:pt x="2512436" y="0"/>
                </a:cubicBezTo>
                <a:cubicBezTo>
                  <a:pt x="2701961" y="7592"/>
                  <a:pt x="3007712" y="26699"/>
                  <a:pt x="3205954" y="0"/>
                </a:cubicBezTo>
                <a:cubicBezTo>
                  <a:pt x="3404196" y="-26699"/>
                  <a:pt x="3529505" y="-15712"/>
                  <a:pt x="3693986" y="0"/>
                </a:cubicBezTo>
                <a:cubicBezTo>
                  <a:pt x="3858467" y="15712"/>
                  <a:pt x="4076870" y="-32705"/>
                  <a:pt x="4387504" y="0"/>
                </a:cubicBezTo>
                <a:cubicBezTo>
                  <a:pt x="4698138" y="32705"/>
                  <a:pt x="5018645" y="28313"/>
                  <a:pt x="5235137" y="0"/>
                </a:cubicBezTo>
                <a:cubicBezTo>
                  <a:pt x="5279823" y="5282"/>
                  <a:pt x="5333745" y="45600"/>
                  <a:pt x="5333103" y="97966"/>
                </a:cubicBezTo>
                <a:cubicBezTo>
                  <a:pt x="5350093" y="205287"/>
                  <a:pt x="5351834" y="321690"/>
                  <a:pt x="5333103" y="489819"/>
                </a:cubicBezTo>
                <a:cubicBezTo>
                  <a:pt x="5336012" y="543154"/>
                  <a:pt x="5288577" y="592388"/>
                  <a:pt x="5235137" y="587785"/>
                </a:cubicBezTo>
                <a:cubicBezTo>
                  <a:pt x="4990295" y="610184"/>
                  <a:pt x="4894307" y="598815"/>
                  <a:pt x="4695734" y="587785"/>
                </a:cubicBezTo>
                <a:cubicBezTo>
                  <a:pt x="4497161" y="576755"/>
                  <a:pt x="4364413" y="595861"/>
                  <a:pt x="4104959" y="587785"/>
                </a:cubicBezTo>
                <a:cubicBezTo>
                  <a:pt x="3845505" y="579709"/>
                  <a:pt x="3726004" y="555823"/>
                  <a:pt x="3462813" y="587785"/>
                </a:cubicBezTo>
                <a:cubicBezTo>
                  <a:pt x="3199622" y="619747"/>
                  <a:pt x="3144929" y="571131"/>
                  <a:pt x="2923410" y="587785"/>
                </a:cubicBezTo>
                <a:cubicBezTo>
                  <a:pt x="2701891" y="604439"/>
                  <a:pt x="2345058" y="569839"/>
                  <a:pt x="2178520" y="587785"/>
                </a:cubicBezTo>
                <a:cubicBezTo>
                  <a:pt x="2011982" y="605732"/>
                  <a:pt x="1767656" y="593409"/>
                  <a:pt x="1536374" y="587785"/>
                </a:cubicBezTo>
                <a:cubicBezTo>
                  <a:pt x="1305092" y="582161"/>
                  <a:pt x="1025681" y="567081"/>
                  <a:pt x="791484" y="587785"/>
                </a:cubicBezTo>
                <a:cubicBezTo>
                  <a:pt x="557287" y="608490"/>
                  <a:pt x="365382" y="555794"/>
                  <a:pt x="97966" y="587785"/>
                </a:cubicBezTo>
                <a:cubicBezTo>
                  <a:pt x="42428" y="593035"/>
                  <a:pt x="904" y="542402"/>
                  <a:pt x="0" y="489819"/>
                </a:cubicBezTo>
                <a:cubicBezTo>
                  <a:pt x="-7783" y="374089"/>
                  <a:pt x="-16215" y="272122"/>
                  <a:pt x="0" y="97966"/>
                </a:cubicBezTo>
                <a:close/>
              </a:path>
              <a:path w="5333103" h="587785" stroke="0" extrusionOk="0">
                <a:moveTo>
                  <a:pt x="0" y="97966"/>
                </a:moveTo>
                <a:cubicBezTo>
                  <a:pt x="-11239" y="36928"/>
                  <a:pt x="36126" y="2903"/>
                  <a:pt x="97966" y="0"/>
                </a:cubicBezTo>
                <a:cubicBezTo>
                  <a:pt x="337086" y="33969"/>
                  <a:pt x="557588" y="-9431"/>
                  <a:pt x="842856" y="0"/>
                </a:cubicBezTo>
                <a:cubicBezTo>
                  <a:pt x="1128124" y="9431"/>
                  <a:pt x="1196718" y="-24805"/>
                  <a:pt x="1433630" y="0"/>
                </a:cubicBezTo>
                <a:cubicBezTo>
                  <a:pt x="1670542" y="24805"/>
                  <a:pt x="1712899" y="-19917"/>
                  <a:pt x="1973033" y="0"/>
                </a:cubicBezTo>
                <a:cubicBezTo>
                  <a:pt x="2233167" y="19917"/>
                  <a:pt x="2518598" y="-6452"/>
                  <a:pt x="2666552" y="0"/>
                </a:cubicBezTo>
                <a:cubicBezTo>
                  <a:pt x="2814506" y="6452"/>
                  <a:pt x="2979132" y="-19547"/>
                  <a:pt x="3257326" y="0"/>
                </a:cubicBezTo>
                <a:cubicBezTo>
                  <a:pt x="3535520" y="19547"/>
                  <a:pt x="3632434" y="-1372"/>
                  <a:pt x="4002216" y="0"/>
                </a:cubicBezTo>
                <a:cubicBezTo>
                  <a:pt x="4371998" y="1372"/>
                  <a:pt x="4331112" y="23900"/>
                  <a:pt x="4541619" y="0"/>
                </a:cubicBezTo>
                <a:cubicBezTo>
                  <a:pt x="4752126" y="-23900"/>
                  <a:pt x="4927416" y="33982"/>
                  <a:pt x="5235137" y="0"/>
                </a:cubicBezTo>
                <a:cubicBezTo>
                  <a:pt x="5302021" y="3072"/>
                  <a:pt x="5321914" y="42051"/>
                  <a:pt x="5333103" y="97966"/>
                </a:cubicBezTo>
                <a:cubicBezTo>
                  <a:pt x="5348089" y="269445"/>
                  <a:pt x="5343875" y="407068"/>
                  <a:pt x="5333103" y="489819"/>
                </a:cubicBezTo>
                <a:cubicBezTo>
                  <a:pt x="5337785" y="539298"/>
                  <a:pt x="5295049" y="584041"/>
                  <a:pt x="5235137" y="587785"/>
                </a:cubicBezTo>
                <a:cubicBezTo>
                  <a:pt x="4944659" y="560104"/>
                  <a:pt x="4773219" y="565180"/>
                  <a:pt x="4592991" y="587785"/>
                </a:cubicBezTo>
                <a:cubicBezTo>
                  <a:pt x="4412763" y="610390"/>
                  <a:pt x="4300434" y="596688"/>
                  <a:pt x="4053588" y="587785"/>
                </a:cubicBezTo>
                <a:cubicBezTo>
                  <a:pt x="3806742" y="578882"/>
                  <a:pt x="3682918" y="571933"/>
                  <a:pt x="3411441" y="587785"/>
                </a:cubicBezTo>
                <a:cubicBezTo>
                  <a:pt x="3139964" y="603637"/>
                  <a:pt x="2946795" y="554380"/>
                  <a:pt x="2666552" y="587785"/>
                </a:cubicBezTo>
                <a:cubicBezTo>
                  <a:pt x="2386309" y="621190"/>
                  <a:pt x="2262538" y="618437"/>
                  <a:pt x="2024405" y="587785"/>
                </a:cubicBezTo>
                <a:cubicBezTo>
                  <a:pt x="1786272" y="557133"/>
                  <a:pt x="1684535" y="578197"/>
                  <a:pt x="1536374" y="587785"/>
                </a:cubicBezTo>
                <a:cubicBezTo>
                  <a:pt x="1388213" y="597373"/>
                  <a:pt x="1213396" y="577802"/>
                  <a:pt x="996971" y="587785"/>
                </a:cubicBezTo>
                <a:cubicBezTo>
                  <a:pt x="780546" y="597768"/>
                  <a:pt x="466890" y="617665"/>
                  <a:pt x="97966" y="587785"/>
                </a:cubicBezTo>
                <a:cubicBezTo>
                  <a:pt x="52126" y="586036"/>
                  <a:pt x="1060" y="553993"/>
                  <a:pt x="0" y="489819"/>
                </a:cubicBezTo>
                <a:cubicBezTo>
                  <a:pt x="-4928" y="314876"/>
                  <a:pt x="-13721" y="222621"/>
                  <a:pt x="0" y="97966"/>
                </a:cubicBezTo>
                <a:close/>
              </a:path>
            </a:pathLst>
          </a:custGeom>
          <a:solidFill>
            <a:schemeClr val="bg1"/>
          </a:solidFill>
          <a:ln w="88900" cap="flat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400" b="1" dirty="0">
                <a:solidFill>
                  <a:srgbClr val="0A3830"/>
                </a:solidFill>
              </a:rPr>
              <a:t>Область исследования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117C232A-661F-441A-B257-5666CFB263BC}"/>
              </a:ext>
            </a:extLst>
          </p:cNvPr>
          <p:cNvSpPr/>
          <p:nvPr/>
        </p:nvSpPr>
        <p:spPr>
          <a:xfrm>
            <a:off x="6440129" y="508836"/>
            <a:ext cx="5260258" cy="587785"/>
          </a:xfrm>
          <a:custGeom>
            <a:avLst/>
            <a:gdLst>
              <a:gd name="connsiteX0" fmla="*/ 0 w 5260258"/>
              <a:gd name="connsiteY0" fmla="*/ 97966 h 587785"/>
              <a:gd name="connsiteX1" fmla="*/ 97966 w 5260258"/>
              <a:gd name="connsiteY1" fmla="*/ 0 h 587785"/>
              <a:gd name="connsiteX2" fmla="*/ 832293 w 5260258"/>
              <a:gd name="connsiteY2" fmla="*/ 0 h 587785"/>
              <a:gd name="connsiteX3" fmla="*/ 1465334 w 5260258"/>
              <a:gd name="connsiteY3" fmla="*/ 0 h 587785"/>
              <a:gd name="connsiteX4" fmla="*/ 1997088 w 5260258"/>
              <a:gd name="connsiteY4" fmla="*/ 0 h 587785"/>
              <a:gd name="connsiteX5" fmla="*/ 2680772 w 5260258"/>
              <a:gd name="connsiteY5" fmla="*/ 0 h 587785"/>
              <a:gd name="connsiteX6" fmla="*/ 3364456 w 5260258"/>
              <a:gd name="connsiteY6" fmla="*/ 0 h 587785"/>
              <a:gd name="connsiteX7" fmla="*/ 3997497 w 5260258"/>
              <a:gd name="connsiteY7" fmla="*/ 0 h 587785"/>
              <a:gd name="connsiteX8" fmla="*/ 5162292 w 5260258"/>
              <a:gd name="connsiteY8" fmla="*/ 0 h 587785"/>
              <a:gd name="connsiteX9" fmla="*/ 5260258 w 5260258"/>
              <a:gd name="connsiteY9" fmla="*/ 97966 h 587785"/>
              <a:gd name="connsiteX10" fmla="*/ 5260258 w 5260258"/>
              <a:gd name="connsiteY10" fmla="*/ 489819 h 587785"/>
              <a:gd name="connsiteX11" fmla="*/ 5162292 w 5260258"/>
              <a:gd name="connsiteY11" fmla="*/ 587785 h 587785"/>
              <a:gd name="connsiteX12" fmla="*/ 4579895 w 5260258"/>
              <a:gd name="connsiteY12" fmla="*/ 587785 h 587785"/>
              <a:gd name="connsiteX13" fmla="*/ 4048140 w 5260258"/>
              <a:gd name="connsiteY13" fmla="*/ 587785 h 587785"/>
              <a:gd name="connsiteX14" fmla="*/ 3516386 w 5260258"/>
              <a:gd name="connsiteY14" fmla="*/ 587785 h 587785"/>
              <a:gd name="connsiteX15" fmla="*/ 2933989 w 5260258"/>
              <a:gd name="connsiteY15" fmla="*/ 587785 h 587785"/>
              <a:gd name="connsiteX16" fmla="*/ 2351591 w 5260258"/>
              <a:gd name="connsiteY16" fmla="*/ 587785 h 587785"/>
              <a:gd name="connsiteX17" fmla="*/ 1718550 w 5260258"/>
              <a:gd name="connsiteY17" fmla="*/ 587785 h 587785"/>
              <a:gd name="connsiteX18" fmla="*/ 1085510 w 5260258"/>
              <a:gd name="connsiteY18" fmla="*/ 587785 h 587785"/>
              <a:gd name="connsiteX19" fmla="*/ 97966 w 5260258"/>
              <a:gd name="connsiteY19" fmla="*/ 587785 h 587785"/>
              <a:gd name="connsiteX20" fmla="*/ 0 w 5260258"/>
              <a:gd name="connsiteY20" fmla="*/ 489819 h 587785"/>
              <a:gd name="connsiteX21" fmla="*/ 0 w 5260258"/>
              <a:gd name="connsiteY21" fmla="*/ 97966 h 58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5260258" h="587785" fill="none" extrusionOk="0">
                <a:moveTo>
                  <a:pt x="0" y="97966"/>
                </a:moveTo>
                <a:cubicBezTo>
                  <a:pt x="4242" y="53396"/>
                  <a:pt x="46507" y="2241"/>
                  <a:pt x="97966" y="0"/>
                </a:cubicBezTo>
                <a:cubicBezTo>
                  <a:pt x="263686" y="-11961"/>
                  <a:pt x="473313" y="12678"/>
                  <a:pt x="832293" y="0"/>
                </a:cubicBezTo>
                <a:cubicBezTo>
                  <a:pt x="1191273" y="-12678"/>
                  <a:pt x="1250019" y="18552"/>
                  <a:pt x="1465334" y="0"/>
                </a:cubicBezTo>
                <a:cubicBezTo>
                  <a:pt x="1680649" y="-18552"/>
                  <a:pt x="1751691" y="6076"/>
                  <a:pt x="1997088" y="0"/>
                </a:cubicBezTo>
                <a:cubicBezTo>
                  <a:pt x="2242485" y="-6076"/>
                  <a:pt x="2471986" y="-8275"/>
                  <a:pt x="2680772" y="0"/>
                </a:cubicBezTo>
                <a:cubicBezTo>
                  <a:pt x="2889558" y="8275"/>
                  <a:pt x="3120333" y="-22386"/>
                  <a:pt x="3364456" y="0"/>
                </a:cubicBezTo>
                <a:cubicBezTo>
                  <a:pt x="3608579" y="22386"/>
                  <a:pt x="3839176" y="18863"/>
                  <a:pt x="3997497" y="0"/>
                </a:cubicBezTo>
                <a:cubicBezTo>
                  <a:pt x="4155818" y="-18863"/>
                  <a:pt x="4878494" y="-34748"/>
                  <a:pt x="5162292" y="0"/>
                </a:cubicBezTo>
                <a:cubicBezTo>
                  <a:pt x="5204362" y="3168"/>
                  <a:pt x="5249229" y="48486"/>
                  <a:pt x="5260258" y="97966"/>
                </a:cubicBezTo>
                <a:cubicBezTo>
                  <a:pt x="5242289" y="228790"/>
                  <a:pt x="5270157" y="404831"/>
                  <a:pt x="5260258" y="489819"/>
                </a:cubicBezTo>
                <a:cubicBezTo>
                  <a:pt x="5257314" y="535220"/>
                  <a:pt x="5219664" y="592741"/>
                  <a:pt x="5162292" y="587785"/>
                </a:cubicBezTo>
                <a:cubicBezTo>
                  <a:pt x="4871309" y="598066"/>
                  <a:pt x="4777847" y="596760"/>
                  <a:pt x="4579895" y="587785"/>
                </a:cubicBezTo>
                <a:cubicBezTo>
                  <a:pt x="4381943" y="578810"/>
                  <a:pt x="4197516" y="578748"/>
                  <a:pt x="4048140" y="587785"/>
                </a:cubicBezTo>
                <a:cubicBezTo>
                  <a:pt x="3898765" y="596822"/>
                  <a:pt x="3760228" y="607339"/>
                  <a:pt x="3516386" y="587785"/>
                </a:cubicBezTo>
                <a:cubicBezTo>
                  <a:pt x="3272544" y="568231"/>
                  <a:pt x="3141323" y="578673"/>
                  <a:pt x="2933989" y="587785"/>
                </a:cubicBezTo>
                <a:cubicBezTo>
                  <a:pt x="2726655" y="596897"/>
                  <a:pt x="2516412" y="613775"/>
                  <a:pt x="2351591" y="587785"/>
                </a:cubicBezTo>
                <a:cubicBezTo>
                  <a:pt x="2186770" y="561795"/>
                  <a:pt x="2033258" y="560663"/>
                  <a:pt x="1718550" y="587785"/>
                </a:cubicBezTo>
                <a:cubicBezTo>
                  <a:pt x="1403842" y="614907"/>
                  <a:pt x="1219121" y="564977"/>
                  <a:pt x="1085510" y="587785"/>
                </a:cubicBezTo>
                <a:cubicBezTo>
                  <a:pt x="951899" y="610593"/>
                  <a:pt x="347954" y="557187"/>
                  <a:pt x="97966" y="587785"/>
                </a:cubicBezTo>
                <a:cubicBezTo>
                  <a:pt x="45226" y="583956"/>
                  <a:pt x="-11641" y="539988"/>
                  <a:pt x="0" y="489819"/>
                </a:cubicBezTo>
                <a:cubicBezTo>
                  <a:pt x="-4671" y="333151"/>
                  <a:pt x="-6188" y="223088"/>
                  <a:pt x="0" y="97966"/>
                </a:cubicBezTo>
                <a:close/>
              </a:path>
              <a:path w="5260258" h="587785" stroke="0" extrusionOk="0">
                <a:moveTo>
                  <a:pt x="0" y="97966"/>
                </a:moveTo>
                <a:cubicBezTo>
                  <a:pt x="3547" y="54460"/>
                  <a:pt x="48329" y="-5377"/>
                  <a:pt x="97966" y="0"/>
                </a:cubicBezTo>
                <a:cubicBezTo>
                  <a:pt x="462005" y="3231"/>
                  <a:pt x="653041" y="23455"/>
                  <a:pt x="832293" y="0"/>
                </a:cubicBezTo>
                <a:cubicBezTo>
                  <a:pt x="1011545" y="-23455"/>
                  <a:pt x="1152701" y="-5560"/>
                  <a:pt x="1414691" y="0"/>
                </a:cubicBezTo>
                <a:cubicBezTo>
                  <a:pt x="1676681" y="5560"/>
                  <a:pt x="1817543" y="7879"/>
                  <a:pt x="1946445" y="0"/>
                </a:cubicBezTo>
                <a:cubicBezTo>
                  <a:pt x="2075347" y="-7879"/>
                  <a:pt x="2217598" y="-26188"/>
                  <a:pt x="2478199" y="0"/>
                </a:cubicBezTo>
                <a:cubicBezTo>
                  <a:pt x="2738800" y="26188"/>
                  <a:pt x="2831000" y="-20381"/>
                  <a:pt x="3009953" y="0"/>
                </a:cubicBezTo>
                <a:cubicBezTo>
                  <a:pt x="3188906" y="20381"/>
                  <a:pt x="3534656" y="5613"/>
                  <a:pt x="3693637" y="0"/>
                </a:cubicBezTo>
                <a:cubicBezTo>
                  <a:pt x="3852618" y="-5613"/>
                  <a:pt x="4049178" y="-10871"/>
                  <a:pt x="4225392" y="0"/>
                </a:cubicBezTo>
                <a:cubicBezTo>
                  <a:pt x="4401607" y="10871"/>
                  <a:pt x="4707340" y="38212"/>
                  <a:pt x="5162292" y="0"/>
                </a:cubicBezTo>
                <a:cubicBezTo>
                  <a:pt x="5208311" y="-5199"/>
                  <a:pt x="5262901" y="32276"/>
                  <a:pt x="5260258" y="97966"/>
                </a:cubicBezTo>
                <a:cubicBezTo>
                  <a:pt x="5270566" y="257067"/>
                  <a:pt x="5246755" y="319553"/>
                  <a:pt x="5260258" y="489819"/>
                </a:cubicBezTo>
                <a:cubicBezTo>
                  <a:pt x="5268611" y="541972"/>
                  <a:pt x="5211725" y="579282"/>
                  <a:pt x="5162292" y="587785"/>
                </a:cubicBezTo>
                <a:cubicBezTo>
                  <a:pt x="5011599" y="571196"/>
                  <a:pt x="4707184" y="613597"/>
                  <a:pt x="4478608" y="587785"/>
                </a:cubicBezTo>
                <a:cubicBezTo>
                  <a:pt x="4250032" y="561973"/>
                  <a:pt x="4005065" y="615540"/>
                  <a:pt x="3845567" y="587785"/>
                </a:cubicBezTo>
                <a:cubicBezTo>
                  <a:pt x="3686069" y="560030"/>
                  <a:pt x="3549691" y="565629"/>
                  <a:pt x="3313813" y="587785"/>
                </a:cubicBezTo>
                <a:cubicBezTo>
                  <a:pt x="3077935" y="609941"/>
                  <a:pt x="2860176" y="563274"/>
                  <a:pt x="2630129" y="587785"/>
                </a:cubicBezTo>
                <a:cubicBezTo>
                  <a:pt x="2400082" y="612296"/>
                  <a:pt x="2231444" y="601232"/>
                  <a:pt x="2047732" y="587785"/>
                </a:cubicBezTo>
                <a:cubicBezTo>
                  <a:pt x="1864020" y="574338"/>
                  <a:pt x="1509506" y="554760"/>
                  <a:pt x="1364048" y="587785"/>
                </a:cubicBezTo>
                <a:cubicBezTo>
                  <a:pt x="1218590" y="620810"/>
                  <a:pt x="1091087" y="586903"/>
                  <a:pt x="882937" y="587785"/>
                </a:cubicBezTo>
                <a:cubicBezTo>
                  <a:pt x="674787" y="588667"/>
                  <a:pt x="272083" y="563675"/>
                  <a:pt x="97966" y="587785"/>
                </a:cubicBezTo>
                <a:cubicBezTo>
                  <a:pt x="48409" y="582902"/>
                  <a:pt x="-9975" y="540956"/>
                  <a:pt x="0" y="489819"/>
                </a:cubicBezTo>
                <a:cubicBezTo>
                  <a:pt x="2879" y="408614"/>
                  <a:pt x="13068" y="193574"/>
                  <a:pt x="0" y="97966"/>
                </a:cubicBezTo>
                <a:close/>
              </a:path>
            </a:pathLst>
          </a:custGeom>
          <a:solidFill>
            <a:schemeClr val="bg1"/>
          </a:solidFill>
          <a:ln w="88900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3659010720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b="1" dirty="0">
                <a:solidFill>
                  <a:srgbClr val="0A3830"/>
                </a:solidFill>
              </a:rPr>
              <a:t>Задачи исследования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F2BBB3BE-DF4D-4559-90C0-9AFB90852EAC}"/>
              </a:ext>
            </a:extLst>
          </p:cNvPr>
          <p:cNvSpPr/>
          <p:nvPr/>
        </p:nvSpPr>
        <p:spPr>
          <a:xfrm>
            <a:off x="363794" y="330455"/>
            <a:ext cx="5732206" cy="287795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Объект 3">
            <a:extLst>
              <a:ext uri="{FF2B5EF4-FFF2-40B4-BE49-F238E27FC236}">
                <a16:creationId xmlns:a16="http://schemas.microsoft.com/office/drawing/2014/main" id="{96AF34C5-119A-4065-A0E1-E20D78CC3305}"/>
              </a:ext>
            </a:extLst>
          </p:cNvPr>
          <p:cNvSpPr txBox="1">
            <a:spLocks/>
          </p:cNvSpPr>
          <p:nvPr/>
        </p:nvSpPr>
        <p:spPr>
          <a:xfrm>
            <a:off x="563345" y="1353829"/>
            <a:ext cx="5333103" cy="1601584"/>
          </a:xfrm>
          <a:custGeom>
            <a:avLst/>
            <a:gdLst>
              <a:gd name="connsiteX0" fmla="*/ 0 w 5333103"/>
              <a:gd name="connsiteY0" fmla="*/ 0 h 1601584"/>
              <a:gd name="connsiteX1" fmla="*/ 773300 w 5333103"/>
              <a:gd name="connsiteY1" fmla="*/ 0 h 1601584"/>
              <a:gd name="connsiteX2" fmla="*/ 1493269 w 5333103"/>
              <a:gd name="connsiteY2" fmla="*/ 0 h 1601584"/>
              <a:gd name="connsiteX3" fmla="*/ 2159907 w 5333103"/>
              <a:gd name="connsiteY3" fmla="*/ 0 h 1601584"/>
              <a:gd name="connsiteX4" fmla="*/ 2826545 w 5333103"/>
              <a:gd name="connsiteY4" fmla="*/ 0 h 1601584"/>
              <a:gd name="connsiteX5" fmla="*/ 3599845 w 5333103"/>
              <a:gd name="connsiteY5" fmla="*/ 0 h 1601584"/>
              <a:gd name="connsiteX6" fmla="*/ 4319813 w 5333103"/>
              <a:gd name="connsiteY6" fmla="*/ 0 h 1601584"/>
              <a:gd name="connsiteX7" fmla="*/ 5333103 w 5333103"/>
              <a:gd name="connsiteY7" fmla="*/ 0 h 1601584"/>
              <a:gd name="connsiteX8" fmla="*/ 5333103 w 5333103"/>
              <a:gd name="connsiteY8" fmla="*/ 517845 h 1601584"/>
              <a:gd name="connsiteX9" fmla="*/ 5333103 w 5333103"/>
              <a:gd name="connsiteY9" fmla="*/ 1003659 h 1601584"/>
              <a:gd name="connsiteX10" fmla="*/ 5333103 w 5333103"/>
              <a:gd name="connsiteY10" fmla="*/ 1601584 h 1601584"/>
              <a:gd name="connsiteX11" fmla="*/ 4773127 w 5333103"/>
              <a:gd name="connsiteY11" fmla="*/ 1601584 h 1601584"/>
              <a:gd name="connsiteX12" fmla="*/ 3999827 w 5333103"/>
              <a:gd name="connsiteY12" fmla="*/ 1601584 h 1601584"/>
              <a:gd name="connsiteX13" fmla="*/ 3386520 w 5333103"/>
              <a:gd name="connsiteY13" fmla="*/ 1601584 h 1601584"/>
              <a:gd name="connsiteX14" fmla="*/ 2613220 w 5333103"/>
              <a:gd name="connsiteY14" fmla="*/ 1601584 h 1601584"/>
              <a:gd name="connsiteX15" fmla="*/ 2053245 w 5333103"/>
              <a:gd name="connsiteY15" fmla="*/ 1601584 h 1601584"/>
              <a:gd name="connsiteX16" fmla="*/ 1546600 w 5333103"/>
              <a:gd name="connsiteY16" fmla="*/ 1601584 h 1601584"/>
              <a:gd name="connsiteX17" fmla="*/ 1039955 w 5333103"/>
              <a:gd name="connsiteY17" fmla="*/ 1601584 h 1601584"/>
              <a:gd name="connsiteX18" fmla="*/ 0 w 5333103"/>
              <a:gd name="connsiteY18" fmla="*/ 1601584 h 1601584"/>
              <a:gd name="connsiteX19" fmla="*/ 0 w 5333103"/>
              <a:gd name="connsiteY19" fmla="*/ 1115770 h 1601584"/>
              <a:gd name="connsiteX20" fmla="*/ 0 w 5333103"/>
              <a:gd name="connsiteY20" fmla="*/ 549877 h 1601584"/>
              <a:gd name="connsiteX21" fmla="*/ 0 w 5333103"/>
              <a:gd name="connsiteY21" fmla="*/ 0 h 1601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5333103" h="1601584" fill="none" extrusionOk="0">
                <a:moveTo>
                  <a:pt x="0" y="0"/>
                </a:moveTo>
                <a:cubicBezTo>
                  <a:pt x="208658" y="-10066"/>
                  <a:pt x="517693" y="1700"/>
                  <a:pt x="773300" y="0"/>
                </a:cubicBezTo>
                <a:cubicBezTo>
                  <a:pt x="1028907" y="-1700"/>
                  <a:pt x="1157767" y="28604"/>
                  <a:pt x="1493269" y="0"/>
                </a:cubicBezTo>
                <a:cubicBezTo>
                  <a:pt x="1828771" y="-28604"/>
                  <a:pt x="1903646" y="25317"/>
                  <a:pt x="2159907" y="0"/>
                </a:cubicBezTo>
                <a:cubicBezTo>
                  <a:pt x="2416168" y="-25317"/>
                  <a:pt x="2512652" y="11276"/>
                  <a:pt x="2826545" y="0"/>
                </a:cubicBezTo>
                <a:cubicBezTo>
                  <a:pt x="3140438" y="-11276"/>
                  <a:pt x="3400438" y="13382"/>
                  <a:pt x="3599845" y="0"/>
                </a:cubicBezTo>
                <a:cubicBezTo>
                  <a:pt x="3799252" y="-13382"/>
                  <a:pt x="4051470" y="-33849"/>
                  <a:pt x="4319813" y="0"/>
                </a:cubicBezTo>
                <a:cubicBezTo>
                  <a:pt x="4588156" y="33849"/>
                  <a:pt x="4853435" y="-41200"/>
                  <a:pt x="5333103" y="0"/>
                </a:cubicBezTo>
                <a:cubicBezTo>
                  <a:pt x="5343147" y="226692"/>
                  <a:pt x="5325398" y="273085"/>
                  <a:pt x="5333103" y="517845"/>
                </a:cubicBezTo>
                <a:cubicBezTo>
                  <a:pt x="5340808" y="762605"/>
                  <a:pt x="5327933" y="838444"/>
                  <a:pt x="5333103" y="1003659"/>
                </a:cubicBezTo>
                <a:cubicBezTo>
                  <a:pt x="5338273" y="1168874"/>
                  <a:pt x="5326073" y="1309481"/>
                  <a:pt x="5333103" y="1601584"/>
                </a:cubicBezTo>
                <a:cubicBezTo>
                  <a:pt x="5067538" y="1592214"/>
                  <a:pt x="4947359" y="1620141"/>
                  <a:pt x="4773127" y="1601584"/>
                </a:cubicBezTo>
                <a:cubicBezTo>
                  <a:pt x="4598895" y="1583027"/>
                  <a:pt x="4384710" y="1597350"/>
                  <a:pt x="3999827" y="1601584"/>
                </a:cubicBezTo>
                <a:cubicBezTo>
                  <a:pt x="3614944" y="1605818"/>
                  <a:pt x="3606595" y="1626608"/>
                  <a:pt x="3386520" y="1601584"/>
                </a:cubicBezTo>
                <a:cubicBezTo>
                  <a:pt x="3166445" y="1576560"/>
                  <a:pt x="2899756" y="1591453"/>
                  <a:pt x="2613220" y="1601584"/>
                </a:cubicBezTo>
                <a:cubicBezTo>
                  <a:pt x="2326684" y="1611715"/>
                  <a:pt x="2197069" y="1584166"/>
                  <a:pt x="2053245" y="1601584"/>
                </a:cubicBezTo>
                <a:cubicBezTo>
                  <a:pt x="1909421" y="1619002"/>
                  <a:pt x="1767256" y="1584998"/>
                  <a:pt x="1546600" y="1601584"/>
                </a:cubicBezTo>
                <a:cubicBezTo>
                  <a:pt x="1325945" y="1618170"/>
                  <a:pt x="1269702" y="1597311"/>
                  <a:pt x="1039955" y="1601584"/>
                </a:cubicBezTo>
                <a:cubicBezTo>
                  <a:pt x="810209" y="1605857"/>
                  <a:pt x="396687" y="1577354"/>
                  <a:pt x="0" y="1601584"/>
                </a:cubicBezTo>
                <a:cubicBezTo>
                  <a:pt x="-13901" y="1499701"/>
                  <a:pt x="-11809" y="1318019"/>
                  <a:pt x="0" y="1115770"/>
                </a:cubicBezTo>
                <a:cubicBezTo>
                  <a:pt x="11809" y="913521"/>
                  <a:pt x="-16172" y="765403"/>
                  <a:pt x="0" y="549877"/>
                </a:cubicBezTo>
                <a:cubicBezTo>
                  <a:pt x="16172" y="334351"/>
                  <a:pt x="6902" y="117610"/>
                  <a:pt x="0" y="0"/>
                </a:cubicBezTo>
                <a:close/>
              </a:path>
              <a:path w="5333103" h="1601584" stroke="0" extrusionOk="0">
                <a:moveTo>
                  <a:pt x="0" y="0"/>
                </a:moveTo>
                <a:cubicBezTo>
                  <a:pt x="214095" y="-28647"/>
                  <a:pt x="433351" y="14"/>
                  <a:pt x="613307" y="0"/>
                </a:cubicBezTo>
                <a:cubicBezTo>
                  <a:pt x="793263" y="-14"/>
                  <a:pt x="877997" y="25326"/>
                  <a:pt x="1119952" y="0"/>
                </a:cubicBezTo>
                <a:cubicBezTo>
                  <a:pt x="1361907" y="-25326"/>
                  <a:pt x="1545384" y="-19904"/>
                  <a:pt x="1893252" y="0"/>
                </a:cubicBezTo>
                <a:cubicBezTo>
                  <a:pt x="2241120" y="19904"/>
                  <a:pt x="2371080" y="-12377"/>
                  <a:pt x="2506558" y="0"/>
                </a:cubicBezTo>
                <a:cubicBezTo>
                  <a:pt x="2642036" y="12377"/>
                  <a:pt x="2845033" y="25450"/>
                  <a:pt x="3119865" y="0"/>
                </a:cubicBezTo>
                <a:cubicBezTo>
                  <a:pt x="3394697" y="-25450"/>
                  <a:pt x="3603042" y="34716"/>
                  <a:pt x="3893165" y="0"/>
                </a:cubicBezTo>
                <a:cubicBezTo>
                  <a:pt x="4183288" y="-34716"/>
                  <a:pt x="4194166" y="-6191"/>
                  <a:pt x="4453141" y="0"/>
                </a:cubicBezTo>
                <a:cubicBezTo>
                  <a:pt x="4712116" y="6191"/>
                  <a:pt x="5076345" y="11840"/>
                  <a:pt x="5333103" y="0"/>
                </a:cubicBezTo>
                <a:cubicBezTo>
                  <a:pt x="5360910" y="119518"/>
                  <a:pt x="5316141" y="432042"/>
                  <a:pt x="5333103" y="565893"/>
                </a:cubicBezTo>
                <a:cubicBezTo>
                  <a:pt x="5350065" y="699744"/>
                  <a:pt x="5356332" y="845965"/>
                  <a:pt x="5333103" y="1067723"/>
                </a:cubicBezTo>
                <a:cubicBezTo>
                  <a:pt x="5309875" y="1289481"/>
                  <a:pt x="5329383" y="1349265"/>
                  <a:pt x="5333103" y="1601584"/>
                </a:cubicBezTo>
                <a:cubicBezTo>
                  <a:pt x="5035325" y="1581600"/>
                  <a:pt x="4834397" y="1579140"/>
                  <a:pt x="4613134" y="1601584"/>
                </a:cubicBezTo>
                <a:cubicBezTo>
                  <a:pt x="4391871" y="1624028"/>
                  <a:pt x="4175548" y="1603965"/>
                  <a:pt x="3839834" y="1601584"/>
                </a:cubicBezTo>
                <a:cubicBezTo>
                  <a:pt x="3504120" y="1599203"/>
                  <a:pt x="3450791" y="1599138"/>
                  <a:pt x="3066534" y="1601584"/>
                </a:cubicBezTo>
                <a:cubicBezTo>
                  <a:pt x="2682277" y="1604030"/>
                  <a:pt x="2726424" y="1628876"/>
                  <a:pt x="2506558" y="1601584"/>
                </a:cubicBezTo>
                <a:cubicBezTo>
                  <a:pt x="2286692" y="1574292"/>
                  <a:pt x="2026732" y="1606776"/>
                  <a:pt x="1839921" y="1601584"/>
                </a:cubicBezTo>
                <a:cubicBezTo>
                  <a:pt x="1653110" y="1596392"/>
                  <a:pt x="1272607" y="1621539"/>
                  <a:pt x="1066621" y="1601584"/>
                </a:cubicBezTo>
                <a:cubicBezTo>
                  <a:pt x="860635" y="1581629"/>
                  <a:pt x="490596" y="1625939"/>
                  <a:pt x="0" y="1601584"/>
                </a:cubicBezTo>
                <a:cubicBezTo>
                  <a:pt x="18085" y="1463624"/>
                  <a:pt x="-16079" y="1356088"/>
                  <a:pt x="0" y="1115770"/>
                </a:cubicBezTo>
                <a:cubicBezTo>
                  <a:pt x="16079" y="875452"/>
                  <a:pt x="-22656" y="747173"/>
                  <a:pt x="0" y="613941"/>
                </a:cubicBezTo>
                <a:cubicBezTo>
                  <a:pt x="22656" y="480709"/>
                  <a:pt x="-20987" y="257766"/>
                  <a:pt x="0" y="0"/>
                </a:cubicBezTo>
                <a:close/>
              </a:path>
            </a:pathLst>
          </a:custGeom>
          <a:solidFill>
            <a:schemeClr val="bg1"/>
          </a:solidFill>
          <a:ln w="44450" cmpd="sng">
            <a:noFill/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vert="horz" lIns="91440" tIns="144000" rIns="91440" bIns="45720" rtlCol="0" anchor="ctr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800" dirty="0">
                <a:solidFill>
                  <a:srgbClr val="0A3830"/>
                </a:solidFill>
              </a:rPr>
              <a:t>Разработка модели выявления аномалий неразмеченных изображений с использованием методов глубокого обучения</a:t>
            </a:r>
            <a:endParaRPr lang="ru-RU" dirty="0">
              <a:solidFill>
                <a:srgbClr val="0A3830"/>
              </a:solidFill>
            </a:endParaRP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556ED91C-BDEA-4507-A437-4FBC145762FD}"/>
              </a:ext>
            </a:extLst>
          </p:cNvPr>
          <p:cNvSpPr/>
          <p:nvPr/>
        </p:nvSpPr>
        <p:spPr>
          <a:xfrm>
            <a:off x="563345" y="513052"/>
            <a:ext cx="5333102" cy="587785"/>
          </a:xfrm>
          <a:custGeom>
            <a:avLst/>
            <a:gdLst>
              <a:gd name="connsiteX0" fmla="*/ 0 w 5333102"/>
              <a:gd name="connsiteY0" fmla="*/ 97966 h 587785"/>
              <a:gd name="connsiteX1" fmla="*/ 97966 w 5333102"/>
              <a:gd name="connsiteY1" fmla="*/ 0 h 587785"/>
              <a:gd name="connsiteX2" fmla="*/ 740112 w 5333102"/>
              <a:gd name="connsiteY2" fmla="*/ 0 h 587785"/>
              <a:gd name="connsiteX3" fmla="*/ 1279515 w 5333102"/>
              <a:gd name="connsiteY3" fmla="*/ 0 h 587785"/>
              <a:gd name="connsiteX4" fmla="*/ 1973033 w 5333102"/>
              <a:gd name="connsiteY4" fmla="*/ 0 h 587785"/>
              <a:gd name="connsiteX5" fmla="*/ 2512436 w 5333102"/>
              <a:gd name="connsiteY5" fmla="*/ 0 h 587785"/>
              <a:gd name="connsiteX6" fmla="*/ 3205954 w 5333102"/>
              <a:gd name="connsiteY6" fmla="*/ 0 h 587785"/>
              <a:gd name="connsiteX7" fmla="*/ 3693985 w 5333102"/>
              <a:gd name="connsiteY7" fmla="*/ 0 h 587785"/>
              <a:gd name="connsiteX8" fmla="*/ 4387503 w 5333102"/>
              <a:gd name="connsiteY8" fmla="*/ 0 h 587785"/>
              <a:gd name="connsiteX9" fmla="*/ 5235136 w 5333102"/>
              <a:gd name="connsiteY9" fmla="*/ 0 h 587785"/>
              <a:gd name="connsiteX10" fmla="*/ 5333102 w 5333102"/>
              <a:gd name="connsiteY10" fmla="*/ 97966 h 587785"/>
              <a:gd name="connsiteX11" fmla="*/ 5333102 w 5333102"/>
              <a:gd name="connsiteY11" fmla="*/ 489819 h 587785"/>
              <a:gd name="connsiteX12" fmla="*/ 5235136 w 5333102"/>
              <a:gd name="connsiteY12" fmla="*/ 587785 h 587785"/>
              <a:gd name="connsiteX13" fmla="*/ 4695733 w 5333102"/>
              <a:gd name="connsiteY13" fmla="*/ 587785 h 587785"/>
              <a:gd name="connsiteX14" fmla="*/ 4104959 w 5333102"/>
              <a:gd name="connsiteY14" fmla="*/ 587785 h 587785"/>
              <a:gd name="connsiteX15" fmla="*/ 3462812 w 5333102"/>
              <a:gd name="connsiteY15" fmla="*/ 587785 h 587785"/>
              <a:gd name="connsiteX16" fmla="*/ 2923410 w 5333102"/>
              <a:gd name="connsiteY16" fmla="*/ 587785 h 587785"/>
              <a:gd name="connsiteX17" fmla="*/ 2178520 w 5333102"/>
              <a:gd name="connsiteY17" fmla="*/ 587785 h 587785"/>
              <a:gd name="connsiteX18" fmla="*/ 1536374 w 5333102"/>
              <a:gd name="connsiteY18" fmla="*/ 587785 h 587785"/>
              <a:gd name="connsiteX19" fmla="*/ 791484 w 5333102"/>
              <a:gd name="connsiteY19" fmla="*/ 587785 h 587785"/>
              <a:gd name="connsiteX20" fmla="*/ 97966 w 5333102"/>
              <a:gd name="connsiteY20" fmla="*/ 587785 h 587785"/>
              <a:gd name="connsiteX21" fmla="*/ 0 w 5333102"/>
              <a:gd name="connsiteY21" fmla="*/ 489819 h 587785"/>
              <a:gd name="connsiteX22" fmla="*/ 0 w 5333102"/>
              <a:gd name="connsiteY22" fmla="*/ 97966 h 58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5333102" h="587785" fill="none" extrusionOk="0">
                <a:moveTo>
                  <a:pt x="0" y="97966"/>
                </a:moveTo>
                <a:cubicBezTo>
                  <a:pt x="-5908" y="43527"/>
                  <a:pt x="51314" y="6417"/>
                  <a:pt x="97966" y="0"/>
                </a:cubicBezTo>
                <a:cubicBezTo>
                  <a:pt x="358816" y="9403"/>
                  <a:pt x="541569" y="-25099"/>
                  <a:pt x="740112" y="0"/>
                </a:cubicBezTo>
                <a:cubicBezTo>
                  <a:pt x="938655" y="25099"/>
                  <a:pt x="1083500" y="-9728"/>
                  <a:pt x="1279515" y="0"/>
                </a:cubicBezTo>
                <a:cubicBezTo>
                  <a:pt x="1475530" y="9728"/>
                  <a:pt x="1802316" y="15684"/>
                  <a:pt x="1973033" y="0"/>
                </a:cubicBezTo>
                <a:cubicBezTo>
                  <a:pt x="2143750" y="-15684"/>
                  <a:pt x="2322911" y="-7592"/>
                  <a:pt x="2512436" y="0"/>
                </a:cubicBezTo>
                <a:cubicBezTo>
                  <a:pt x="2701961" y="7592"/>
                  <a:pt x="3007712" y="26699"/>
                  <a:pt x="3205954" y="0"/>
                </a:cubicBezTo>
                <a:cubicBezTo>
                  <a:pt x="3404196" y="-26699"/>
                  <a:pt x="3536798" y="-8715"/>
                  <a:pt x="3693985" y="0"/>
                </a:cubicBezTo>
                <a:cubicBezTo>
                  <a:pt x="3851172" y="8715"/>
                  <a:pt x="4076869" y="-32705"/>
                  <a:pt x="4387503" y="0"/>
                </a:cubicBezTo>
                <a:cubicBezTo>
                  <a:pt x="4698137" y="32705"/>
                  <a:pt x="5018644" y="28313"/>
                  <a:pt x="5235136" y="0"/>
                </a:cubicBezTo>
                <a:cubicBezTo>
                  <a:pt x="5279822" y="5282"/>
                  <a:pt x="5333744" y="45600"/>
                  <a:pt x="5333102" y="97966"/>
                </a:cubicBezTo>
                <a:cubicBezTo>
                  <a:pt x="5350092" y="205287"/>
                  <a:pt x="5351833" y="321690"/>
                  <a:pt x="5333102" y="489819"/>
                </a:cubicBezTo>
                <a:cubicBezTo>
                  <a:pt x="5336011" y="543154"/>
                  <a:pt x="5288576" y="592388"/>
                  <a:pt x="5235136" y="587785"/>
                </a:cubicBezTo>
                <a:cubicBezTo>
                  <a:pt x="4990294" y="610184"/>
                  <a:pt x="4894306" y="598815"/>
                  <a:pt x="4695733" y="587785"/>
                </a:cubicBezTo>
                <a:cubicBezTo>
                  <a:pt x="4497160" y="576755"/>
                  <a:pt x="4360520" y="590736"/>
                  <a:pt x="4104959" y="587785"/>
                </a:cubicBezTo>
                <a:cubicBezTo>
                  <a:pt x="3849398" y="584834"/>
                  <a:pt x="3726247" y="559171"/>
                  <a:pt x="3462812" y="587785"/>
                </a:cubicBezTo>
                <a:cubicBezTo>
                  <a:pt x="3199377" y="616399"/>
                  <a:pt x="3140269" y="570671"/>
                  <a:pt x="2923410" y="587785"/>
                </a:cubicBezTo>
                <a:cubicBezTo>
                  <a:pt x="2706551" y="604899"/>
                  <a:pt x="2345058" y="569839"/>
                  <a:pt x="2178520" y="587785"/>
                </a:cubicBezTo>
                <a:cubicBezTo>
                  <a:pt x="2011982" y="605732"/>
                  <a:pt x="1767656" y="593409"/>
                  <a:pt x="1536374" y="587785"/>
                </a:cubicBezTo>
                <a:cubicBezTo>
                  <a:pt x="1305092" y="582161"/>
                  <a:pt x="1025681" y="567081"/>
                  <a:pt x="791484" y="587785"/>
                </a:cubicBezTo>
                <a:cubicBezTo>
                  <a:pt x="557287" y="608490"/>
                  <a:pt x="365382" y="555794"/>
                  <a:pt x="97966" y="587785"/>
                </a:cubicBezTo>
                <a:cubicBezTo>
                  <a:pt x="42428" y="593035"/>
                  <a:pt x="904" y="542402"/>
                  <a:pt x="0" y="489819"/>
                </a:cubicBezTo>
                <a:cubicBezTo>
                  <a:pt x="-7783" y="374089"/>
                  <a:pt x="-16215" y="272122"/>
                  <a:pt x="0" y="97966"/>
                </a:cubicBezTo>
                <a:close/>
              </a:path>
              <a:path w="5333102" h="587785" stroke="0" extrusionOk="0">
                <a:moveTo>
                  <a:pt x="0" y="97966"/>
                </a:moveTo>
                <a:cubicBezTo>
                  <a:pt x="-11239" y="36928"/>
                  <a:pt x="36126" y="2903"/>
                  <a:pt x="97966" y="0"/>
                </a:cubicBezTo>
                <a:cubicBezTo>
                  <a:pt x="337086" y="33969"/>
                  <a:pt x="557588" y="-9431"/>
                  <a:pt x="842856" y="0"/>
                </a:cubicBezTo>
                <a:cubicBezTo>
                  <a:pt x="1128124" y="9431"/>
                  <a:pt x="1196718" y="-24805"/>
                  <a:pt x="1433630" y="0"/>
                </a:cubicBezTo>
                <a:cubicBezTo>
                  <a:pt x="1670542" y="24805"/>
                  <a:pt x="1712899" y="-19917"/>
                  <a:pt x="1973033" y="0"/>
                </a:cubicBezTo>
                <a:cubicBezTo>
                  <a:pt x="2233167" y="19917"/>
                  <a:pt x="2522418" y="-4871"/>
                  <a:pt x="2666551" y="0"/>
                </a:cubicBezTo>
                <a:cubicBezTo>
                  <a:pt x="2810684" y="4871"/>
                  <a:pt x="2974177" y="-23938"/>
                  <a:pt x="3257326" y="0"/>
                </a:cubicBezTo>
                <a:cubicBezTo>
                  <a:pt x="3540476" y="23938"/>
                  <a:pt x="3634030" y="2594"/>
                  <a:pt x="4002215" y="0"/>
                </a:cubicBezTo>
                <a:cubicBezTo>
                  <a:pt x="4370400" y="-2594"/>
                  <a:pt x="4331111" y="23900"/>
                  <a:pt x="4541618" y="0"/>
                </a:cubicBezTo>
                <a:cubicBezTo>
                  <a:pt x="4752125" y="-23900"/>
                  <a:pt x="4927415" y="33982"/>
                  <a:pt x="5235136" y="0"/>
                </a:cubicBezTo>
                <a:cubicBezTo>
                  <a:pt x="5302020" y="3072"/>
                  <a:pt x="5321913" y="42051"/>
                  <a:pt x="5333102" y="97966"/>
                </a:cubicBezTo>
                <a:cubicBezTo>
                  <a:pt x="5348088" y="269445"/>
                  <a:pt x="5343874" y="407068"/>
                  <a:pt x="5333102" y="489819"/>
                </a:cubicBezTo>
                <a:cubicBezTo>
                  <a:pt x="5337784" y="539298"/>
                  <a:pt x="5295048" y="584041"/>
                  <a:pt x="5235136" y="587785"/>
                </a:cubicBezTo>
                <a:cubicBezTo>
                  <a:pt x="4944658" y="560104"/>
                  <a:pt x="4773218" y="565180"/>
                  <a:pt x="4592990" y="587785"/>
                </a:cubicBezTo>
                <a:cubicBezTo>
                  <a:pt x="4412762" y="610390"/>
                  <a:pt x="4300433" y="596688"/>
                  <a:pt x="4053587" y="587785"/>
                </a:cubicBezTo>
                <a:cubicBezTo>
                  <a:pt x="3806741" y="578882"/>
                  <a:pt x="3677148" y="565867"/>
                  <a:pt x="3411441" y="587785"/>
                </a:cubicBezTo>
                <a:cubicBezTo>
                  <a:pt x="3145734" y="609703"/>
                  <a:pt x="2948376" y="556211"/>
                  <a:pt x="2666551" y="587785"/>
                </a:cubicBezTo>
                <a:cubicBezTo>
                  <a:pt x="2384726" y="619360"/>
                  <a:pt x="2258438" y="616737"/>
                  <a:pt x="2024405" y="587785"/>
                </a:cubicBezTo>
                <a:cubicBezTo>
                  <a:pt x="1790372" y="558833"/>
                  <a:pt x="1684535" y="578197"/>
                  <a:pt x="1536374" y="587785"/>
                </a:cubicBezTo>
                <a:cubicBezTo>
                  <a:pt x="1388213" y="597373"/>
                  <a:pt x="1213396" y="577802"/>
                  <a:pt x="996971" y="587785"/>
                </a:cubicBezTo>
                <a:cubicBezTo>
                  <a:pt x="780546" y="597768"/>
                  <a:pt x="466890" y="617665"/>
                  <a:pt x="97966" y="587785"/>
                </a:cubicBezTo>
                <a:cubicBezTo>
                  <a:pt x="52126" y="586036"/>
                  <a:pt x="1060" y="553993"/>
                  <a:pt x="0" y="489819"/>
                </a:cubicBezTo>
                <a:cubicBezTo>
                  <a:pt x="-4928" y="314876"/>
                  <a:pt x="-13721" y="222621"/>
                  <a:pt x="0" y="97966"/>
                </a:cubicBezTo>
                <a:close/>
              </a:path>
            </a:pathLst>
          </a:custGeom>
          <a:solidFill>
            <a:schemeClr val="bg1"/>
          </a:solidFill>
          <a:ln w="88900" cap="flat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400" b="1" dirty="0">
                <a:solidFill>
                  <a:srgbClr val="0A3830"/>
                </a:solidFill>
              </a:rPr>
              <a:t>Цель исследования</a:t>
            </a:r>
          </a:p>
        </p:txBody>
      </p:sp>
    </p:spTree>
    <p:extLst>
      <p:ext uri="{BB962C8B-B14F-4D97-AF65-F5344CB8AC3E}">
        <p14:creationId xmlns:p14="http://schemas.microsoft.com/office/powerpoint/2010/main" val="14770854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80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4A2BAA-ED34-4FBD-904A-DE0A49C0D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51473"/>
            <a:ext cx="10515600" cy="1325563"/>
          </a:xfrm>
          <a:custGeom>
            <a:avLst/>
            <a:gdLst>
              <a:gd name="connsiteX0" fmla="*/ 0 w 10515600"/>
              <a:gd name="connsiteY0" fmla="*/ 0 h 1325563"/>
              <a:gd name="connsiteX1" fmla="*/ 341757 w 10515600"/>
              <a:gd name="connsiteY1" fmla="*/ 0 h 1325563"/>
              <a:gd name="connsiteX2" fmla="*/ 683514 w 10515600"/>
              <a:gd name="connsiteY2" fmla="*/ 0 h 1325563"/>
              <a:gd name="connsiteX3" fmla="*/ 1025271 w 10515600"/>
              <a:gd name="connsiteY3" fmla="*/ 0 h 1325563"/>
              <a:gd name="connsiteX4" fmla="*/ 1892808 w 10515600"/>
              <a:gd name="connsiteY4" fmla="*/ 0 h 1325563"/>
              <a:gd name="connsiteX5" fmla="*/ 2550033 w 10515600"/>
              <a:gd name="connsiteY5" fmla="*/ 0 h 1325563"/>
              <a:gd name="connsiteX6" fmla="*/ 2891790 w 10515600"/>
              <a:gd name="connsiteY6" fmla="*/ 0 h 1325563"/>
              <a:gd name="connsiteX7" fmla="*/ 3549015 w 10515600"/>
              <a:gd name="connsiteY7" fmla="*/ 0 h 1325563"/>
              <a:gd name="connsiteX8" fmla="*/ 4416552 w 10515600"/>
              <a:gd name="connsiteY8" fmla="*/ 0 h 1325563"/>
              <a:gd name="connsiteX9" fmla="*/ 4968621 w 10515600"/>
              <a:gd name="connsiteY9" fmla="*/ 0 h 1325563"/>
              <a:gd name="connsiteX10" fmla="*/ 5520690 w 10515600"/>
              <a:gd name="connsiteY10" fmla="*/ 0 h 1325563"/>
              <a:gd name="connsiteX11" fmla="*/ 6177915 w 10515600"/>
              <a:gd name="connsiteY11" fmla="*/ 0 h 1325563"/>
              <a:gd name="connsiteX12" fmla="*/ 6940296 w 10515600"/>
              <a:gd name="connsiteY12" fmla="*/ 0 h 1325563"/>
              <a:gd name="connsiteX13" fmla="*/ 7702677 w 10515600"/>
              <a:gd name="connsiteY13" fmla="*/ 0 h 1325563"/>
              <a:gd name="connsiteX14" fmla="*/ 8465058 w 10515600"/>
              <a:gd name="connsiteY14" fmla="*/ 0 h 1325563"/>
              <a:gd name="connsiteX15" fmla="*/ 9332595 w 10515600"/>
              <a:gd name="connsiteY15" fmla="*/ 0 h 1325563"/>
              <a:gd name="connsiteX16" fmla="*/ 10515600 w 10515600"/>
              <a:gd name="connsiteY16" fmla="*/ 0 h 1325563"/>
              <a:gd name="connsiteX17" fmla="*/ 10515600 w 10515600"/>
              <a:gd name="connsiteY17" fmla="*/ 676037 h 1325563"/>
              <a:gd name="connsiteX18" fmla="*/ 10515600 w 10515600"/>
              <a:gd name="connsiteY18" fmla="*/ 1325563 h 1325563"/>
              <a:gd name="connsiteX19" fmla="*/ 9648063 w 10515600"/>
              <a:gd name="connsiteY19" fmla="*/ 1325563 h 1325563"/>
              <a:gd name="connsiteX20" fmla="*/ 8990838 w 10515600"/>
              <a:gd name="connsiteY20" fmla="*/ 1325563 h 1325563"/>
              <a:gd name="connsiteX21" fmla="*/ 8438769 w 10515600"/>
              <a:gd name="connsiteY21" fmla="*/ 1325563 h 1325563"/>
              <a:gd name="connsiteX22" fmla="*/ 7886700 w 10515600"/>
              <a:gd name="connsiteY22" fmla="*/ 1325563 h 1325563"/>
              <a:gd name="connsiteX23" fmla="*/ 7334631 w 10515600"/>
              <a:gd name="connsiteY23" fmla="*/ 1325563 h 1325563"/>
              <a:gd name="connsiteX24" fmla="*/ 6782562 w 10515600"/>
              <a:gd name="connsiteY24" fmla="*/ 1325563 h 1325563"/>
              <a:gd name="connsiteX25" fmla="*/ 6020181 w 10515600"/>
              <a:gd name="connsiteY25" fmla="*/ 1325563 h 1325563"/>
              <a:gd name="connsiteX26" fmla="*/ 5362956 w 10515600"/>
              <a:gd name="connsiteY26" fmla="*/ 1325563 h 1325563"/>
              <a:gd name="connsiteX27" fmla="*/ 5021199 w 10515600"/>
              <a:gd name="connsiteY27" fmla="*/ 1325563 h 1325563"/>
              <a:gd name="connsiteX28" fmla="*/ 4469130 w 10515600"/>
              <a:gd name="connsiteY28" fmla="*/ 1325563 h 1325563"/>
              <a:gd name="connsiteX29" fmla="*/ 3706749 w 10515600"/>
              <a:gd name="connsiteY29" fmla="*/ 1325563 h 1325563"/>
              <a:gd name="connsiteX30" fmla="*/ 3259836 w 10515600"/>
              <a:gd name="connsiteY30" fmla="*/ 1325563 h 1325563"/>
              <a:gd name="connsiteX31" fmla="*/ 2392299 w 10515600"/>
              <a:gd name="connsiteY31" fmla="*/ 1325563 h 1325563"/>
              <a:gd name="connsiteX32" fmla="*/ 1524762 w 10515600"/>
              <a:gd name="connsiteY32" fmla="*/ 1325563 h 1325563"/>
              <a:gd name="connsiteX33" fmla="*/ 867537 w 10515600"/>
              <a:gd name="connsiteY33" fmla="*/ 1325563 h 1325563"/>
              <a:gd name="connsiteX34" fmla="*/ 0 w 10515600"/>
              <a:gd name="connsiteY34" fmla="*/ 1325563 h 1325563"/>
              <a:gd name="connsiteX35" fmla="*/ 0 w 10515600"/>
              <a:gd name="connsiteY35" fmla="*/ 662782 h 1325563"/>
              <a:gd name="connsiteX36" fmla="*/ 0 w 10515600"/>
              <a:gd name="connsiteY36" fmla="*/ 0 h 1325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0515600" h="1325563" fill="none" extrusionOk="0">
                <a:moveTo>
                  <a:pt x="0" y="0"/>
                </a:moveTo>
                <a:cubicBezTo>
                  <a:pt x="98888" y="9007"/>
                  <a:pt x="259424" y="11771"/>
                  <a:pt x="341757" y="0"/>
                </a:cubicBezTo>
                <a:cubicBezTo>
                  <a:pt x="424090" y="-11771"/>
                  <a:pt x="519058" y="12003"/>
                  <a:pt x="683514" y="0"/>
                </a:cubicBezTo>
                <a:cubicBezTo>
                  <a:pt x="847970" y="-12003"/>
                  <a:pt x="894690" y="9887"/>
                  <a:pt x="1025271" y="0"/>
                </a:cubicBezTo>
                <a:cubicBezTo>
                  <a:pt x="1155852" y="-9887"/>
                  <a:pt x="1573394" y="3827"/>
                  <a:pt x="1892808" y="0"/>
                </a:cubicBezTo>
                <a:cubicBezTo>
                  <a:pt x="2212222" y="-3827"/>
                  <a:pt x="2391278" y="-6233"/>
                  <a:pt x="2550033" y="0"/>
                </a:cubicBezTo>
                <a:cubicBezTo>
                  <a:pt x="2708789" y="6233"/>
                  <a:pt x="2754491" y="5661"/>
                  <a:pt x="2891790" y="0"/>
                </a:cubicBezTo>
                <a:cubicBezTo>
                  <a:pt x="3029089" y="-5661"/>
                  <a:pt x="3390996" y="26022"/>
                  <a:pt x="3549015" y="0"/>
                </a:cubicBezTo>
                <a:cubicBezTo>
                  <a:pt x="3707035" y="-26022"/>
                  <a:pt x="4087327" y="32230"/>
                  <a:pt x="4416552" y="0"/>
                </a:cubicBezTo>
                <a:cubicBezTo>
                  <a:pt x="4745777" y="-32230"/>
                  <a:pt x="4788838" y="3064"/>
                  <a:pt x="4968621" y="0"/>
                </a:cubicBezTo>
                <a:cubicBezTo>
                  <a:pt x="5148404" y="-3064"/>
                  <a:pt x="5377712" y="-21096"/>
                  <a:pt x="5520690" y="0"/>
                </a:cubicBezTo>
                <a:cubicBezTo>
                  <a:pt x="5663668" y="21096"/>
                  <a:pt x="5953400" y="17386"/>
                  <a:pt x="6177915" y="0"/>
                </a:cubicBezTo>
                <a:cubicBezTo>
                  <a:pt x="6402430" y="-17386"/>
                  <a:pt x="6770921" y="-35143"/>
                  <a:pt x="6940296" y="0"/>
                </a:cubicBezTo>
                <a:cubicBezTo>
                  <a:pt x="7109671" y="35143"/>
                  <a:pt x="7403073" y="4103"/>
                  <a:pt x="7702677" y="0"/>
                </a:cubicBezTo>
                <a:cubicBezTo>
                  <a:pt x="8002281" y="-4103"/>
                  <a:pt x="8221175" y="16641"/>
                  <a:pt x="8465058" y="0"/>
                </a:cubicBezTo>
                <a:cubicBezTo>
                  <a:pt x="8708941" y="-16641"/>
                  <a:pt x="8952466" y="-9276"/>
                  <a:pt x="9332595" y="0"/>
                </a:cubicBezTo>
                <a:cubicBezTo>
                  <a:pt x="9712724" y="9276"/>
                  <a:pt x="9950442" y="3063"/>
                  <a:pt x="10515600" y="0"/>
                </a:cubicBezTo>
                <a:cubicBezTo>
                  <a:pt x="10500422" y="235201"/>
                  <a:pt x="10542331" y="366964"/>
                  <a:pt x="10515600" y="676037"/>
                </a:cubicBezTo>
                <a:cubicBezTo>
                  <a:pt x="10488869" y="985110"/>
                  <a:pt x="10526837" y="1096708"/>
                  <a:pt x="10515600" y="1325563"/>
                </a:cubicBezTo>
                <a:cubicBezTo>
                  <a:pt x="10122172" y="1338010"/>
                  <a:pt x="9852726" y="1301241"/>
                  <a:pt x="9648063" y="1325563"/>
                </a:cubicBezTo>
                <a:cubicBezTo>
                  <a:pt x="9443400" y="1349885"/>
                  <a:pt x="9242928" y="1304762"/>
                  <a:pt x="8990838" y="1325563"/>
                </a:cubicBezTo>
                <a:cubicBezTo>
                  <a:pt x="8738749" y="1346364"/>
                  <a:pt x="8553955" y="1339898"/>
                  <a:pt x="8438769" y="1325563"/>
                </a:cubicBezTo>
                <a:cubicBezTo>
                  <a:pt x="8323583" y="1311228"/>
                  <a:pt x="8114825" y="1306078"/>
                  <a:pt x="7886700" y="1325563"/>
                </a:cubicBezTo>
                <a:cubicBezTo>
                  <a:pt x="7658575" y="1345048"/>
                  <a:pt x="7473371" y="1333356"/>
                  <a:pt x="7334631" y="1325563"/>
                </a:cubicBezTo>
                <a:cubicBezTo>
                  <a:pt x="7195891" y="1317770"/>
                  <a:pt x="7020454" y="1341758"/>
                  <a:pt x="6782562" y="1325563"/>
                </a:cubicBezTo>
                <a:cubicBezTo>
                  <a:pt x="6544670" y="1309368"/>
                  <a:pt x="6283429" y="1340013"/>
                  <a:pt x="6020181" y="1325563"/>
                </a:cubicBezTo>
                <a:cubicBezTo>
                  <a:pt x="5756933" y="1311113"/>
                  <a:pt x="5572314" y="1324809"/>
                  <a:pt x="5362956" y="1325563"/>
                </a:cubicBezTo>
                <a:cubicBezTo>
                  <a:pt x="5153599" y="1326317"/>
                  <a:pt x="5103186" y="1338218"/>
                  <a:pt x="5021199" y="1325563"/>
                </a:cubicBezTo>
                <a:cubicBezTo>
                  <a:pt x="4939212" y="1312908"/>
                  <a:pt x="4631121" y="1343998"/>
                  <a:pt x="4469130" y="1325563"/>
                </a:cubicBezTo>
                <a:cubicBezTo>
                  <a:pt x="4307139" y="1307128"/>
                  <a:pt x="4042980" y="1333932"/>
                  <a:pt x="3706749" y="1325563"/>
                </a:cubicBezTo>
                <a:cubicBezTo>
                  <a:pt x="3370518" y="1317194"/>
                  <a:pt x="3442573" y="1313836"/>
                  <a:pt x="3259836" y="1325563"/>
                </a:cubicBezTo>
                <a:cubicBezTo>
                  <a:pt x="3077099" y="1337290"/>
                  <a:pt x="2633437" y="1347298"/>
                  <a:pt x="2392299" y="1325563"/>
                </a:cubicBezTo>
                <a:cubicBezTo>
                  <a:pt x="2151161" y="1303828"/>
                  <a:pt x="1796705" y="1322417"/>
                  <a:pt x="1524762" y="1325563"/>
                </a:cubicBezTo>
                <a:cubicBezTo>
                  <a:pt x="1252819" y="1328709"/>
                  <a:pt x="1086366" y="1332577"/>
                  <a:pt x="867537" y="1325563"/>
                </a:cubicBezTo>
                <a:cubicBezTo>
                  <a:pt x="648708" y="1318549"/>
                  <a:pt x="251816" y="1331837"/>
                  <a:pt x="0" y="1325563"/>
                </a:cubicBezTo>
                <a:cubicBezTo>
                  <a:pt x="-32734" y="1089617"/>
                  <a:pt x="-21327" y="959721"/>
                  <a:pt x="0" y="662782"/>
                </a:cubicBezTo>
                <a:cubicBezTo>
                  <a:pt x="21327" y="365843"/>
                  <a:pt x="-17272" y="280565"/>
                  <a:pt x="0" y="0"/>
                </a:cubicBezTo>
                <a:close/>
              </a:path>
              <a:path w="10515600" h="1325563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499780" y="328569"/>
                  <a:pt x="10494394" y="530518"/>
                  <a:pt x="10515600" y="689293"/>
                </a:cubicBezTo>
                <a:cubicBezTo>
                  <a:pt x="10536806" y="848068"/>
                  <a:pt x="10502453" y="1043458"/>
                  <a:pt x="10515600" y="1325563"/>
                </a:cubicBezTo>
                <a:cubicBezTo>
                  <a:pt x="10305681" y="1314148"/>
                  <a:pt x="10050108" y="1321983"/>
                  <a:pt x="9753219" y="1325563"/>
                </a:cubicBezTo>
                <a:cubicBezTo>
                  <a:pt x="9456330" y="1329143"/>
                  <a:pt x="9525512" y="1342238"/>
                  <a:pt x="9306306" y="1325563"/>
                </a:cubicBezTo>
                <a:cubicBezTo>
                  <a:pt x="9087100" y="1308888"/>
                  <a:pt x="8620907" y="1359824"/>
                  <a:pt x="8438769" y="1325563"/>
                </a:cubicBezTo>
                <a:cubicBezTo>
                  <a:pt x="8256631" y="1291302"/>
                  <a:pt x="7950474" y="1357687"/>
                  <a:pt x="7781544" y="1325563"/>
                </a:cubicBezTo>
                <a:cubicBezTo>
                  <a:pt x="7612615" y="1293439"/>
                  <a:pt x="7496249" y="1325157"/>
                  <a:pt x="7334631" y="1325563"/>
                </a:cubicBezTo>
                <a:cubicBezTo>
                  <a:pt x="7173013" y="1325969"/>
                  <a:pt x="6878574" y="1349305"/>
                  <a:pt x="6677406" y="1325563"/>
                </a:cubicBezTo>
                <a:cubicBezTo>
                  <a:pt x="6476238" y="1301821"/>
                  <a:pt x="6439581" y="1309201"/>
                  <a:pt x="6335649" y="1325563"/>
                </a:cubicBezTo>
                <a:cubicBezTo>
                  <a:pt x="6231717" y="1341925"/>
                  <a:pt x="6135578" y="1332229"/>
                  <a:pt x="5993892" y="1325563"/>
                </a:cubicBezTo>
                <a:cubicBezTo>
                  <a:pt x="5852206" y="1318897"/>
                  <a:pt x="5510139" y="1294481"/>
                  <a:pt x="5336667" y="1325563"/>
                </a:cubicBezTo>
                <a:cubicBezTo>
                  <a:pt x="5163196" y="1356645"/>
                  <a:pt x="4995694" y="1319493"/>
                  <a:pt x="4889754" y="1325563"/>
                </a:cubicBezTo>
                <a:cubicBezTo>
                  <a:pt x="4783814" y="1331633"/>
                  <a:pt x="4495120" y="1331155"/>
                  <a:pt x="4127373" y="1325563"/>
                </a:cubicBezTo>
                <a:cubicBezTo>
                  <a:pt x="3759626" y="1319971"/>
                  <a:pt x="3886665" y="1327971"/>
                  <a:pt x="3680460" y="1325563"/>
                </a:cubicBezTo>
                <a:cubicBezTo>
                  <a:pt x="3474255" y="1323155"/>
                  <a:pt x="3123909" y="1344078"/>
                  <a:pt x="2918079" y="1325563"/>
                </a:cubicBezTo>
                <a:cubicBezTo>
                  <a:pt x="2712249" y="1307048"/>
                  <a:pt x="2688971" y="1312260"/>
                  <a:pt x="2576322" y="1325563"/>
                </a:cubicBezTo>
                <a:cubicBezTo>
                  <a:pt x="2463673" y="1338866"/>
                  <a:pt x="2127678" y="1347212"/>
                  <a:pt x="1813941" y="1325563"/>
                </a:cubicBezTo>
                <a:cubicBezTo>
                  <a:pt x="1500204" y="1303914"/>
                  <a:pt x="1545667" y="1336068"/>
                  <a:pt x="1367028" y="1325563"/>
                </a:cubicBezTo>
                <a:cubicBezTo>
                  <a:pt x="1188389" y="1315058"/>
                  <a:pt x="1188334" y="1316127"/>
                  <a:pt x="1025271" y="1325563"/>
                </a:cubicBezTo>
                <a:cubicBezTo>
                  <a:pt x="862208" y="1334999"/>
                  <a:pt x="759610" y="1335607"/>
                  <a:pt x="578358" y="1325563"/>
                </a:cubicBezTo>
                <a:cubicBezTo>
                  <a:pt x="397106" y="1315519"/>
                  <a:pt x="120249" y="1305842"/>
                  <a:pt x="0" y="1325563"/>
                </a:cubicBezTo>
                <a:cubicBezTo>
                  <a:pt x="3594" y="1133935"/>
                  <a:pt x="30177" y="822218"/>
                  <a:pt x="0" y="689293"/>
                </a:cubicBezTo>
                <a:cubicBezTo>
                  <a:pt x="-30177" y="556368"/>
                  <a:pt x="21730" y="149155"/>
                  <a:pt x="0" y="0"/>
                </a:cubicBezTo>
                <a:close/>
              </a:path>
            </a:pathLst>
          </a:custGeom>
          <a:solidFill>
            <a:schemeClr val="bg1"/>
          </a:solidFill>
          <a:ln w="63500">
            <a:solidFill>
              <a:srgbClr val="0A3830"/>
            </a:solidFill>
            <a:extLst>
              <a:ext uri="{C807C97D-BFC1-408E-A445-0C87EB9F89A2}">
                <ask:lineSketchStyleProps xmlns:ask="http://schemas.microsoft.com/office/drawing/2018/sketchyshapes" sd="1219033472">
                  <ask:type>
                    <ask:lineSketchFreehand/>
                  </ask:type>
                </ask:lineSketchStyleProps>
              </a:ext>
            </a:extLst>
          </a:ln>
        </p:spPr>
        <p:txBody>
          <a:bodyPr>
            <a:normAutofit/>
          </a:bodyPr>
          <a:lstStyle/>
          <a:p>
            <a:pPr algn="ctr"/>
            <a:r>
              <a:rPr lang="ru-RU" sz="5400" b="1" dirty="0">
                <a:solidFill>
                  <a:srgbClr val="0A3830"/>
                </a:solidFill>
              </a:rPr>
              <a:t>Список литературы</a:t>
            </a:r>
          </a:p>
        </p:txBody>
      </p:sp>
    </p:spTree>
    <p:extLst>
      <p:ext uri="{BB962C8B-B14F-4D97-AF65-F5344CB8AC3E}">
        <p14:creationId xmlns:p14="http://schemas.microsoft.com/office/powerpoint/2010/main" val="15158069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80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8A0B5C-A676-4713-92D5-64293D42F6A5}"/>
              </a:ext>
            </a:extLst>
          </p:cNvPr>
          <p:cNvSpPr>
            <a:spLocks noGrp="1"/>
          </p:cNvSpPr>
          <p:nvPr>
            <p:ph type="title"/>
          </p:nvPr>
        </p:nvSpPr>
        <p:spPr>
          <a:custGeom>
            <a:avLst/>
            <a:gdLst>
              <a:gd name="connsiteX0" fmla="*/ 0 w 10515600"/>
              <a:gd name="connsiteY0" fmla="*/ 0 h 1325563"/>
              <a:gd name="connsiteX1" fmla="*/ 341757 w 10515600"/>
              <a:gd name="connsiteY1" fmla="*/ 0 h 1325563"/>
              <a:gd name="connsiteX2" fmla="*/ 683514 w 10515600"/>
              <a:gd name="connsiteY2" fmla="*/ 0 h 1325563"/>
              <a:gd name="connsiteX3" fmla="*/ 1025271 w 10515600"/>
              <a:gd name="connsiteY3" fmla="*/ 0 h 1325563"/>
              <a:gd name="connsiteX4" fmla="*/ 1892808 w 10515600"/>
              <a:gd name="connsiteY4" fmla="*/ 0 h 1325563"/>
              <a:gd name="connsiteX5" fmla="*/ 2550033 w 10515600"/>
              <a:gd name="connsiteY5" fmla="*/ 0 h 1325563"/>
              <a:gd name="connsiteX6" fmla="*/ 2891790 w 10515600"/>
              <a:gd name="connsiteY6" fmla="*/ 0 h 1325563"/>
              <a:gd name="connsiteX7" fmla="*/ 3549015 w 10515600"/>
              <a:gd name="connsiteY7" fmla="*/ 0 h 1325563"/>
              <a:gd name="connsiteX8" fmla="*/ 4416552 w 10515600"/>
              <a:gd name="connsiteY8" fmla="*/ 0 h 1325563"/>
              <a:gd name="connsiteX9" fmla="*/ 4968621 w 10515600"/>
              <a:gd name="connsiteY9" fmla="*/ 0 h 1325563"/>
              <a:gd name="connsiteX10" fmla="*/ 5520690 w 10515600"/>
              <a:gd name="connsiteY10" fmla="*/ 0 h 1325563"/>
              <a:gd name="connsiteX11" fmla="*/ 6177915 w 10515600"/>
              <a:gd name="connsiteY11" fmla="*/ 0 h 1325563"/>
              <a:gd name="connsiteX12" fmla="*/ 6940296 w 10515600"/>
              <a:gd name="connsiteY12" fmla="*/ 0 h 1325563"/>
              <a:gd name="connsiteX13" fmla="*/ 7702677 w 10515600"/>
              <a:gd name="connsiteY13" fmla="*/ 0 h 1325563"/>
              <a:gd name="connsiteX14" fmla="*/ 8465058 w 10515600"/>
              <a:gd name="connsiteY14" fmla="*/ 0 h 1325563"/>
              <a:gd name="connsiteX15" fmla="*/ 9332595 w 10515600"/>
              <a:gd name="connsiteY15" fmla="*/ 0 h 1325563"/>
              <a:gd name="connsiteX16" fmla="*/ 10515600 w 10515600"/>
              <a:gd name="connsiteY16" fmla="*/ 0 h 1325563"/>
              <a:gd name="connsiteX17" fmla="*/ 10515600 w 10515600"/>
              <a:gd name="connsiteY17" fmla="*/ 676037 h 1325563"/>
              <a:gd name="connsiteX18" fmla="*/ 10515600 w 10515600"/>
              <a:gd name="connsiteY18" fmla="*/ 1325563 h 1325563"/>
              <a:gd name="connsiteX19" fmla="*/ 9648063 w 10515600"/>
              <a:gd name="connsiteY19" fmla="*/ 1325563 h 1325563"/>
              <a:gd name="connsiteX20" fmla="*/ 8990838 w 10515600"/>
              <a:gd name="connsiteY20" fmla="*/ 1325563 h 1325563"/>
              <a:gd name="connsiteX21" fmla="*/ 8438769 w 10515600"/>
              <a:gd name="connsiteY21" fmla="*/ 1325563 h 1325563"/>
              <a:gd name="connsiteX22" fmla="*/ 7886700 w 10515600"/>
              <a:gd name="connsiteY22" fmla="*/ 1325563 h 1325563"/>
              <a:gd name="connsiteX23" fmla="*/ 7334631 w 10515600"/>
              <a:gd name="connsiteY23" fmla="*/ 1325563 h 1325563"/>
              <a:gd name="connsiteX24" fmla="*/ 6782562 w 10515600"/>
              <a:gd name="connsiteY24" fmla="*/ 1325563 h 1325563"/>
              <a:gd name="connsiteX25" fmla="*/ 6020181 w 10515600"/>
              <a:gd name="connsiteY25" fmla="*/ 1325563 h 1325563"/>
              <a:gd name="connsiteX26" fmla="*/ 5362956 w 10515600"/>
              <a:gd name="connsiteY26" fmla="*/ 1325563 h 1325563"/>
              <a:gd name="connsiteX27" fmla="*/ 5021199 w 10515600"/>
              <a:gd name="connsiteY27" fmla="*/ 1325563 h 1325563"/>
              <a:gd name="connsiteX28" fmla="*/ 4469130 w 10515600"/>
              <a:gd name="connsiteY28" fmla="*/ 1325563 h 1325563"/>
              <a:gd name="connsiteX29" fmla="*/ 3706749 w 10515600"/>
              <a:gd name="connsiteY29" fmla="*/ 1325563 h 1325563"/>
              <a:gd name="connsiteX30" fmla="*/ 3259836 w 10515600"/>
              <a:gd name="connsiteY30" fmla="*/ 1325563 h 1325563"/>
              <a:gd name="connsiteX31" fmla="*/ 2392299 w 10515600"/>
              <a:gd name="connsiteY31" fmla="*/ 1325563 h 1325563"/>
              <a:gd name="connsiteX32" fmla="*/ 1524762 w 10515600"/>
              <a:gd name="connsiteY32" fmla="*/ 1325563 h 1325563"/>
              <a:gd name="connsiteX33" fmla="*/ 867537 w 10515600"/>
              <a:gd name="connsiteY33" fmla="*/ 1325563 h 1325563"/>
              <a:gd name="connsiteX34" fmla="*/ 0 w 10515600"/>
              <a:gd name="connsiteY34" fmla="*/ 1325563 h 1325563"/>
              <a:gd name="connsiteX35" fmla="*/ 0 w 10515600"/>
              <a:gd name="connsiteY35" fmla="*/ 662782 h 1325563"/>
              <a:gd name="connsiteX36" fmla="*/ 0 w 10515600"/>
              <a:gd name="connsiteY36" fmla="*/ 0 h 1325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0515600" h="1325563" fill="none" extrusionOk="0">
                <a:moveTo>
                  <a:pt x="0" y="0"/>
                </a:moveTo>
                <a:cubicBezTo>
                  <a:pt x="98888" y="9007"/>
                  <a:pt x="259424" y="11771"/>
                  <a:pt x="341757" y="0"/>
                </a:cubicBezTo>
                <a:cubicBezTo>
                  <a:pt x="424090" y="-11771"/>
                  <a:pt x="519058" y="12003"/>
                  <a:pt x="683514" y="0"/>
                </a:cubicBezTo>
                <a:cubicBezTo>
                  <a:pt x="847970" y="-12003"/>
                  <a:pt x="894690" y="9887"/>
                  <a:pt x="1025271" y="0"/>
                </a:cubicBezTo>
                <a:cubicBezTo>
                  <a:pt x="1155852" y="-9887"/>
                  <a:pt x="1573394" y="3827"/>
                  <a:pt x="1892808" y="0"/>
                </a:cubicBezTo>
                <a:cubicBezTo>
                  <a:pt x="2212222" y="-3827"/>
                  <a:pt x="2391278" y="-6233"/>
                  <a:pt x="2550033" y="0"/>
                </a:cubicBezTo>
                <a:cubicBezTo>
                  <a:pt x="2708789" y="6233"/>
                  <a:pt x="2754491" y="5661"/>
                  <a:pt x="2891790" y="0"/>
                </a:cubicBezTo>
                <a:cubicBezTo>
                  <a:pt x="3029089" y="-5661"/>
                  <a:pt x="3390996" y="26022"/>
                  <a:pt x="3549015" y="0"/>
                </a:cubicBezTo>
                <a:cubicBezTo>
                  <a:pt x="3707035" y="-26022"/>
                  <a:pt x="4087327" y="32230"/>
                  <a:pt x="4416552" y="0"/>
                </a:cubicBezTo>
                <a:cubicBezTo>
                  <a:pt x="4745777" y="-32230"/>
                  <a:pt x="4788838" y="3064"/>
                  <a:pt x="4968621" y="0"/>
                </a:cubicBezTo>
                <a:cubicBezTo>
                  <a:pt x="5148404" y="-3064"/>
                  <a:pt x="5377712" y="-21096"/>
                  <a:pt x="5520690" y="0"/>
                </a:cubicBezTo>
                <a:cubicBezTo>
                  <a:pt x="5663668" y="21096"/>
                  <a:pt x="5953400" y="17386"/>
                  <a:pt x="6177915" y="0"/>
                </a:cubicBezTo>
                <a:cubicBezTo>
                  <a:pt x="6402430" y="-17386"/>
                  <a:pt x="6770921" y="-35143"/>
                  <a:pt x="6940296" y="0"/>
                </a:cubicBezTo>
                <a:cubicBezTo>
                  <a:pt x="7109671" y="35143"/>
                  <a:pt x="7403073" y="4103"/>
                  <a:pt x="7702677" y="0"/>
                </a:cubicBezTo>
                <a:cubicBezTo>
                  <a:pt x="8002281" y="-4103"/>
                  <a:pt x="8221175" y="16641"/>
                  <a:pt x="8465058" y="0"/>
                </a:cubicBezTo>
                <a:cubicBezTo>
                  <a:pt x="8708941" y="-16641"/>
                  <a:pt x="8952466" y="-9276"/>
                  <a:pt x="9332595" y="0"/>
                </a:cubicBezTo>
                <a:cubicBezTo>
                  <a:pt x="9712724" y="9276"/>
                  <a:pt x="9950442" y="3063"/>
                  <a:pt x="10515600" y="0"/>
                </a:cubicBezTo>
                <a:cubicBezTo>
                  <a:pt x="10500422" y="235201"/>
                  <a:pt x="10542331" y="366964"/>
                  <a:pt x="10515600" y="676037"/>
                </a:cubicBezTo>
                <a:cubicBezTo>
                  <a:pt x="10488869" y="985110"/>
                  <a:pt x="10526837" y="1096708"/>
                  <a:pt x="10515600" y="1325563"/>
                </a:cubicBezTo>
                <a:cubicBezTo>
                  <a:pt x="10122172" y="1338010"/>
                  <a:pt x="9852726" y="1301241"/>
                  <a:pt x="9648063" y="1325563"/>
                </a:cubicBezTo>
                <a:cubicBezTo>
                  <a:pt x="9443400" y="1349885"/>
                  <a:pt x="9242928" y="1304762"/>
                  <a:pt x="8990838" y="1325563"/>
                </a:cubicBezTo>
                <a:cubicBezTo>
                  <a:pt x="8738749" y="1346364"/>
                  <a:pt x="8553955" y="1339898"/>
                  <a:pt x="8438769" y="1325563"/>
                </a:cubicBezTo>
                <a:cubicBezTo>
                  <a:pt x="8323583" y="1311228"/>
                  <a:pt x="8114825" y="1306078"/>
                  <a:pt x="7886700" y="1325563"/>
                </a:cubicBezTo>
                <a:cubicBezTo>
                  <a:pt x="7658575" y="1345048"/>
                  <a:pt x="7473371" y="1333356"/>
                  <a:pt x="7334631" y="1325563"/>
                </a:cubicBezTo>
                <a:cubicBezTo>
                  <a:pt x="7195891" y="1317770"/>
                  <a:pt x="7020454" y="1341758"/>
                  <a:pt x="6782562" y="1325563"/>
                </a:cubicBezTo>
                <a:cubicBezTo>
                  <a:pt x="6544670" y="1309368"/>
                  <a:pt x="6283429" y="1340013"/>
                  <a:pt x="6020181" y="1325563"/>
                </a:cubicBezTo>
                <a:cubicBezTo>
                  <a:pt x="5756933" y="1311113"/>
                  <a:pt x="5572314" y="1324809"/>
                  <a:pt x="5362956" y="1325563"/>
                </a:cubicBezTo>
                <a:cubicBezTo>
                  <a:pt x="5153599" y="1326317"/>
                  <a:pt x="5103186" y="1338218"/>
                  <a:pt x="5021199" y="1325563"/>
                </a:cubicBezTo>
                <a:cubicBezTo>
                  <a:pt x="4939212" y="1312908"/>
                  <a:pt x="4631121" y="1343998"/>
                  <a:pt x="4469130" y="1325563"/>
                </a:cubicBezTo>
                <a:cubicBezTo>
                  <a:pt x="4307139" y="1307128"/>
                  <a:pt x="4042980" y="1333932"/>
                  <a:pt x="3706749" y="1325563"/>
                </a:cubicBezTo>
                <a:cubicBezTo>
                  <a:pt x="3370518" y="1317194"/>
                  <a:pt x="3442573" y="1313836"/>
                  <a:pt x="3259836" y="1325563"/>
                </a:cubicBezTo>
                <a:cubicBezTo>
                  <a:pt x="3077099" y="1337290"/>
                  <a:pt x="2633437" y="1347298"/>
                  <a:pt x="2392299" y="1325563"/>
                </a:cubicBezTo>
                <a:cubicBezTo>
                  <a:pt x="2151161" y="1303828"/>
                  <a:pt x="1796705" y="1322417"/>
                  <a:pt x="1524762" y="1325563"/>
                </a:cubicBezTo>
                <a:cubicBezTo>
                  <a:pt x="1252819" y="1328709"/>
                  <a:pt x="1086366" y="1332577"/>
                  <a:pt x="867537" y="1325563"/>
                </a:cubicBezTo>
                <a:cubicBezTo>
                  <a:pt x="648708" y="1318549"/>
                  <a:pt x="251816" y="1331837"/>
                  <a:pt x="0" y="1325563"/>
                </a:cubicBezTo>
                <a:cubicBezTo>
                  <a:pt x="-32734" y="1089617"/>
                  <a:pt x="-21327" y="959721"/>
                  <a:pt x="0" y="662782"/>
                </a:cubicBezTo>
                <a:cubicBezTo>
                  <a:pt x="21327" y="365843"/>
                  <a:pt x="-17272" y="280565"/>
                  <a:pt x="0" y="0"/>
                </a:cubicBezTo>
                <a:close/>
              </a:path>
              <a:path w="10515600" h="1325563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499780" y="328569"/>
                  <a:pt x="10494394" y="530518"/>
                  <a:pt x="10515600" y="689293"/>
                </a:cubicBezTo>
                <a:cubicBezTo>
                  <a:pt x="10536806" y="848068"/>
                  <a:pt x="10502453" y="1043458"/>
                  <a:pt x="10515600" y="1325563"/>
                </a:cubicBezTo>
                <a:cubicBezTo>
                  <a:pt x="10305681" y="1314148"/>
                  <a:pt x="10050108" y="1321983"/>
                  <a:pt x="9753219" y="1325563"/>
                </a:cubicBezTo>
                <a:cubicBezTo>
                  <a:pt x="9456330" y="1329143"/>
                  <a:pt x="9525512" y="1342238"/>
                  <a:pt x="9306306" y="1325563"/>
                </a:cubicBezTo>
                <a:cubicBezTo>
                  <a:pt x="9087100" y="1308888"/>
                  <a:pt x="8620907" y="1359824"/>
                  <a:pt x="8438769" y="1325563"/>
                </a:cubicBezTo>
                <a:cubicBezTo>
                  <a:pt x="8256631" y="1291302"/>
                  <a:pt x="7950474" y="1357687"/>
                  <a:pt x="7781544" y="1325563"/>
                </a:cubicBezTo>
                <a:cubicBezTo>
                  <a:pt x="7612615" y="1293439"/>
                  <a:pt x="7496249" y="1325157"/>
                  <a:pt x="7334631" y="1325563"/>
                </a:cubicBezTo>
                <a:cubicBezTo>
                  <a:pt x="7173013" y="1325969"/>
                  <a:pt x="6878574" y="1349305"/>
                  <a:pt x="6677406" y="1325563"/>
                </a:cubicBezTo>
                <a:cubicBezTo>
                  <a:pt x="6476238" y="1301821"/>
                  <a:pt x="6439581" y="1309201"/>
                  <a:pt x="6335649" y="1325563"/>
                </a:cubicBezTo>
                <a:cubicBezTo>
                  <a:pt x="6231717" y="1341925"/>
                  <a:pt x="6135578" y="1332229"/>
                  <a:pt x="5993892" y="1325563"/>
                </a:cubicBezTo>
                <a:cubicBezTo>
                  <a:pt x="5852206" y="1318897"/>
                  <a:pt x="5510139" y="1294481"/>
                  <a:pt x="5336667" y="1325563"/>
                </a:cubicBezTo>
                <a:cubicBezTo>
                  <a:pt x="5163196" y="1356645"/>
                  <a:pt x="4995694" y="1319493"/>
                  <a:pt x="4889754" y="1325563"/>
                </a:cubicBezTo>
                <a:cubicBezTo>
                  <a:pt x="4783814" y="1331633"/>
                  <a:pt x="4495120" y="1331155"/>
                  <a:pt x="4127373" y="1325563"/>
                </a:cubicBezTo>
                <a:cubicBezTo>
                  <a:pt x="3759626" y="1319971"/>
                  <a:pt x="3886665" y="1327971"/>
                  <a:pt x="3680460" y="1325563"/>
                </a:cubicBezTo>
                <a:cubicBezTo>
                  <a:pt x="3474255" y="1323155"/>
                  <a:pt x="3123909" y="1344078"/>
                  <a:pt x="2918079" y="1325563"/>
                </a:cubicBezTo>
                <a:cubicBezTo>
                  <a:pt x="2712249" y="1307048"/>
                  <a:pt x="2688971" y="1312260"/>
                  <a:pt x="2576322" y="1325563"/>
                </a:cubicBezTo>
                <a:cubicBezTo>
                  <a:pt x="2463673" y="1338866"/>
                  <a:pt x="2127678" y="1347212"/>
                  <a:pt x="1813941" y="1325563"/>
                </a:cubicBezTo>
                <a:cubicBezTo>
                  <a:pt x="1500204" y="1303914"/>
                  <a:pt x="1545667" y="1336068"/>
                  <a:pt x="1367028" y="1325563"/>
                </a:cubicBezTo>
                <a:cubicBezTo>
                  <a:pt x="1188389" y="1315058"/>
                  <a:pt x="1188334" y="1316127"/>
                  <a:pt x="1025271" y="1325563"/>
                </a:cubicBezTo>
                <a:cubicBezTo>
                  <a:pt x="862208" y="1334999"/>
                  <a:pt x="759610" y="1335607"/>
                  <a:pt x="578358" y="1325563"/>
                </a:cubicBezTo>
                <a:cubicBezTo>
                  <a:pt x="397106" y="1315519"/>
                  <a:pt x="120249" y="1305842"/>
                  <a:pt x="0" y="1325563"/>
                </a:cubicBezTo>
                <a:cubicBezTo>
                  <a:pt x="3594" y="1133935"/>
                  <a:pt x="30177" y="822218"/>
                  <a:pt x="0" y="689293"/>
                </a:cubicBezTo>
                <a:cubicBezTo>
                  <a:pt x="-30177" y="556368"/>
                  <a:pt x="21730" y="149155"/>
                  <a:pt x="0" y="0"/>
                </a:cubicBezTo>
                <a:close/>
              </a:path>
            </a:pathLst>
          </a:custGeom>
          <a:solidFill>
            <a:schemeClr val="bg1"/>
          </a:solidFill>
          <a:ln w="88900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sk:type>
                    <ask:lineSketchFreehand/>
                  </ask:type>
                </ask:lineSketchStyleProps>
              </a:ext>
            </a:extLst>
          </a:ln>
        </p:spPr>
        <p:txBody>
          <a:bodyPr>
            <a:normAutofit/>
          </a:bodyPr>
          <a:lstStyle/>
          <a:p>
            <a:r>
              <a:rPr lang="ru-RU" sz="3600" b="1" dirty="0">
                <a:solidFill>
                  <a:srgbClr val="0A3830"/>
                </a:solidFill>
              </a:rPr>
              <a:t>Обзорные статьи</a:t>
            </a:r>
            <a:r>
              <a:rPr lang="en-US" sz="3600" b="1" dirty="0">
                <a:solidFill>
                  <a:srgbClr val="0A3830"/>
                </a:solidFill>
              </a:rPr>
              <a:t>, </a:t>
            </a:r>
            <a:r>
              <a:rPr lang="ru-RU" sz="3600" b="1" dirty="0">
                <a:solidFill>
                  <a:srgbClr val="0A3830"/>
                </a:solidFill>
              </a:rPr>
              <a:t>посвященные обнаружению дефектов: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AACE4A6-CDCE-4F3E-948A-65A0C63340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  <a:solidFill>
            <a:schemeClr val="bg1"/>
          </a:solidFill>
        </p:spPr>
        <p:txBody>
          <a:bodyPr anchor="ctr"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1600" dirty="0" err="1"/>
              <a:t>Chandola</a:t>
            </a:r>
            <a:r>
              <a:rPr lang="en-US" sz="1600" dirty="0"/>
              <a:t>, V. Anomaly Detection: A Survey / V. </a:t>
            </a:r>
            <a:r>
              <a:rPr lang="en-US" sz="1600" dirty="0" err="1"/>
              <a:t>Chandola</a:t>
            </a:r>
            <a:r>
              <a:rPr lang="en-US" sz="1600" dirty="0"/>
              <a:t>, A. Banerjee, V. Kumar // ACM Computing Surveys. — 2009. — Vol. 41, № 3. — P. 1–58. — DOI: </a:t>
            </a:r>
            <a:r>
              <a:rPr lang="en-US" sz="1600" dirty="0">
                <a:hlinkClick r:id="rId2"/>
              </a:rPr>
              <a:t>https://doi.org/10.1145/1541880.1541882</a:t>
            </a:r>
            <a:r>
              <a:rPr lang="en-US" sz="1600" dirty="0"/>
              <a:t>.</a:t>
            </a:r>
            <a:endParaRPr lang="ru-RU" sz="1600" dirty="0"/>
          </a:p>
          <a:p>
            <a:pPr marL="514350" indent="-514350">
              <a:buFont typeface="+mj-lt"/>
              <a:buAutoNum type="arabicPeriod"/>
            </a:pPr>
            <a:r>
              <a:rPr lang="en-US" sz="1600" dirty="0" err="1"/>
              <a:t>Czimmerman</a:t>
            </a:r>
            <a:r>
              <a:rPr lang="en-US" sz="1600" dirty="0"/>
              <a:t>, T. Visual-Based Defect Detection and Classification Approaches for Industrial Applications—A SURVEY / T. </a:t>
            </a:r>
            <a:r>
              <a:rPr lang="en-US" sz="1600" dirty="0" err="1"/>
              <a:t>Czimmerman</a:t>
            </a:r>
            <a:r>
              <a:rPr lang="en-US" sz="1600" dirty="0"/>
              <a:t> [et al.] // Sensors. — 2020. — Vol. 20, № 5. — DOI: </a:t>
            </a:r>
            <a:r>
              <a:rPr lang="en-US" sz="1600" dirty="0">
                <a:hlinkClick r:id="rId3"/>
              </a:rPr>
              <a:t>https://doi.org/10.3390/s20051459</a:t>
            </a:r>
            <a:r>
              <a:rPr lang="en-US" sz="1600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600" dirty="0"/>
              <a:t>He, Z. Deep Regression Neural Network for Industrial Surface Defect Detection / Z. He, Q. Liu // IEEE Access. — 2020. — Vol. 8. — P. 35633–35642. — DOI: </a:t>
            </a:r>
            <a:r>
              <a:rPr lang="en-US" sz="1600" dirty="0">
                <a:hlinkClick r:id="rId4"/>
              </a:rPr>
              <a:t>https://doi.org/10.1109/ACCESS.2020.2975030</a:t>
            </a:r>
            <a:r>
              <a:rPr lang="en-US" sz="1600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600" dirty="0"/>
              <a:t>Bhatt, P.M. Image-Based Surface Defect Detection Using Deep Learning: A Review [</a:t>
            </a:r>
            <a:r>
              <a:rPr lang="ru-RU" sz="1600" dirty="0"/>
              <a:t>Электронный ресурс] / </a:t>
            </a:r>
            <a:r>
              <a:rPr lang="en-US" sz="1600" dirty="0"/>
              <a:t>P.M. Bhatt, R. </a:t>
            </a:r>
            <a:r>
              <a:rPr lang="en-US" sz="1600" dirty="0" err="1"/>
              <a:t>Malhan</a:t>
            </a:r>
            <a:r>
              <a:rPr lang="en-US" sz="1600" dirty="0"/>
              <a:t>, P. Rajendran, B. Shah [</a:t>
            </a:r>
            <a:r>
              <a:rPr lang="ru-RU" sz="1600" dirty="0"/>
              <a:t>и др.] // </a:t>
            </a:r>
            <a:r>
              <a:rPr lang="en-US" sz="1600" dirty="0"/>
              <a:t>Journal of Computing and Information Science in Engineering. – 2021. – Vol. 21, № 4. – P. 1–23. – </a:t>
            </a:r>
            <a:r>
              <a:rPr lang="ru-RU" sz="1600" dirty="0"/>
              <a:t>Режим доступа: </a:t>
            </a:r>
            <a:r>
              <a:rPr lang="en-US" sz="1600" dirty="0"/>
              <a:t>https://asmedigitalcollection.asme.org/computingengineering/article/21/4/1/1092812/Image-based-Surface-Defect-Detection-Using-Deep. – </a:t>
            </a:r>
            <a:r>
              <a:rPr lang="ru-RU" sz="1600" dirty="0"/>
              <a:t>Дата доступа: </a:t>
            </a:r>
            <a:r>
              <a:rPr lang="en-US" sz="1600" dirty="0"/>
              <a:t>18</a:t>
            </a:r>
            <a:r>
              <a:rPr lang="ru-RU" sz="1600" dirty="0"/>
              <a:t>.</a:t>
            </a:r>
            <a:r>
              <a:rPr lang="en-US" sz="1600" dirty="0"/>
              <a:t>10</a:t>
            </a:r>
            <a:r>
              <a:rPr lang="ru-RU" sz="1600" dirty="0"/>
              <a:t>.202</a:t>
            </a:r>
            <a:r>
              <a:rPr lang="en-US" sz="1600" dirty="0"/>
              <a:t>5</a:t>
            </a:r>
            <a:r>
              <a:rPr lang="ru-RU" sz="1600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600" dirty="0" err="1"/>
              <a:t>Saberironaghi</a:t>
            </a:r>
            <a:r>
              <a:rPr lang="en-US" sz="1600" dirty="0"/>
              <a:t>, A. Defect Detection Methods for Industrial Products Using Deep Learning Techniques: A Review / A. </a:t>
            </a:r>
            <a:r>
              <a:rPr lang="en-US" sz="1600" dirty="0" err="1"/>
              <a:t>Saberironaghi</a:t>
            </a:r>
            <a:r>
              <a:rPr lang="en-US" sz="1600" dirty="0"/>
              <a:t>, J. Ren, M. El-</a:t>
            </a:r>
            <a:r>
              <a:rPr lang="en-US" sz="1600" dirty="0" err="1"/>
              <a:t>Gindy</a:t>
            </a:r>
            <a:r>
              <a:rPr lang="en-US" sz="1600" dirty="0"/>
              <a:t> // Algorithms. — 2023. — Vol. 16, № 2. — P. 95. — DOI: </a:t>
            </a:r>
            <a:r>
              <a:rPr lang="en-US" sz="1600" dirty="0">
                <a:hlinkClick r:id="rId5"/>
              </a:rPr>
              <a:t>https://doi.org/10.3390/a16020095</a:t>
            </a:r>
            <a:r>
              <a:rPr lang="en-US" sz="1600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600" dirty="0" err="1"/>
              <a:t>Hütten</a:t>
            </a:r>
            <a:r>
              <a:rPr lang="en-US" sz="1600" dirty="0"/>
              <a:t>, N. Deep Learning for Automated Visual Inspection in Manufacturing and Maintenance: A Survey of Open-Access Papers [</a:t>
            </a:r>
            <a:r>
              <a:rPr lang="ru-RU" sz="1600" dirty="0"/>
              <a:t>Электронный ресурс] / </a:t>
            </a:r>
            <a:r>
              <a:rPr lang="en-US" sz="1600" dirty="0"/>
              <a:t>N. </a:t>
            </a:r>
            <a:r>
              <a:rPr lang="en-US" sz="1600" dirty="0" err="1"/>
              <a:t>Hütten</a:t>
            </a:r>
            <a:r>
              <a:rPr lang="en-US" sz="1600" dirty="0"/>
              <a:t>, M.A. Gomes, F. </a:t>
            </a:r>
            <a:r>
              <a:rPr lang="en-US" sz="1600" dirty="0" err="1"/>
              <a:t>Hölken</a:t>
            </a:r>
            <a:r>
              <a:rPr lang="en-US" sz="1600" dirty="0"/>
              <a:t>, K. </a:t>
            </a:r>
            <a:r>
              <a:rPr lang="en-US" sz="1600" dirty="0" err="1"/>
              <a:t>Andricevic</a:t>
            </a:r>
            <a:r>
              <a:rPr lang="en-US" sz="1600" dirty="0"/>
              <a:t>, R. </a:t>
            </a:r>
            <a:r>
              <a:rPr lang="en-US" sz="1600" dirty="0" err="1"/>
              <a:t>Meyes</a:t>
            </a:r>
            <a:r>
              <a:rPr lang="en-US" sz="1600" dirty="0"/>
              <a:t>, T. </a:t>
            </a:r>
            <a:r>
              <a:rPr lang="en-US" sz="1600" dirty="0" err="1"/>
              <a:t>Meisen</a:t>
            </a:r>
            <a:r>
              <a:rPr lang="en-US" sz="1600" dirty="0"/>
              <a:t> // Applied Sciences. – 2023. – Vol. 13, № 5. – P. 3000. – </a:t>
            </a:r>
            <a:r>
              <a:rPr lang="ru-RU" sz="1600" dirty="0"/>
              <a:t>Режим доступа: </a:t>
            </a:r>
            <a:r>
              <a:rPr lang="en-US" sz="1600" dirty="0"/>
              <a:t>https://www.mdpi.com/2076-3417/13/5/3000. – </a:t>
            </a:r>
            <a:r>
              <a:rPr lang="ru-RU" sz="1600" dirty="0"/>
              <a:t>Дата доступа: </a:t>
            </a:r>
            <a:r>
              <a:rPr lang="en-US" sz="1600" dirty="0"/>
              <a:t>18</a:t>
            </a:r>
            <a:r>
              <a:rPr lang="ru-RU" sz="1600" dirty="0"/>
              <a:t>.</a:t>
            </a:r>
            <a:r>
              <a:rPr lang="en-US" sz="1600" dirty="0"/>
              <a:t>10</a:t>
            </a:r>
            <a:r>
              <a:rPr lang="ru-RU" sz="1600" dirty="0"/>
              <a:t>.202</a:t>
            </a:r>
            <a:r>
              <a:rPr lang="en-US" sz="1600" dirty="0"/>
              <a:t>5</a:t>
            </a:r>
            <a:r>
              <a:rPr lang="ru-RU" sz="1600" dirty="0"/>
              <a:t>.</a:t>
            </a:r>
            <a:endParaRPr lang="en-US" sz="1600" dirty="0"/>
          </a:p>
          <a:p>
            <a:pPr marL="514350" indent="-514350">
              <a:buFont typeface="+mj-lt"/>
              <a:buAutoNum type="arabicPeriod"/>
            </a:pPr>
            <a:r>
              <a:rPr lang="en-US" sz="1600" dirty="0"/>
              <a:t>Liu, J. Deep Industrial Image Anomaly Detection: A Survey / J. Liu [et al.] // Machine Intelligence Research. — 2024. — Vol. 21, № 1. — P. 104–135. — DOI: </a:t>
            </a:r>
            <a:r>
              <a:rPr lang="en-US" sz="1600" dirty="0">
                <a:hlinkClick r:id="rId6"/>
              </a:rPr>
              <a:t>https://doi.org/10.1007/s11633-023-1459-z</a:t>
            </a:r>
            <a:r>
              <a:rPr lang="en-US" sz="1600" dirty="0"/>
              <a:t>.</a:t>
            </a:r>
            <a:endParaRPr lang="ru-RU" sz="1600" dirty="0"/>
          </a:p>
          <a:p>
            <a:pPr marL="514350" indent="-514350">
              <a:buFont typeface="+mj-lt"/>
              <a:buAutoNum type="arabicPeriod"/>
            </a:pPr>
            <a:r>
              <a:rPr lang="en-US" sz="1600" dirty="0"/>
              <a:t>Li, Z. A survey of deep learning for industrial visual anomaly detection / Z. Li [et al.] // Artificial Intelligence Review. — 2025. — Vol. 58. — P. 279. — DOI: </a:t>
            </a:r>
            <a:r>
              <a:rPr lang="en-US" sz="1600" dirty="0">
                <a:hlinkClick r:id="rId7"/>
              </a:rPr>
              <a:t>https://doi.org/10.1007/s10462-025-11287-7</a:t>
            </a:r>
            <a:r>
              <a:rPr lang="en-US" sz="1600" dirty="0"/>
              <a:t>.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1726886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80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1975FBB-B385-439F-AC4A-44008E560D83}"/>
              </a:ext>
            </a:extLst>
          </p:cNvPr>
          <p:cNvSpPr txBox="1"/>
          <p:nvPr/>
        </p:nvSpPr>
        <p:spPr>
          <a:xfrm>
            <a:off x="501445" y="993615"/>
            <a:ext cx="11189109" cy="646331"/>
          </a:xfrm>
          <a:custGeom>
            <a:avLst/>
            <a:gdLst>
              <a:gd name="connsiteX0" fmla="*/ 0 w 11189109"/>
              <a:gd name="connsiteY0" fmla="*/ 0 h 646331"/>
              <a:gd name="connsiteX1" fmla="*/ 475537 w 11189109"/>
              <a:gd name="connsiteY1" fmla="*/ 0 h 646331"/>
              <a:gd name="connsiteX2" fmla="*/ 1174856 w 11189109"/>
              <a:gd name="connsiteY2" fmla="*/ 0 h 646331"/>
              <a:gd name="connsiteX3" fmla="*/ 1986067 w 11189109"/>
              <a:gd name="connsiteY3" fmla="*/ 0 h 646331"/>
              <a:gd name="connsiteX4" fmla="*/ 2349713 w 11189109"/>
              <a:gd name="connsiteY4" fmla="*/ 0 h 646331"/>
              <a:gd name="connsiteX5" fmla="*/ 2713359 w 11189109"/>
              <a:gd name="connsiteY5" fmla="*/ 0 h 646331"/>
              <a:gd name="connsiteX6" fmla="*/ 3636460 w 11189109"/>
              <a:gd name="connsiteY6" fmla="*/ 0 h 646331"/>
              <a:gd name="connsiteX7" fmla="*/ 4335780 w 11189109"/>
              <a:gd name="connsiteY7" fmla="*/ 0 h 646331"/>
              <a:gd name="connsiteX8" fmla="*/ 4699426 w 11189109"/>
              <a:gd name="connsiteY8" fmla="*/ 0 h 646331"/>
              <a:gd name="connsiteX9" fmla="*/ 5398745 w 11189109"/>
              <a:gd name="connsiteY9" fmla="*/ 0 h 646331"/>
              <a:gd name="connsiteX10" fmla="*/ 6321847 w 11189109"/>
              <a:gd name="connsiteY10" fmla="*/ 0 h 646331"/>
              <a:gd name="connsiteX11" fmla="*/ 6909275 w 11189109"/>
              <a:gd name="connsiteY11" fmla="*/ 0 h 646331"/>
              <a:gd name="connsiteX12" fmla="*/ 7496703 w 11189109"/>
              <a:gd name="connsiteY12" fmla="*/ 0 h 646331"/>
              <a:gd name="connsiteX13" fmla="*/ 8196022 w 11189109"/>
              <a:gd name="connsiteY13" fmla="*/ 0 h 646331"/>
              <a:gd name="connsiteX14" fmla="*/ 9007233 w 11189109"/>
              <a:gd name="connsiteY14" fmla="*/ 0 h 646331"/>
              <a:gd name="connsiteX15" fmla="*/ 9818443 w 11189109"/>
              <a:gd name="connsiteY15" fmla="*/ 0 h 646331"/>
              <a:gd name="connsiteX16" fmla="*/ 11189109 w 11189109"/>
              <a:gd name="connsiteY16" fmla="*/ 0 h 646331"/>
              <a:gd name="connsiteX17" fmla="*/ 11189109 w 11189109"/>
              <a:gd name="connsiteY17" fmla="*/ 646331 h 646331"/>
              <a:gd name="connsiteX18" fmla="*/ 10713572 w 11189109"/>
              <a:gd name="connsiteY18" fmla="*/ 646331 h 646331"/>
              <a:gd name="connsiteX19" fmla="*/ 9790470 w 11189109"/>
              <a:gd name="connsiteY19" fmla="*/ 646331 h 646331"/>
              <a:gd name="connsiteX20" fmla="*/ 9091151 w 11189109"/>
              <a:gd name="connsiteY20" fmla="*/ 646331 h 646331"/>
              <a:gd name="connsiteX21" fmla="*/ 8727505 w 11189109"/>
              <a:gd name="connsiteY21" fmla="*/ 646331 h 646331"/>
              <a:gd name="connsiteX22" fmla="*/ 8028186 w 11189109"/>
              <a:gd name="connsiteY22" fmla="*/ 646331 h 646331"/>
              <a:gd name="connsiteX23" fmla="*/ 7440757 w 11189109"/>
              <a:gd name="connsiteY23" fmla="*/ 646331 h 646331"/>
              <a:gd name="connsiteX24" fmla="*/ 6853329 w 11189109"/>
              <a:gd name="connsiteY24" fmla="*/ 646331 h 646331"/>
              <a:gd name="connsiteX25" fmla="*/ 6265901 w 11189109"/>
              <a:gd name="connsiteY25" fmla="*/ 646331 h 646331"/>
              <a:gd name="connsiteX26" fmla="*/ 5678473 w 11189109"/>
              <a:gd name="connsiteY26" fmla="*/ 646331 h 646331"/>
              <a:gd name="connsiteX27" fmla="*/ 4867262 w 11189109"/>
              <a:gd name="connsiteY27" fmla="*/ 646331 h 646331"/>
              <a:gd name="connsiteX28" fmla="*/ 4167943 w 11189109"/>
              <a:gd name="connsiteY28" fmla="*/ 646331 h 646331"/>
              <a:gd name="connsiteX29" fmla="*/ 3804297 w 11189109"/>
              <a:gd name="connsiteY29" fmla="*/ 646331 h 646331"/>
              <a:gd name="connsiteX30" fmla="*/ 3216869 w 11189109"/>
              <a:gd name="connsiteY30" fmla="*/ 646331 h 646331"/>
              <a:gd name="connsiteX31" fmla="*/ 2405658 w 11189109"/>
              <a:gd name="connsiteY31" fmla="*/ 646331 h 646331"/>
              <a:gd name="connsiteX32" fmla="*/ 1930121 w 11189109"/>
              <a:gd name="connsiteY32" fmla="*/ 646331 h 646331"/>
              <a:gd name="connsiteX33" fmla="*/ 1007020 w 11189109"/>
              <a:gd name="connsiteY33" fmla="*/ 646331 h 646331"/>
              <a:gd name="connsiteX34" fmla="*/ 0 w 11189109"/>
              <a:gd name="connsiteY34" fmla="*/ 646331 h 646331"/>
              <a:gd name="connsiteX35" fmla="*/ 0 w 11189109"/>
              <a:gd name="connsiteY35" fmla="*/ 0 h 646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1189109" h="646331" fill="none" extrusionOk="0">
                <a:moveTo>
                  <a:pt x="0" y="0"/>
                </a:moveTo>
                <a:cubicBezTo>
                  <a:pt x="113617" y="225"/>
                  <a:pt x="258678" y="-7030"/>
                  <a:pt x="475537" y="0"/>
                </a:cubicBezTo>
                <a:cubicBezTo>
                  <a:pt x="692396" y="7030"/>
                  <a:pt x="999422" y="-21279"/>
                  <a:pt x="1174856" y="0"/>
                </a:cubicBezTo>
                <a:cubicBezTo>
                  <a:pt x="1350290" y="21279"/>
                  <a:pt x="1628543" y="-38865"/>
                  <a:pt x="1986067" y="0"/>
                </a:cubicBezTo>
                <a:cubicBezTo>
                  <a:pt x="2343591" y="38865"/>
                  <a:pt x="2244213" y="-14947"/>
                  <a:pt x="2349713" y="0"/>
                </a:cubicBezTo>
                <a:cubicBezTo>
                  <a:pt x="2455213" y="14947"/>
                  <a:pt x="2621393" y="-13526"/>
                  <a:pt x="2713359" y="0"/>
                </a:cubicBezTo>
                <a:cubicBezTo>
                  <a:pt x="2805325" y="13526"/>
                  <a:pt x="3332092" y="-40317"/>
                  <a:pt x="3636460" y="0"/>
                </a:cubicBezTo>
                <a:cubicBezTo>
                  <a:pt x="3940828" y="40317"/>
                  <a:pt x="4072088" y="-14057"/>
                  <a:pt x="4335780" y="0"/>
                </a:cubicBezTo>
                <a:cubicBezTo>
                  <a:pt x="4599472" y="14057"/>
                  <a:pt x="4585376" y="-6710"/>
                  <a:pt x="4699426" y="0"/>
                </a:cubicBezTo>
                <a:cubicBezTo>
                  <a:pt x="4813476" y="6710"/>
                  <a:pt x="5190217" y="29804"/>
                  <a:pt x="5398745" y="0"/>
                </a:cubicBezTo>
                <a:cubicBezTo>
                  <a:pt x="5607273" y="-29804"/>
                  <a:pt x="5917271" y="34712"/>
                  <a:pt x="6321847" y="0"/>
                </a:cubicBezTo>
                <a:cubicBezTo>
                  <a:pt x="6726423" y="-34712"/>
                  <a:pt x="6654013" y="13578"/>
                  <a:pt x="6909275" y="0"/>
                </a:cubicBezTo>
                <a:cubicBezTo>
                  <a:pt x="7164537" y="-13578"/>
                  <a:pt x="7315830" y="-27395"/>
                  <a:pt x="7496703" y="0"/>
                </a:cubicBezTo>
                <a:cubicBezTo>
                  <a:pt x="7677576" y="27395"/>
                  <a:pt x="7897268" y="2155"/>
                  <a:pt x="8196022" y="0"/>
                </a:cubicBezTo>
                <a:cubicBezTo>
                  <a:pt x="8494776" y="-2155"/>
                  <a:pt x="8722354" y="-30754"/>
                  <a:pt x="9007233" y="0"/>
                </a:cubicBezTo>
                <a:cubicBezTo>
                  <a:pt x="9292112" y="30754"/>
                  <a:pt x="9469709" y="-34520"/>
                  <a:pt x="9818443" y="0"/>
                </a:cubicBezTo>
                <a:cubicBezTo>
                  <a:pt x="10167177" y="34520"/>
                  <a:pt x="10840888" y="-37188"/>
                  <a:pt x="11189109" y="0"/>
                </a:cubicBezTo>
                <a:cubicBezTo>
                  <a:pt x="11203433" y="296460"/>
                  <a:pt x="11165989" y="486854"/>
                  <a:pt x="11189109" y="646331"/>
                </a:cubicBezTo>
                <a:cubicBezTo>
                  <a:pt x="10978165" y="646584"/>
                  <a:pt x="10858106" y="648414"/>
                  <a:pt x="10713572" y="646331"/>
                </a:cubicBezTo>
                <a:cubicBezTo>
                  <a:pt x="10569038" y="644248"/>
                  <a:pt x="10170546" y="609083"/>
                  <a:pt x="9790470" y="646331"/>
                </a:cubicBezTo>
                <a:cubicBezTo>
                  <a:pt x="9410394" y="683579"/>
                  <a:pt x="9349279" y="664244"/>
                  <a:pt x="9091151" y="646331"/>
                </a:cubicBezTo>
                <a:cubicBezTo>
                  <a:pt x="8833023" y="628418"/>
                  <a:pt x="8811228" y="644846"/>
                  <a:pt x="8727505" y="646331"/>
                </a:cubicBezTo>
                <a:cubicBezTo>
                  <a:pt x="8643782" y="647816"/>
                  <a:pt x="8172169" y="662876"/>
                  <a:pt x="8028186" y="646331"/>
                </a:cubicBezTo>
                <a:cubicBezTo>
                  <a:pt x="7884203" y="629786"/>
                  <a:pt x="7640678" y="664872"/>
                  <a:pt x="7440757" y="646331"/>
                </a:cubicBezTo>
                <a:cubicBezTo>
                  <a:pt x="7240836" y="627790"/>
                  <a:pt x="6977612" y="640252"/>
                  <a:pt x="6853329" y="646331"/>
                </a:cubicBezTo>
                <a:cubicBezTo>
                  <a:pt x="6729046" y="652410"/>
                  <a:pt x="6389319" y="630755"/>
                  <a:pt x="6265901" y="646331"/>
                </a:cubicBezTo>
                <a:cubicBezTo>
                  <a:pt x="6142483" y="661907"/>
                  <a:pt x="5953925" y="631432"/>
                  <a:pt x="5678473" y="646331"/>
                </a:cubicBezTo>
                <a:cubicBezTo>
                  <a:pt x="5403021" y="661230"/>
                  <a:pt x="5079909" y="637501"/>
                  <a:pt x="4867262" y="646331"/>
                </a:cubicBezTo>
                <a:cubicBezTo>
                  <a:pt x="4654615" y="655161"/>
                  <a:pt x="4427065" y="677258"/>
                  <a:pt x="4167943" y="646331"/>
                </a:cubicBezTo>
                <a:cubicBezTo>
                  <a:pt x="3908821" y="615404"/>
                  <a:pt x="3882557" y="635872"/>
                  <a:pt x="3804297" y="646331"/>
                </a:cubicBezTo>
                <a:cubicBezTo>
                  <a:pt x="3726037" y="656790"/>
                  <a:pt x="3380377" y="638812"/>
                  <a:pt x="3216869" y="646331"/>
                </a:cubicBezTo>
                <a:cubicBezTo>
                  <a:pt x="3053361" y="653850"/>
                  <a:pt x="2685036" y="630484"/>
                  <a:pt x="2405658" y="646331"/>
                </a:cubicBezTo>
                <a:cubicBezTo>
                  <a:pt x="2126280" y="662178"/>
                  <a:pt x="2031107" y="642275"/>
                  <a:pt x="1930121" y="646331"/>
                </a:cubicBezTo>
                <a:cubicBezTo>
                  <a:pt x="1829135" y="650387"/>
                  <a:pt x="1350372" y="646121"/>
                  <a:pt x="1007020" y="646331"/>
                </a:cubicBezTo>
                <a:cubicBezTo>
                  <a:pt x="663668" y="646541"/>
                  <a:pt x="371269" y="681396"/>
                  <a:pt x="0" y="646331"/>
                </a:cubicBezTo>
                <a:cubicBezTo>
                  <a:pt x="-20127" y="469620"/>
                  <a:pt x="-12141" y="143814"/>
                  <a:pt x="0" y="0"/>
                </a:cubicBezTo>
                <a:close/>
              </a:path>
              <a:path w="11189109" h="646331" stroke="0" extrusionOk="0">
                <a:moveTo>
                  <a:pt x="0" y="0"/>
                </a:moveTo>
                <a:cubicBezTo>
                  <a:pt x="161979" y="-10174"/>
                  <a:pt x="325146" y="-20242"/>
                  <a:pt x="587428" y="0"/>
                </a:cubicBezTo>
                <a:cubicBezTo>
                  <a:pt x="849710" y="20242"/>
                  <a:pt x="791362" y="6222"/>
                  <a:pt x="951074" y="0"/>
                </a:cubicBezTo>
                <a:cubicBezTo>
                  <a:pt x="1110786" y="-6222"/>
                  <a:pt x="1527072" y="22040"/>
                  <a:pt x="1874176" y="0"/>
                </a:cubicBezTo>
                <a:cubicBezTo>
                  <a:pt x="2221280" y="-22040"/>
                  <a:pt x="2286199" y="27995"/>
                  <a:pt x="2461604" y="0"/>
                </a:cubicBezTo>
                <a:cubicBezTo>
                  <a:pt x="2637009" y="-27995"/>
                  <a:pt x="2883465" y="6200"/>
                  <a:pt x="3049032" y="0"/>
                </a:cubicBezTo>
                <a:cubicBezTo>
                  <a:pt x="3214599" y="-6200"/>
                  <a:pt x="3633393" y="-16647"/>
                  <a:pt x="3972134" y="0"/>
                </a:cubicBezTo>
                <a:cubicBezTo>
                  <a:pt x="4310875" y="16647"/>
                  <a:pt x="4339132" y="-9202"/>
                  <a:pt x="4447671" y="0"/>
                </a:cubicBezTo>
                <a:cubicBezTo>
                  <a:pt x="4556210" y="9202"/>
                  <a:pt x="5169866" y="31106"/>
                  <a:pt x="5370772" y="0"/>
                </a:cubicBezTo>
                <a:cubicBezTo>
                  <a:pt x="5571678" y="-31106"/>
                  <a:pt x="5952768" y="-42616"/>
                  <a:pt x="6293874" y="0"/>
                </a:cubicBezTo>
                <a:cubicBezTo>
                  <a:pt x="6634980" y="42616"/>
                  <a:pt x="6660862" y="25175"/>
                  <a:pt x="6993193" y="0"/>
                </a:cubicBezTo>
                <a:cubicBezTo>
                  <a:pt x="7325524" y="-25175"/>
                  <a:pt x="7558889" y="39404"/>
                  <a:pt x="7916295" y="0"/>
                </a:cubicBezTo>
                <a:cubicBezTo>
                  <a:pt x="8273701" y="-39404"/>
                  <a:pt x="8339421" y="14417"/>
                  <a:pt x="8503723" y="0"/>
                </a:cubicBezTo>
                <a:cubicBezTo>
                  <a:pt x="8668025" y="-14417"/>
                  <a:pt x="8946755" y="21649"/>
                  <a:pt x="9091151" y="0"/>
                </a:cubicBezTo>
                <a:cubicBezTo>
                  <a:pt x="9235547" y="-21649"/>
                  <a:pt x="9736465" y="461"/>
                  <a:pt x="9902361" y="0"/>
                </a:cubicBezTo>
                <a:cubicBezTo>
                  <a:pt x="10068257" y="-461"/>
                  <a:pt x="10308731" y="14469"/>
                  <a:pt x="10489790" y="0"/>
                </a:cubicBezTo>
                <a:cubicBezTo>
                  <a:pt x="10670849" y="-14469"/>
                  <a:pt x="11043461" y="-34517"/>
                  <a:pt x="11189109" y="0"/>
                </a:cubicBezTo>
                <a:cubicBezTo>
                  <a:pt x="11184457" y="236843"/>
                  <a:pt x="11168760" y="502642"/>
                  <a:pt x="11189109" y="646331"/>
                </a:cubicBezTo>
                <a:cubicBezTo>
                  <a:pt x="10950803" y="685268"/>
                  <a:pt x="10673660" y="616619"/>
                  <a:pt x="10377899" y="646331"/>
                </a:cubicBezTo>
                <a:cubicBezTo>
                  <a:pt x="10082138" y="676044"/>
                  <a:pt x="10098545" y="653374"/>
                  <a:pt x="10014253" y="646331"/>
                </a:cubicBezTo>
                <a:cubicBezTo>
                  <a:pt x="9929961" y="639288"/>
                  <a:pt x="9757622" y="639136"/>
                  <a:pt x="9538715" y="646331"/>
                </a:cubicBezTo>
                <a:cubicBezTo>
                  <a:pt x="9319808" y="653526"/>
                  <a:pt x="9043569" y="601301"/>
                  <a:pt x="8615614" y="646331"/>
                </a:cubicBezTo>
                <a:cubicBezTo>
                  <a:pt x="8187659" y="691361"/>
                  <a:pt x="8078980" y="659333"/>
                  <a:pt x="7916295" y="646331"/>
                </a:cubicBezTo>
                <a:cubicBezTo>
                  <a:pt x="7753610" y="633329"/>
                  <a:pt x="7583983" y="636535"/>
                  <a:pt x="7440757" y="646331"/>
                </a:cubicBezTo>
                <a:cubicBezTo>
                  <a:pt x="7297531" y="656127"/>
                  <a:pt x="6918311" y="633598"/>
                  <a:pt x="6741438" y="646331"/>
                </a:cubicBezTo>
                <a:cubicBezTo>
                  <a:pt x="6564565" y="659064"/>
                  <a:pt x="6517935" y="631847"/>
                  <a:pt x="6377792" y="646331"/>
                </a:cubicBezTo>
                <a:cubicBezTo>
                  <a:pt x="6237649" y="660815"/>
                  <a:pt x="6187327" y="655841"/>
                  <a:pt x="6014146" y="646331"/>
                </a:cubicBezTo>
                <a:cubicBezTo>
                  <a:pt x="5840965" y="636821"/>
                  <a:pt x="5505913" y="641891"/>
                  <a:pt x="5314827" y="646331"/>
                </a:cubicBezTo>
                <a:cubicBezTo>
                  <a:pt x="5123741" y="650771"/>
                  <a:pt x="5032852" y="628590"/>
                  <a:pt x="4839290" y="646331"/>
                </a:cubicBezTo>
                <a:cubicBezTo>
                  <a:pt x="4645728" y="664072"/>
                  <a:pt x="4322179" y="672391"/>
                  <a:pt x="4028079" y="646331"/>
                </a:cubicBezTo>
                <a:cubicBezTo>
                  <a:pt x="3733979" y="620271"/>
                  <a:pt x="3690425" y="625571"/>
                  <a:pt x="3552542" y="646331"/>
                </a:cubicBezTo>
                <a:cubicBezTo>
                  <a:pt x="3414659" y="667091"/>
                  <a:pt x="2927998" y="659298"/>
                  <a:pt x="2741332" y="646331"/>
                </a:cubicBezTo>
                <a:cubicBezTo>
                  <a:pt x="2554666" y="633365"/>
                  <a:pt x="2456138" y="630417"/>
                  <a:pt x="2377686" y="646331"/>
                </a:cubicBezTo>
                <a:cubicBezTo>
                  <a:pt x="2299234" y="662245"/>
                  <a:pt x="1923640" y="640984"/>
                  <a:pt x="1566475" y="646331"/>
                </a:cubicBezTo>
                <a:cubicBezTo>
                  <a:pt x="1209310" y="651678"/>
                  <a:pt x="1270593" y="635296"/>
                  <a:pt x="1090938" y="646331"/>
                </a:cubicBezTo>
                <a:cubicBezTo>
                  <a:pt x="911283" y="657366"/>
                  <a:pt x="884090" y="646493"/>
                  <a:pt x="727292" y="646331"/>
                </a:cubicBezTo>
                <a:cubicBezTo>
                  <a:pt x="570494" y="646169"/>
                  <a:pt x="149079" y="680554"/>
                  <a:pt x="0" y="646331"/>
                </a:cubicBezTo>
                <a:cubicBezTo>
                  <a:pt x="4672" y="494701"/>
                  <a:pt x="16956" y="171735"/>
                  <a:pt x="0" y="0"/>
                </a:cubicBezTo>
                <a:close/>
              </a:path>
            </a:pathLst>
          </a:custGeom>
          <a:solidFill>
            <a:schemeClr val="bg1"/>
          </a:solidFill>
          <a:ln w="88900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>
                <a:solidFill>
                  <a:srgbClr val="0A3830"/>
                </a:solidFill>
              </a:rPr>
              <a:t>Обзоры о генеративном искусственном интеллекте: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3B76ED-BD6A-48E6-ACCD-1DED44C58550}"/>
              </a:ext>
            </a:extLst>
          </p:cNvPr>
          <p:cNvSpPr txBox="1"/>
          <p:nvPr/>
        </p:nvSpPr>
        <p:spPr>
          <a:xfrm>
            <a:off x="501443" y="1774055"/>
            <a:ext cx="11189109" cy="147732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He, X. A Survey of Defect Detection Applications Based on Generative Adversarial Networks / X. He [et al.] // IEEE Access. — 2022. — Vol. 10. — DOI: 10.1109/ACCESS.2022.317227.</a:t>
            </a:r>
            <a:endParaRPr lang="ru-RU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He, Y. A Survey on Surface Defect Inspection Based on Generative Models in Manufacturing / Y. He, S. Li, X. Wen, J. Xu // Applied Sciences. — 2024. — Vol. 14, № 15. — P. 6774. — DOI: </a:t>
            </a:r>
            <a:r>
              <a:rPr lang="en-US" dirty="0">
                <a:hlinkClick r:id="rId2"/>
              </a:rPr>
              <a:t>https://doi.org/10.3390/app14156774</a:t>
            </a:r>
            <a:r>
              <a:rPr lang="en-US" dirty="0"/>
              <a:t>.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3B1039-1FD5-4D0F-8138-96411C9BA3E6}"/>
              </a:ext>
            </a:extLst>
          </p:cNvPr>
          <p:cNvSpPr txBox="1"/>
          <p:nvPr/>
        </p:nvSpPr>
        <p:spPr>
          <a:xfrm>
            <a:off x="501444" y="4010506"/>
            <a:ext cx="11189108" cy="646331"/>
          </a:xfrm>
          <a:custGeom>
            <a:avLst/>
            <a:gdLst>
              <a:gd name="connsiteX0" fmla="*/ 0 w 11189108"/>
              <a:gd name="connsiteY0" fmla="*/ 0 h 646331"/>
              <a:gd name="connsiteX1" fmla="*/ 475537 w 11189108"/>
              <a:gd name="connsiteY1" fmla="*/ 0 h 646331"/>
              <a:gd name="connsiteX2" fmla="*/ 1174856 w 11189108"/>
              <a:gd name="connsiteY2" fmla="*/ 0 h 646331"/>
              <a:gd name="connsiteX3" fmla="*/ 1986067 w 11189108"/>
              <a:gd name="connsiteY3" fmla="*/ 0 h 646331"/>
              <a:gd name="connsiteX4" fmla="*/ 2349713 w 11189108"/>
              <a:gd name="connsiteY4" fmla="*/ 0 h 646331"/>
              <a:gd name="connsiteX5" fmla="*/ 2713359 w 11189108"/>
              <a:gd name="connsiteY5" fmla="*/ 0 h 646331"/>
              <a:gd name="connsiteX6" fmla="*/ 3636460 w 11189108"/>
              <a:gd name="connsiteY6" fmla="*/ 0 h 646331"/>
              <a:gd name="connsiteX7" fmla="*/ 4335779 w 11189108"/>
              <a:gd name="connsiteY7" fmla="*/ 0 h 646331"/>
              <a:gd name="connsiteX8" fmla="*/ 4699425 w 11189108"/>
              <a:gd name="connsiteY8" fmla="*/ 0 h 646331"/>
              <a:gd name="connsiteX9" fmla="*/ 5398745 w 11189108"/>
              <a:gd name="connsiteY9" fmla="*/ 0 h 646331"/>
              <a:gd name="connsiteX10" fmla="*/ 6321846 w 11189108"/>
              <a:gd name="connsiteY10" fmla="*/ 0 h 646331"/>
              <a:gd name="connsiteX11" fmla="*/ 6909274 w 11189108"/>
              <a:gd name="connsiteY11" fmla="*/ 0 h 646331"/>
              <a:gd name="connsiteX12" fmla="*/ 7496702 w 11189108"/>
              <a:gd name="connsiteY12" fmla="*/ 0 h 646331"/>
              <a:gd name="connsiteX13" fmla="*/ 8196022 w 11189108"/>
              <a:gd name="connsiteY13" fmla="*/ 0 h 646331"/>
              <a:gd name="connsiteX14" fmla="*/ 9007232 w 11189108"/>
              <a:gd name="connsiteY14" fmla="*/ 0 h 646331"/>
              <a:gd name="connsiteX15" fmla="*/ 9818442 w 11189108"/>
              <a:gd name="connsiteY15" fmla="*/ 0 h 646331"/>
              <a:gd name="connsiteX16" fmla="*/ 11189108 w 11189108"/>
              <a:gd name="connsiteY16" fmla="*/ 0 h 646331"/>
              <a:gd name="connsiteX17" fmla="*/ 11189108 w 11189108"/>
              <a:gd name="connsiteY17" fmla="*/ 646331 h 646331"/>
              <a:gd name="connsiteX18" fmla="*/ 10713571 w 11189108"/>
              <a:gd name="connsiteY18" fmla="*/ 646331 h 646331"/>
              <a:gd name="connsiteX19" fmla="*/ 9790470 w 11189108"/>
              <a:gd name="connsiteY19" fmla="*/ 646331 h 646331"/>
              <a:gd name="connsiteX20" fmla="*/ 9091150 w 11189108"/>
              <a:gd name="connsiteY20" fmla="*/ 646331 h 646331"/>
              <a:gd name="connsiteX21" fmla="*/ 8727504 w 11189108"/>
              <a:gd name="connsiteY21" fmla="*/ 646331 h 646331"/>
              <a:gd name="connsiteX22" fmla="*/ 8028185 w 11189108"/>
              <a:gd name="connsiteY22" fmla="*/ 646331 h 646331"/>
              <a:gd name="connsiteX23" fmla="*/ 7440757 w 11189108"/>
              <a:gd name="connsiteY23" fmla="*/ 646331 h 646331"/>
              <a:gd name="connsiteX24" fmla="*/ 6853329 w 11189108"/>
              <a:gd name="connsiteY24" fmla="*/ 646331 h 646331"/>
              <a:gd name="connsiteX25" fmla="*/ 6265900 w 11189108"/>
              <a:gd name="connsiteY25" fmla="*/ 646331 h 646331"/>
              <a:gd name="connsiteX26" fmla="*/ 5678472 w 11189108"/>
              <a:gd name="connsiteY26" fmla="*/ 646331 h 646331"/>
              <a:gd name="connsiteX27" fmla="*/ 4867262 w 11189108"/>
              <a:gd name="connsiteY27" fmla="*/ 646331 h 646331"/>
              <a:gd name="connsiteX28" fmla="*/ 4167943 w 11189108"/>
              <a:gd name="connsiteY28" fmla="*/ 646331 h 646331"/>
              <a:gd name="connsiteX29" fmla="*/ 3804297 w 11189108"/>
              <a:gd name="connsiteY29" fmla="*/ 646331 h 646331"/>
              <a:gd name="connsiteX30" fmla="*/ 3216869 w 11189108"/>
              <a:gd name="connsiteY30" fmla="*/ 646331 h 646331"/>
              <a:gd name="connsiteX31" fmla="*/ 2405658 w 11189108"/>
              <a:gd name="connsiteY31" fmla="*/ 646331 h 646331"/>
              <a:gd name="connsiteX32" fmla="*/ 1930121 w 11189108"/>
              <a:gd name="connsiteY32" fmla="*/ 646331 h 646331"/>
              <a:gd name="connsiteX33" fmla="*/ 1007020 w 11189108"/>
              <a:gd name="connsiteY33" fmla="*/ 646331 h 646331"/>
              <a:gd name="connsiteX34" fmla="*/ 0 w 11189108"/>
              <a:gd name="connsiteY34" fmla="*/ 646331 h 646331"/>
              <a:gd name="connsiteX35" fmla="*/ 0 w 11189108"/>
              <a:gd name="connsiteY35" fmla="*/ 0 h 646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1189108" h="646331" fill="none" extrusionOk="0">
                <a:moveTo>
                  <a:pt x="0" y="0"/>
                </a:moveTo>
                <a:cubicBezTo>
                  <a:pt x="113617" y="225"/>
                  <a:pt x="258678" y="-7030"/>
                  <a:pt x="475537" y="0"/>
                </a:cubicBezTo>
                <a:cubicBezTo>
                  <a:pt x="692396" y="7030"/>
                  <a:pt x="999422" y="-21279"/>
                  <a:pt x="1174856" y="0"/>
                </a:cubicBezTo>
                <a:cubicBezTo>
                  <a:pt x="1350290" y="21279"/>
                  <a:pt x="1628543" y="-38865"/>
                  <a:pt x="1986067" y="0"/>
                </a:cubicBezTo>
                <a:cubicBezTo>
                  <a:pt x="2343591" y="38865"/>
                  <a:pt x="2244213" y="-14947"/>
                  <a:pt x="2349713" y="0"/>
                </a:cubicBezTo>
                <a:cubicBezTo>
                  <a:pt x="2455213" y="14947"/>
                  <a:pt x="2621393" y="-13526"/>
                  <a:pt x="2713359" y="0"/>
                </a:cubicBezTo>
                <a:cubicBezTo>
                  <a:pt x="2805325" y="13526"/>
                  <a:pt x="3332092" y="-40317"/>
                  <a:pt x="3636460" y="0"/>
                </a:cubicBezTo>
                <a:cubicBezTo>
                  <a:pt x="3940828" y="40317"/>
                  <a:pt x="4074239" y="-12478"/>
                  <a:pt x="4335779" y="0"/>
                </a:cubicBezTo>
                <a:cubicBezTo>
                  <a:pt x="4597319" y="12478"/>
                  <a:pt x="4585375" y="-6710"/>
                  <a:pt x="4699425" y="0"/>
                </a:cubicBezTo>
                <a:cubicBezTo>
                  <a:pt x="4813475" y="6710"/>
                  <a:pt x="5186262" y="24816"/>
                  <a:pt x="5398745" y="0"/>
                </a:cubicBezTo>
                <a:cubicBezTo>
                  <a:pt x="5611228" y="-24816"/>
                  <a:pt x="5917754" y="39050"/>
                  <a:pt x="6321846" y="0"/>
                </a:cubicBezTo>
                <a:cubicBezTo>
                  <a:pt x="6725938" y="-39050"/>
                  <a:pt x="6654012" y="13578"/>
                  <a:pt x="6909274" y="0"/>
                </a:cubicBezTo>
                <a:cubicBezTo>
                  <a:pt x="7164536" y="-13578"/>
                  <a:pt x="7315829" y="-27395"/>
                  <a:pt x="7496702" y="0"/>
                </a:cubicBezTo>
                <a:cubicBezTo>
                  <a:pt x="7677575" y="27395"/>
                  <a:pt x="7893060" y="874"/>
                  <a:pt x="8196022" y="0"/>
                </a:cubicBezTo>
                <a:cubicBezTo>
                  <a:pt x="8498984" y="-874"/>
                  <a:pt x="8722636" y="-27936"/>
                  <a:pt x="9007232" y="0"/>
                </a:cubicBezTo>
                <a:cubicBezTo>
                  <a:pt x="9291828" y="27936"/>
                  <a:pt x="9469708" y="-34520"/>
                  <a:pt x="9818442" y="0"/>
                </a:cubicBezTo>
                <a:cubicBezTo>
                  <a:pt x="10167176" y="34520"/>
                  <a:pt x="10840887" y="-37188"/>
                  <a:pt x="11189108" y="0"/>
                </a:cubicBezTo>
                <a:cubicBezTo>
                  <a:pt x="11203432" y="296460"/>
                  <a:pt x="11165988" y="486854"/>
                  <a:pt x="11189108" y="646331"/>
                </a:cubicBezTo>
                <a:cubicBezTo>
                  <a:pt x="10978164" y="646584"/>
                  <a:pt x="10858105" y="648414"/>
                  <a:pt x="10713571" y="646331"/>
                </a:cubicBezTo>
                <a:cubicBezTo>
                  <a:pt x="10569037" y="644248"/>
                  <a:pt x="10168057" y="607163"/>
                  <a:pt x="9790470" y="646331"/>
                </a:cubicBezTo>
                <a:cubicBezTo>
                  <a:pt x="9412883" y="685499"/>
                  <a:pt x="9354804" y="666278"/>
                  <a:pt x="9091150" y="646331"/>
                </a:cubicBezTo>
                <a:cubicBezTo>
                  <a:pt x="8827496" y="626384"/>
                  <a:pt x="8811227" y="644846"/>
                  <a:pt x="8727504" y="646331"/>
                </a:cubicBezTo>
                <a:cubicBezTo>
                  <a:pt x="8643781" y="647816"/>
                  <a:pt x="8172168" y="662876"/>
                  <a:pt x="8028185" y="646331"/>
                </a:cubicBezTo>
                <a:cubicBezTo>
                  <a:pt x="7884202" y="629786"/>
                  <a:pt x="7637599" y="658107"/>
                  <a:pt x="7440757" y="646331"/>
                </a:cubicBezTo>
                <a:cubicBezTo>
                  <a:pt x="7243915" y="634555"/>
                  <a:pt x="6977612" y="640252"/>
                  <a:pt x="6853329" y="646331"/>
                </a:cubicBezTo>
                <a:cubicBezTo>
                  <a:pt x="6729046" y="652410"/>
                  <a:pt x="6390831" y="633548"/>
                  <a:pt x="6265900" y="646331"/>
                </a:cubicBezTo>
                <a:cubicBezTo>
                  <a:pt x="6140969" y="659114"/>
                  <a:pt x="5953924" y="631432"/>
                  <a:pt x="5678472" y="646331"/>
                </a:cubicBezTo>
                <a:cubicBezTo>
                  <a:pt x="5403020" y="661230"/>
                  <a:pt x="5077854" y="633905"/>
                  <a:pt x="4867262" y="646331"/>
                </a:cubicBezTo>
                <a:cubicBezTo>
                  <a:pt x="4656670" y="658758"/>
                  <a:pt x="4427065" y="677258"/>
                  <a:pt x="4167943" y="646331"/>
                </a:cubicBezTo>
                <a:cubicBezTo>
                  <a:pt x="3908821" y="615404"/>
                  <a:pt x="3882557" y="635872"/>
                  <a:pt x="3804297" y="646331"/>
                </a:cubicBezTo>
                <a:cubicBezTo>
                  <a:pt x="3726037" y="656790"/>
                  <a:pt x="3380377" y="638812"/>
                  <a:pt x="3216869" y="646331"/>
                </a:cubicBezTo>
                <a:cubicBezTo>
                  <a:pt x="3053361" y="653850"/>
                  <a:pt x="2685036" y="630484"/>
                  <a:pt x="2405658" y="646331"/>
                </a:cubicBezTo>
                <a:cubicBezTo>
                  <a:pt x="2126280" y="662178"/>
                  <a:pt x="2031107" y="642275"/>
                  <a:pt x="1930121" y="646331"/>
                </a:cubicBezTo>
                <a:cubicBezTo>
                  <a:pt x="1829135" y="650387"/>
                  <a:pt x="1350372" y="646121"/>
                  <a:pt x="1007020" y="646331"/>
                </a:cubicBezTo>
                <a:cubicBezTo>
                  <a:pt x="663668" y="646541"/>
                  <a:pt x="371269" y="681396"/>
                  <a:pt x="0" y="646331"/>
                </a:cubicBezTo>
                <a:cubicBezTo>
                  <a:pt x="-20127" y="469620"/>
                  <a:pt x="-12141" y="143814"/>
                  <a:pt x="0" y="0"/>
                </a:cubicBezTo>
                <a:close/>
              </a:path>
              <a:path w="11189108" h="646331" stroke="0" extrusionOk="0">
                <a:moveTo>
                  <a:pt x="0" y="0"/>
                </a:moveTo>
                <a:cubicBezTo>
                  <a:pt x="161979" y="-10174"/>
                  <a:pt x="325146" y="-20242"/>
                  <a:pt x="587428" y="0"/>
                </a:cubicBezTo>
                <a:cubicBezTo>
                  <a:pt x="849710" y="20242"/>
                  <a:pt x="791362" y="6222"/>
                  <a:pt x="951074" y="0"/>
                </a:cubicBezTo>
                <a:cubicBezTo>
                  <a:pt x="1110786" y="-6222"/>
                  <a:pt x="1527072" y="22040"/>
                  <a:pt x="1874176" y="0"/>
                </a:cubicBezTo>
                <a:cubicBezTo>
                  <a:pt x="2221280" y="-22040"/>
                  <a:pt x="2286199" y="27995"/>
                  <a:pt x="2461604" y="0"/>
                </a:cubicBezTo>
                <a:cubicBezTo>
                  <a:pt x="2637009" y="-27995"/>
                  <a:pt x="2883465" y="6200"/>
                  <a:pt x="3049032" y="0"/>
                </a:cubicBezTo>
                <a:cubicBezTo>
                  <a:pt x="3214599" y="-6200"/>
                  <a:pt x="3636979" y="-13475"/>
                  <a:pt x="3972133" y="0"/>
                </a:cubicBezTo>
                <a:cubicBezTo>
                  <a:pt x="4307287" y="13475"/>
                  <a:pt x="4339131" y="-9202"/>
                  <a:pt x="4447670" y="0"/>
                </a:cubicBezTo>
                <a:cubicBezTo>
                  <a:pt x="4556209" y="9202"/>
                  <a:pt x="5166796" y="31065"/>
                  <a:pt x="5370772" y="0"/>
                </a:cubicBezTo>
                <a:cubicBezTo>
                  <a:pt x="5574748" y="-31065"/>
                  <a:pt x="5954193" y="-41724"/>
                  <a:pt x="6293873" y="0"/>
                </a:cubicBezTo>
                <a:cubicBezTo>
                  <a:pt x="6633553" y="41724"/>
                  <a:pt x="6657277" y="20319"/>
                  <a:pt x="6993193" y="0"/>
                </a:cubicBezTo>
                <a:cubicBezTo>
                  <a:pt x="7329109" y="-20319"/>
                  <a:pt x="7561670" y="40354"/>
                  <a:pt x="7916294" y="0"/>
                </a:cubicBezTo>
                <a:cubicBezTo>
                  <a:pt x="8270918" y="-40354"/>
                  <a:pt x="8339420" y="14417"/>
                  <a:pt x="8503722" y="0"/>
                </a:cubicBezTo>
                <a:cubicBezTo>
                  <a:pt x="8668024" y="-14417"/>
                  <a:pt x="8946754" y="21649"/>
                  <a:pt x="9091150" y="0"/>
                </a:cubicBezTo>
                <a:cubicBezTo>
                  <a:pt x="9235546" y="-21649"/>
                  <a:pt x="9734416" y="-1484"/>
                  <a:pt x="9902361" y="0"/>
                </a:cubicBezTo>
                <a:cubicBezTo>
                  <a:pt x="10070306" y="1484"/>
                  <a:pt x="10312956" y="21406"/>
                  <a:pt x="10489789" y="0"/>
                </a:cubicBezTo>
                <a:cubicBezTo>
                  <a:pt x="10666622" y="-21406"/>
                  <a:pt x="11043460" y="-34517"/>
                  <a:pt x="11189108" y="0"/>
                </a:cubicBezTo>
                <a:cubicBezTo>
                  <a:pt x="11184456" y="236843"/>
                  <a:pt x="11168759" y="502642"/>
                  <a:pt x="11189108" y="646331"/>
                </a:cubicBezTo>
                <a:cubicBezTo>
                  <a:pt x="10950802" y="685268"/>
                  <a:pt x="10673659" y="616619"/>
                  <a:pt x="10377898" y="646331"/>
                </a:cubicBezTo>
                <a:cubicBezTo>
                  <a:pt x="10082137" y="676044"/>
                  <a:pt x="10098544" y="653374"/>
                  <a:pt x="10014252" y="646331"/>
                </a:cubicBezTo>
                <a:cubicBezTo>
                  <a:pt x="9929960" y="639288"/>
                  <a:pt x="9755828" y="630292"/>
                  <a:pt x="9538715" y="646331"/>
                </a:cubicBezTo>
                <a:cubicBezTo>
                  <a:pt x="9321602" y="662370"/>
                  <a:pt x="9046771" y="601413"/>
                  <a:pt x="8615613" y="646331"/>
                </a:cubicBezTo>
                <a:cubicBezTo>
                  <a:pt x="8184455" y="691249"/>
                  <a:pt x="8078979" y="659333"/>
                  <a:pt x="7916294" y="646331"/>
                </a:cubicBezTo>
                <a:cubicBezTo>
                  <a:pt x="7753609" y="633329"/>
                  <a:pt x="7578344" y="628412"/>
                  <a:pt x="7440757" y="646331"/>
                </a:cubicBezTo>
                <a:cubicBezTo>
                  <a:pt x="7303170" y="664250"/>
                  <a:pt x="6918311" y="633598"/>
                  <a:pt x="6741438" y="646331"/>
                </a:cubicBezTo>
                <a:cubicBezTo>
                  <a:pt x="6564565" y="659064"/>
                  <a:pt x="6517935" y="631847"/>
                  <a:pt x="6377792" y="646331"/>
                </a:cubicBezTo>
                <a:cubicBezTo>
                  <a:pt x="6237649" y="660815"/>
                  <a:pt x="6187327" y="655841"/>
                  <a:pt x="6014146" y="646331"/>
                </a:cubicBezTo>
                <a:cubicBezTo>
                  <a:pt x="5840965" y="636821"/>
                  <a:pt x="5507411" y="644265"/>
                  <a:pt x="5314826" y="646331"/>
                </a:cubicBezTo>
                <a:cubicBezTo>
                  <a:pt x="5122241" y="648397"/>
                  <a:pt x="5032851" y="628590"/>
                  <a:pt x="4839289" y="646331"/>
                </a:cubicBezTo>
                <a:cubicBezTo>
                  <a:pt x="4645727" y="664072"/>
                  <a:pt x="4321572" y="668572"/>
                  <a:pt x="4028079" y="646331"/>
                </a:cubicBezTo>
                <a:cubicBezTo>
                  <a:pt x="3734586" y="624091"/>
                  <a:pt x="3690425" y="625571"/>
                  <a:pt x="3552542" y="646331"/>
                </a:cubicBezTo>
                <a:cubicBezTo>
                  <a:pt x="3414659" y="667091"/>
                  <a:pt x="2928409" y="662311"/>
                  <a:pt x="2741331" y="646331"/>
                </a:cubicBezTo>
                <a:cubicBezTo>
                  <a:pt x="2554253" y="630351"/>
                  <a:pt x="2456137" y="630417"/>
                  <a:pt x="2377685" y="646331"/>
                </a:cubicBezTo>
                <a:cubicBezTo>
                  <a:pt x="2299233" y="662245"/>
                  <a:pt x="1922740" y="637730"/>
                  <a:pt x="1566475" y="646331"/>
                </a:cubicBezTo>
                <a:cubicBezTo>
                  <a:pt x="1210210" y="654933"/>
                  <a:pt x="1270593" y="635296"/>
                  <a:pt x="1090938" y="646331"/>
                </a:cubicBezTo>
                <a:cubicBezTo>
                  <a:pt x="911283" y="657366"/>
                  <a:pt x="884090" y="646493"/>
                  <a:pt x="727292" y="646331"/>
                </a:cubicBezTo>
                <a:cubicBezTo>
                  <a:pt x="570494" y="646169"/>
                  <a:pt x="149079" y="680554"/>
                  <a:pt x="0" y="646331"/>
                </a:cubicBezTo>
                <a:cubicBezTo>
                  <a:pt x="4672" y="494701"/>
                  <a:pt x="16956" y="171735"/>
                  <a:pt x="0" y="0"/>
                </a:cubicBezTo>
                <a:close/>
              </a:path>
            </a:pathLst>
          </a:custGeom>
          <a:solidFill>
            <a:schemeClr val="bg1"/>
          </a:solidFill>
          <a:ln w="88900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>
                <a:solidFill>
                  <a:srgbClr val="0A3830"/>
                </a:solidFill>
              </a:rPr>
              <a:t>Обзоры о </a:t>
            </a:r>
            <a:r>
              <a:rPr lang="ru-RU" sz="3600" b="1" dirty="0" err="1">
                <a:solidFill>
                  <a:srgbClr val="0A3830"/>
                </a:solidFill>
              </a:rPr>
              <a:t>сверточных</a:t>
            </a:r>
            <a:r>
              <a:rPr lang="ru-RU" sz="3600" b="1" dirty="0">
                <a:solidFill>
                  <a:srgbClr val="0A3830"/>
                </a:solidFill>
              </a:rPr>
              <a:t> нейронных сетях: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309996-BDB7-40AC-B143-1BA0F75266B4}"/>
              </a:ext>
            </a:extLst>
          </p:cNvPr>
          <p:cNvSpPr txBox="1"/>
          <p:nvPr/>
        </p:nvSpPr>
        <p:spPr>
          <a:xfrm>
            <a:off x="501442" y="4813659"/>
            <a:ext cx="11189110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Khan, A. A Survey of the Recent Architectures of Deep Convolutional Neural Networks [</a:t>
            </a:r>
            <a:r>
              <a:rPr lang="ru-RU" dirty="0"/>
              <a:t>Электронный ресурс] / </a:t>
            </a:r>
            <a:r>
              <a:rPr lang="en-US" dirty="0"/>
              <a:t>A. Khan, A. </a:t>
            </a:r>
            <a:r>
              <a:rPr lang="en-US" dirty="0" err="1"/>
              <a:t>Sohail</a:t>
            </a:r>
            <a:r>
              <a:rPr lang="en-US" dirty="0"/>
              <a:t>, U. </a:t>
            </a:r>
            <a:r>
              <a:rPr lang="en-US" dirty="0" err="1"/>
              <a:t>Zahoora</a:t>
            </a:r>
            <a:r>
              <a:rPr lang="en-US" dirty="0"/>
              <a:t>, A.S. Qureshi // Artificial Intelligence Review. – 2020. – Vol. 53, № 8. – P. 5455–5516. – </a:t>
            </a:r>
            <a:r>
              <a:rPr lang="ru-RU" dirty="0"/>
              <a:t>Режим доступа: </a:t>
            </a:r>
            <a:r>
              <a:rPr lang="en-US" dirty="0"/>
              <a:t>https://arxiv.org/abs/1901.06032. – </a:t>
            </a:r>
            <a:r>
              <a:rPr lang="ru-RU" dirty="0"/>
              <a:t>Дата доступа: </a:t>
            </a:r>
            <a:r>
              <a:rPr lang="en-US" dirty="0"/>
              <a:t>18</a:t>
            </a:r>
            <a:r>
              <a:rPr lang="ru-RU" dirty="0"/>
              <a:t>.</a:t>
            </a:r>
            <a:r>
              <a:rPr lang="en-US" dirty="0"/>
              <a:t>10</a:t>
            </a:r>
            <a:r>
              <a:rPr lang="ru-RU" dirty="0"/>
              <a:t>.202</a:t>
            </a:r>
            <a:r>
              <a:rPr lang="en-US" dirty="0"/>
              <a:t>5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342620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80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09C410-CE84-4CB6-A1A8-4FB681453D45}"/>
              </a:ext>
            </a:extLst>
          </p:cNvPr>
          <p:cNvSpPr>
            <a:spLocks noGrp="1"/>
          </p:cNvSpPr>
          <p:nvPr>
            <p:ph type="title"/>
          </p:nvPr>
        </p:nvSpPr>
        <p:spPr>
          <a:custGeom>
            <a:avLst/>
            <a:gdLst>
              <a:gd name="connsiteX0" fmla="*/ 0 w 10515600"/>
              <a:gd name="connsiteY0" fmla="*/ 0 h 900000"/>
              <a:gd name="connsiteX1" fmla="*/ 341757 w 10515600"/>
              <a:gd name="connsiteY1" fmla="*/ 0 h 900000"/>
              <a:gd name="connsiteX2" fmla="*/ 683514 w 10515600"/>
              <a:gd name="connsiteY2" fmla="*/ 0 h 900000"/>
              <a:gd name="connsiteX3" fmla="*/ 1025271 w 10515600"/>
              <a:gd name="connsiteY3" fmla="*/ 0 h 900000"/>
              <a:gd name="connsiteX4" fmla="*/ 1892808 w 10515600"/>
              <a:gd name="connsiteY4" fmla="*/ 0 h 900000"/>
              <a:gd name="connsiteX5" fmla="*/ 2550033 w 10515600"/>
              <a:gd name="connsiteY5" fmla="*/ 0 h 900000"/>
              <a:gd name="connsiteX6" fmla="*/ 2891790 w 10515600"/>
              <a:gd name="connsiteY6" fmla="*/ 0 h 900000"/>
              <a:gd name="connsiteX7" fmla="*/ 3549015 w 10515600"/>
              <a:gd name="connsiteY7" fmla="*/ 0 h 900000"/>
              <a:gd name="connsiteX8" fmla="*/ 4416552 w 10515600"/>
              <a:gd name="connsiteY8" fmla="*/ 0 h 900000"/>
              <a:gd name="connsiteX9" fmla="*/ 4968621 w 10515600"/>
              <a:gd name="connsiteY9" fmla="*/ 0 h 900000"/>
              <a:gd name="connsiteX10" fmla="*/ 5520690 w 10515600"/>
              <a:gd name="connsiteY10" fmla="*/ 0 h 900000"/>
              <a:gd name="connsiteX11" fmla="*/ 6177915 w 10515600"/>
              <a:gd name="connsiteY11" fmla="*/ 0 h 900000"/>
              <a:gd name="connsiteX12" fmla="*/ 6940296 w 10515600"/>
              <a:gd name="connsiteY12" fmla="*/ 0 h 900000"/>
              <a:gd name="connsiteX13" fmla="*/ 7702677 w 10515600"/>
              <a:gd name="connsiteY13" fmla="*/ 0 h 900000"/>
              <a:gd name="connsiteX14" fmla="*/ 8465058 w 10515600"/>
              <a:gd name="connsiteY14" fmla="*/ 0 h 900000"/>
              <a:gd name="connsiteX15" fmla="*/ 9332595 w 10515600"/>
              <a:gd name="connsiteY15" fmla="*/ 0 h 900000"/>
              <a:gd name="connsiteX16" fmla="*/ 10515600 w 10515600"/>
              <a:gd name="connsiteY16" fmla="*/ 0 h 900000"/>
              <a:gd name="connsiteX17" fmla="*/ 10515600 w 10515600"/>
              <a:gd name="connsiteY17" fmla="*/ 459000 h 900000"/>
              <a:gd name="connsiteX18" fmla="*/ 10515600 w 10515600"/>
              <a:gd name="connsiteY18" fmla="*/ 900000 h 900000"/>
              <a:gd name="connsiteX19" fmla="*/ 9648063 w 10515600"/>
              <a:gd name="connsiteY19" fmla="*/ 900000 h 900000"/>
              <a:gd name="connsiteX20" fmla="*/ 8990838 w 10515600"/>
              <a:gd name="connsiteY20" fmla="*/ 900000 h 900000"/>
              <a:gd name="connsiteX21" fmla="*/ 8438769 w 10515600"/>
              <a:gd name="connsiteY21" fmla="*/ 900000 h 900000"/>
              <a:gd name="connsiteX22" fmla="*/ 7886700 w 10515600"/>
              <a:gd name="connsiteY22" fmla="*/ 900000 h 900000"/>
              <a:gd name="connsiteX23" fmla="*/ 7334631 w 10515600"/>
              <a:gd name="connsiteY23" fmla="*/ 900000 h 900000"/>
              <a:gd name="connsiteX24" fmla="*/ 6782562 w 10515600"/>
              <a:gd name="connsiteY24" fmla="*/ 900000 h 900000"/>
              <a:gd name="connsiteX25" fmla="*/ 6020181 w 10515600"/>
              <a:gd name="connsiteY25" fmla="*/ 900000 h 900000"/>
              <a:gd name="connsiteX26" fmla="*/ 5362956 w 10515600"/>
              <a:gd name="connsiteY26" fmla="*/ 900000 h 900000"/>
              <a:gd name="connsiteX27" fmla="*/ 5021199 w 10515600"/>
              <a:gd name="connsiteY27" fmla="*/ 900000 h 900000"/>
              <a:gd name="connsiteX28" fmla="*/ 4469130 w 10515600"/>
              <a:gd name="connsiteY28" fmla="*/ 900000 h 900000"/>
              <a:gd name="connsiteX29" fmla="*/ 3706749 w 10515600"/>
              <a:gd name="connsiteY29" fmla="*/ 900000 h 900000"/>
              <a:gd name="connsiteX30" fmla="*/ 3259836 w 10515600"/>
              <a:gd name="connsiteY30" fmla="*/ 900000 h 900000"/>
              <a:gd name="connsiteX31" fmla="*/ 2392299 w 10515600"/>
              <a:gd name="connsiteY31" fmla="*/ 900000 h 900000"/>
              <a:gd name="connsiteX32" fmla="*/ 1524762 w 10515600"/>
              <a:gd name="connsiteY32" fmla="*/ 900000 h 900000"/>
              <a:gd name="connsiteX33" fmla="*/ 867537 w 10515600"/>
              <a:gd name="connsiteY33" fmla="*/ 900000 h 900000"/>
              <a:gd name="connsiteX34" fmla="*/ 0 w 10515600"/>
              <a:gd name="connsiteY34" fmla="*/ 900000 h 900000"/>
              <a:gd name="connsiteX35" fmla="*/ 0 w 10515600"/>
              <a:gd name="connsiteY35" fmla="*/ 450000 h 900000"/>
              <a:gd name="connsiteX36" fmla="*/ 0 w 10515600"/>
              <a:gd name="connsiteY36" fmla="*/ 0 h 9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0515600" h="900000" fill="none" extrusionOk="0">
                <a:moveTo>
                  <a:pt x="0" y="0"/>
                </a:moveTo>
                <a:cubicBezTo>
                  <a:pt x="98888" y="9007"/>
                  <a:pt x="259424" y="11771"/>
                  <a:pt x="341757" y="0"/>
                </a:cubicBezTo>
                <a:cubicBezTo>
                  <a:pt x="424090" y="-11771"/>
                  <a:pt x="519058" y="12003"/>
                  <a:pt x="683514" y="0"/>
                </a:cubicBezTo>
                <a:cubicBezTo>
                  <a:pt x="847970" y="-12003"/>
                  <a:pt x="894690" y="9887"/>
                  <a:pt x="1025271" y="0"/>
                </a:cubicBezTo>
                <a:cubicBezTo>
                  <a:pt x="1155852" y="-9887"/>
                  <a:pt x="1573394" y="3827"/>
                  <a:pt x="1892808" y="0"/>
                </a:cubicBezTo>
                <a:cubicBezTo>
                  <a:pt x="2212222" y="-3827"/>
                  <a:pt x="2391278" y="-6233"/>
                  <a:pt x="2550033" y="0"/>
                </a:cubicBezTo>
                <a:cubicBezTo>
                  <a:pt x="2708789" y="6233"/>
                  <a:pt x="2754491" y="5661"/>
                  <a:pt x="2891790" y="0"/>
                </a:cubicBezTo>
                <a:cubicBezTo>
                  <a:pt x="3029089" y="-5661"/>
                  <a:pt x="3390996" y="26022"/>
                  <a:pt x="3549015" y="0"/>
                </a:cubicBezTo>
                <a:cubicBezTo>
                  <a:pt x="3707035" y="-26022"/>
                  <a:pt x="4087327" y="32230"/>
                  <a:pt x="4416552" y="0"/>
                </a:cubicBezTo>
                <a:cubicBezTo>
                  <a:pt x="4745777" y="-32230"/>
                  <a:pt x="4788838" y="3064"/>
                  <a:pt x="4968621" y="0"/>
                </a:cubicBezTo>
                <a:cubicBezTo>
                  <a:pt x="5148404" y="-3064"/>
                  <a:pt x="5377712" y="-21096"/>
                  <a:pt x="5520690" y="0"/>
                </a:cubicBezTo>
                <a:cubicBezTo>
                  <a:pt x="5663668" y="21096"/>
                  <a:pt x="5953400" y="17386"/>
                  <a:pt x="6177915" y="0"/>
                </a:cubicBezTo>
                <a:cubicBezTo>
                  <a:pt x="6402430" y="-17386"/>
                  <a:pt x="6770921" y="-35143"/>
                  <a:pt x="6940296" y="0"/>
                </a:cubicBezTo>
                <a:cubicBezTo>
                  <a:pt x="7109671" y="35143"/>
                  <a:pt x="7403073" y="4103"/>
                  <a:pt x="7702677" y="0"/>
                </a:cubicBezTo>
                <a:cubicBezTo>
                  <a:pt x="8002281" y="-4103"/>
                  <a:pt x="8221175" y="16641"/>
                  <a:pt x="8465058" y="0"/>
                </a:cubicBezTo>
                <a:cubicBezTo>
                  <a:pt x="8708941" y="-16641"/>
                  <a:pt x="8952466" y="-9276"/>
                  <a:pt x="9332595" y="0"/>
                </a:cubicBezTo>
                <a:cubicBezTo>
                  <a:pt x="9712724" y="9276"/>
                  <a:pt x="9950442" y="3063"/>
                  <a:pt x="10515600" y="0"/>
                </a:cubicBezTo>
                <a:cubicBezTo>
                  <a:pt x="10513857" y="170794"/>
                  <a:pt x="10497973" y="322437"/>
                  <a:pt x="10515600" y="459000"/>
                </a:cubicBezTo>
                <a:cubicBezTo>
                  <a:pt x="10533227" y="595563"/>
                  <a:pt x="10525869" y="774556"/>
                  <a:pt x="10515600" y="900000"/>
                </a:cubicBezTo>
                <a:cubicBezTo>
                  <a:pt x="10122172" y="912447"/>
                  <a:pt x="9852726" y="875678"/>
                  <a:pt x="9648063" y="900000"/>
                </a:cubicBezTo>
                <a:cubicBezTo>
                  <a:pt x="9443400" y="924322"/>
                  <a:pt x="9242928" y="879199"/>
                  <a:pt x="8990838" y="900000"/>
                </a:cubicBezTo>
                <a:cubicBezTo>
                  <a:pt x="8738749" y="920801"/>
                  <a:pt x="8553955" y="914335"/>
                  <a:pt x="8438769" y="900000"/>
                </a:cubicBezTo>
                <a:cubicBezTo>
                  <a:pt x="8323583" y="885665"/>
                  <a:pt x="8114825" y="880515"/>
                  <a:pt x="7886700" y="900000"/>
                </a:cubicBezTo>
                <a:cubicBezTo>
                  <a:pt x="7658575" y="919485"/>
                  <a:pt x="7473371" y="907793"/>
                  <a:pt x="7334631" y="900000"/>
                </a:cubicBezTo>
                <a:cubicBezTo>
                  <a:pt x="7195891" y="892207"/>
                  <a:pt x="7020454" y="916195"/>
                  <a:pt x="6782562" y="900000"/>
                </a:cubicBezTo>
                <a:cubicBezTo>
                  <a:pt x="6544670" y="883805"/>
                  <a:pt x="6283429" y="914450"/>
                  <a:pt x="6020181" y="900000"/>
                </a:cubicBezTo>
                <a:cubicBezTo>
                  <a:pt x="5756933" y="885550"/>
                  <a:pt x="5572314" y="899246"/>
                  <a:pt x="5362956" y="900000"/>
                </a:cubicBezTo>
                <a:cubicBezTo>
                  <a:pt x="5153599" y="900754"/>
                  <a:pt x="5103186" y="912655"/>
                  <a:pt x="5021199" y="900000"/>
                </a:cubicBezTo>
                <a:cubicBezTo>
                  <a:pt x="4939212" y="887345"/>
                  <a:pt x="4631121" y="918435"/>
                  <a:pt x="4469130" y="900000"/>
                </a:cubicBezTo>
                <a:cubicBezTo>
                  <a:pt x="4307139" y="881565"/>
                  <a:pt x="4042980" y="908369"/>
                  <a:pt x="3706749" y="900000"/>
                </a:cubicBezTo>
                <a:cubicBezTo>
                  <a:pt x="3370518" y="891631"/>
                  <a:pt x="3442573" y="888273"/>
                  <a:pt x="3259836" y="900000"/>
                </a:cubicBezTo>
                <a:cubicBezTo>
                  <a:pt x="3077099" y="911727"/>
                  <a:pt x="2633437" y="921735"/>
                  <a:pt x="2392299" y="900000"/>
                </a:cubicBezTo>
                <a:cubicBezTo>
                  <a:pt x="2151161" y="878265"/>
                  <a:pt x="1796705" y="896854"/>
                  <a:pt x="1524762" y="900000"/>
                </a:cubicBezTo>
                <a:cubicBezTo>
                  <a:pt x="1252819" y="903146"/>
                  <a:pt x="1086366" y="907014"/>
                  <a:pt x="867537" y="900000"/>
                </a:cubicBezTo>
                <a:cubicBezTo>
                  <a:pt x="648708" y="892986"/>
                  <a:pt x="251816" y="906274"/>
                  <a:pt x="0" y="900000"/>
                </a:cubicBezTo>
                <a:cubicBezTo>
                  <a:pt x="-6729" y="754568"/>
                  <a:pt x="13876" y="595294"/>
                  <a:pt x="0" y="450000"/>
                </a:cubicBezTo>
                <a:cubicBezTo>
                  <a:pt x="-13876" y="304706"/>
                  <a:pt x="15929" y="121567"/>
                  <a:pt x="0" y="0"/>
                </a:cubicBezTo>
                <a:close/>
              </a:path>
              <a:path w="10515600" h="900000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07640" y="155647"/>
                  <a:pt x="10538911" y="284261"/>
                  <a:pt x="10515600" y="468000"/>
                </a:cubicBezTo>
                <a:cubicBezTo>
                  <a:pt x="10492289" y="651739"/>
                  <a:pt x="10511931" y="780597"/>
                  <a:pt x="10515600" y="900000"/>
                </a:cubicBezTo>
                <a:cubicBezTo>
                  <a:pt x="10305681" y="888585"/>
                  <a:pt x="10050108" y="896420"/>
                  <a:pt x="9753219" y="900000"/>
                </a:cubicBezTo>
                <a:cubicBezTo>
                  <a:pt x="9456330" y="903580"/>
                  <a:pt x="9525512" y="916675"/>
                  <a:pt x="9306306" y="900000"/>
                </a:cubicBezTo>
                <a:cubicBezTo>
                  <a:pt x="9087100" y="883325"/>
                  <a:pt x="8620907" y="934261"/>
                  <a:pt x="8438769" y="900000"/>
                </a:cubicBezTo>
                <a:cubicBezTo>
                  <a:pt x="8256631" y="865739"/>
                  <a:pt x="7950474" y="932124"/>
                  <a:pt x="7781544" y="900000"/>
                </a:cubicBezTo>
                <a:cubicBezTo>
                  <a:pt x="7612615" y="867876"/>
                  <a:pt x="7496249" y="899594"/>
                  <a:pt x="7334631" y="900000"/>
                </a:cubicBezTo>
                <a:cubicBezTo>
                  <a:pt x="7173013" y="900406"/>
                  <a:pt x="6878574" y="923742"/>
                  <a:pt x="6677406" y="900000"/>
                </a:cubicBezTo>
                <a:cubicBezTo>
                  <a:pt x="6476238" y="876258"/>
                  <a:pt x="6439581" y="883638"/>
                  <a:pt x="6335649" y="900000"/>
                </a:cubicBezTo>
                <a:cubicBezTo>
                  <a:pt x="6231717" y="916362"/>
                  <a:pt x="6135578" y="906666"/>
                  <a:pt x="5993892" y="900000"/>
                </a:cubicBezTo>
                <a:cubicBezTo>
                  <a:pt x="5852206" y="893334"/>
                  <a:pt x="5510139" y="868918"/>
                  <a:pt x="5336667" y="900000"/>
                </a:cubicBezTo>
                <a:cubicBezTo>
                  <a:pt x="5163196" y="931082"/>
                  <a:pt x="4995694" y="893930"/>
                  <a:pt x="4889754" y="900000"/>
                </a:cubicBezTo>
                <a:cubicBezTo>
                  <a:pt x="4783814" y="906070"/>
                  <a:pt x="4495120" y="905592"/>
                  <a:pt x="4127373" y="900000"/>
                </a:cubicBezTo>
                <a:cubicBezTo>
                  <a:pt x="3759626" y="894408"/>
                  <a:pt x="3886665" y="902408"/>
                  <a:pt x="3680460" y="900000"/>
                </a:cubicBezTo>
                <a:cubicBezTo>
                  <a:pt x="3474255" y="897592"/>
                  <a:pt x="3123909" y="918515"/>
                  <a:pt x="2918079" y="900000"/>
                </a:cubicBezTo>
                <a:cubicBezTo>
                  <a:pt x="2712249" y="881485"/>
                  <a:pt x="2688971" y="886697"/>
                  <a:pt x="2576322" y="900000"/>
                </a:cubicBezTo>
                <a:cubicBezTo>
                  <a:pt x="2463673" y="913303"/>
                  <a:pt x="2127678" y="921649"/>
                  <a:pt x="1813941" y="900000"/>
                </a:cubicBezTo>
                <a:cubicBezTo>
                  <a:pt x="1500204" y="878351"/>
                  <a:pt x="1545667" y="910505"/>
                  <a:pt x="1367028" y="900000"/>
                </a:cubicBezTo>
                <a:cubicBezTo>
                  <a:pt x="1188389" y="889495"/>
                  <a:pt x="1188334" y="890564"/>
                  <a:pt x="1025271" y="900000"/>
                </a:cubicBezTo>
                <a:cubicBezTo>
                  <a:pt x="862208" y="909436"/>
                  <a:pt x="759610" y="910044"/>
                  <a:pt x="578358" y="900000"/>
                </a:cubicBezTo>
                <a:cubicBezTo>
                  <a:pt x="397106" y="889956"/>
                  <a:pt x="120249" y="880279"/>
                  <a:pt x="0" y="900000"/>
                </a:cubicBezTo>
                <a:cubicBezTo>
                  <a:pt x="-19541" y="744494"/>
                  <a:pt x="-15683" y="674942"/>
                  <a:pt x="0" y="468000"/>
                </a:cubicBezTo>
                <a:cubicBezTo>
                  <a:pt x="15683" y="261058"/>
                  <a:pt x="-3615" y="143737"/>
                  <a:pt x="0" y="0"/>
                </a:cubicBezTo>
                <a:close/>
              </a:path>
            </a:pathLst>
          </a:custGeom>
          <a:solidFill>
            <a:schemeClr val="bg1"/>
          </a:solidFill>
          <a:ln w="88900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sk:type>
                    <ask:lineSketchFreehand/>
                  </ask:type>
                </ask:lineSketchStyleProps>
              </a:ext>
            </a:extLst>
          </a:ln>
        </p:spPr>
        <p:txBody>
          <a:bodyPr>
            <a:normAutofit/>
          </a:bodyPr>
          <a:lstStyle/>
          <a:p>
            <a:pPr algn="ctr"/>
            <a:r>
              <a:rPr lang="ru-RU" sz="5400" b="1" dirty="0">
                <a:solidFill>
                  <a:srgbClr val="072722"/>
                </a:solidFill>
              </a:rPr>
              <a:t>Фундаментальные статьи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BFED038-F0AC-4AE8-A136-79721510CD2F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txBody>
          <a:bodyPr anchor="ctr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1800" dirty="0" err="1"/>
              <a:t>Simonyan</a:t>
            </a:r>
            <a:r>
              <a:rPr lang="en-US" sz="1800" dirty="0"/>
              <a:t> K., Zisserman A. Very Deep Convolutional Networks for Large-Scale Image Recognition [Electronic resource] // </a:t>
            </a:r>
            <a:r>
              <a:rPr lang="en-US" sz="1800" dirty="0" err="1"/>
              <a:t>arXiv</a:t>
            </a:r>
            <a:r>
              <a:rPr lang="en-US" sz="1800" dirty="0"/>
              <a:t> preprint. — 2015. — arXiv:1409.1556 [cs.CV]. — Version v6, last revised 10 Apr 2015. — URL: https://arxiv.org/abs/1409.1556. — DOI: 10.48550/arXiv.1409.1556.</a:t>
            </a:r>
            <a:endParaRPr lang="ru-RU" sz="1800" dirty="0"/>
          </a:p>
          <a:p>
            <a:pPr marL="514350" indent="-514350">
              <a:buFont typeface="+mj-lt"/>
              <a:buAutoNum type="arabicPeriod"/>
            </a:pPr>
            <a:r>
              <a:rPr lang="en-US" sz="1800" dirty="0"/>
              <a:t>Xu G., Wang X., Wu X., </a:t>
            </a:r>
            <a:r>
              <a:rPr lang="en-US" sz="1800" dirty="0" err="1"/>
              <a:t>Leng</a:t>
            </a:r>
            <a:r>
              <a:rPr lang="en-US" sz="1800" dirty="0"/>
              <a:t> X., Xu Y. Development of Skip Connection in Deep Neural Networks for Computer Vision and Medical Image Analysis: A Survey [Electronic resource] // </a:t>
            </a:r>
            <a:r>
              <a:rPr lang="en-US" sz="1800" dirty="0" err="1"/>
              <a:t>arXiv</a:t>
            </a:r>
            <a:r>
              <a:rPr lang="en-US" sz="1800" dirty="0"/>
              <a:t> preprint. — 2024. — arXiv:2405.01725 [</a:t>
            </a:r>
            <a:r>
              <a:rPr lang="en-US" sz="1800" dirty="0" err="1"/>
              <a:t>eess.IV</a:t>
            </a:r>
            <a:r>
              <a:rPr lang="en-US" sz="1800" dirty="0"/>
              <a:t>]. — Version v1, 02 May 2024. — URL: </a:t>
            </a:r>
            <a:r>
              <a:rPr lang="en-US" sz="1800" dirty="0">
                <a:hlinkClick r:id="rId2"/>
              </a:rPr>
              <a:t>https://arxiv.org/abs/2405.01725</a:t>
            </a:r>
            <a:r>
              <a:rPr lang="en-US" sz="1800" dirty="0"/>
              <a:t>.</a:t>
            </a:r>
            <a:endParaRPr lang="ru-RU" sz="1800" dirty="0"/>
          </a:p>
          <a:p>
            <a:pPr marL="514350" indent="-514350">
              <a:buFont typeface="+mj-lt"/>
              <a:buAutoNum type="arabicPeriod"/>
            </a:pPr>
            <a:r>
              <a:rPr lang="en-US" sz="1800" dirty="0"/>
              <a:t>He K., Zhang X., Ren S., Sun J. Deep Residual Learning for Image Recognition [Electronic resource] // </a:t>
            </a:r>
            <a:r>
              <a:rPr lang="en-US" sz="1800" dirty="0" err="1"/>
              <a:t>arXiv</a:t>
            </a:r>
            <a:r>
              <a:rPr lang="en-US" sz="1800" dirty="0"/>
              <a:t> preprint. — 2015. — arXiv:1512.03385 [cs.CV]. — Version v1, 10 Dec 2015. — URL: https://arxiv.org/abs/1512.03385. — DOI: 10.48550/arXiv.1512.03385.</a:t>
            </a:r>
            <a:endParaRPr lang="ru-RU" sz="1800" dirty="0"/>
          </a:p>
          <a:p>
            <a:pPr marL="514350" indent="-514350">
              <a:buFont typeface="+mj-lt"/>
              <a:buAutoNum type="arabicPeriod"/>
            </a:pPr>
            <a:r>
              <a:rPr lang="en-US" sz="1800" dirty="0" err="1"/>
              <a:t>Kingma</a:t>
            </a:r>
            <a:r>
              <a:rPr lang="en-US" sz="1800" dirty="0"/>
              <a:t> D. P., Welling M. Auto-Encoding Variational Bayes [Electronic resource] // </a:t>
            </a:r>
            <a:r>
              <a:rPr lang="en-US" sz="1800" dirty="0" err="1"/>
              <a:t>arXiv</a:t>
            </a:r>
            <a:r>
              <a:rPr lang="en-US" sz="1800" dirty="0"/>
              <a:t> preprint. — 2022. — arXiv:1312.6114 [stat.ML]. — Version v11, last revised 10 Dec 2022; Originally submitted 20 Dec 2013. — URL: https://arxiv.org/abs/1312.6114.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32617007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80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6CFA95-7A10-41B6-8942-F3D5E49A0F89}"/>
              </a:ext>
            </a:extLst>
          </p:cNvPr>
          <p:cNvSpPr>
            <a:spLocks noGrp="1"/>
          </p:cNvSpPr>
          <p:nvPr>
            <p:ph type="title"/>
          </p:nvPr>
        </p:nvSpPr>
        <p:spPr>
          <a:custGeom>
            <a:avLst/>
            <a:gdLst>
              <a:gd name="connsiteX0" fmla="*/ 0 w 10515600"/>
              <a:gd name="connsiteY0" fmla="*/ 0 h 900000"/>
              <a:gd name="connsiteX1" fmla="*/ 341757 w 10515600"/>
              <a:gd name="connsiteY1" fmla="*/ 0 h 900000"/>
              <a:gd name="connsiteX2" fmla="*/ 683514 w 10515600"/>
              <a:gd name="connsiteY2" fmla="*/ 0 h 900000"/>
              <a:gd name="connsiteX3" fmla="*/ 1025271 w 10515600"/>
              <a:gd name="connsiteY3" fmla="*/ 0 h 900000"/>
              <a:gd name="connsiteX4" fmla="*/ 1892808 w 10515600"/>
              <a:gd name="connsiteY4" fmla="*/ 0 h 900000"/>
              <a:gd name="connsiteX5" fmla="*/ 2550033 w 10515600"/>
              <a:gd name="connsiteY5" fmla="*/ 0 h 900000"/>
              <a:gd name="connsiteX6" fmla="*/ 2891790 w 10515600"/>
              <a:gd name="connsiteY6" fmla="*/ 0 h 900000"/>
              <a:gd name="connsiteX7" fmla="*/ 3549015 w 10515600"/>
              <a:gd name="connsiteY7" fmla="*/ 0 h 900000"/>
              <a:gd name="connsiteX8" fmla="*/ 4416552 w 10515600"/>
              <a:gd name="connsiteY8" fmla="*/ 0 h 900000"/>
              <a:gd name="connsiteX9" fmla="*/ 4968621 w 10515600"/>
              <a:gd name="connsiteY9" fmla="*/ 0 h 900000"/>
              <a:gd name="connsiteX10" fmla="*/ 5520690 w 10515600"/>
              <a:gd name="connsiteY10" fmla="*/ 0 h 900000"/>
              <a:gd name="connsiteX11" fmla="*/ 6177915 w 10515600"/>
              <a:gd name="connsiteY11" fmla="*/ 0 h 900000"/>
              <a:gd name="connsiteX12" fmla="*/ 6940296 w 10515600"/>
              <a:gd name="connsiteY12" fmla="*/ 0 h 900000"/>
              <a:gd name="connsiteX13" fmla="*/ 7702677 w 10515600"/>
              <a:gd name="connsiteY13" fmla="*/ 0 h 900000"/>
              <a:gd name="connsiteX14" fmla="*/ 8465058 w 10515600"/>
              <a:gd name="connsiteY14" fmla="*/ 0 h 900000"/>
              <a:gd name="connsiteX15" fmla="*/ 9332595 w 10515600"/>
              <a:gd name="connsiteY15" fmla="*/ 0 h 900000"/>
              <a:gd name="connsiteX16" fmla="*/ 10515600 w 10515600"/>
              <a:gd name="connsiteY16" fmla="*/ 0 h 900000"/>
              <a:gd name="connsiteX17" fmla="*/ 10515600 w 10515600"/>
              <a:gd name="connsiteY17" fmla="*/ 459000 h 900000"/>
              <a:gd name="connsiteX18" fmla="*/ 10515600 w 10515600"/>
              <a:gd name="connsiteY18" fmla="*/ 900000 h 900000"/>
              <a:gd name="connsiteX19" fmla="*/ 9648063 w 10515600"/>
              <a:gd name="connsiteY19" fmla="*/ 900000 h 900000"/>
              <a:gd name="connsiteX20" fmla="*/ 8990838 w 10515600"/>
              <a:gd name="connsiteY20" fmla="*/ 900000 h 900000"/>
              <a:gd name="connsiteX21" fmla="*/ 8438769 w 10515600"/>
              <a:gd name="connsiteY21" fmla="*/ 900000 h 900000"/>
              <a:gd name="connsiteX22" fmla="*/ 7886700 w 10515600"/>
              <a:gd name="connsiteY22" fmla="*/ 900000 h 900000"/>
              <a:gd name="connsiteX23" fmla="*/ 7334631 w 10515600"/>
              <a:gd name="connsiteY23" fmla="*/ 900000 h 900000"/>
              <a:gd name="connsiteX24" fmla="*/ 6782562 w 10515600"/>
              <a:gd name="connsiteY24" fmla="*/ 900000 h 900000"/>
              <a:gd name="connsiteX25" fmla="*/ 6020181 w 10515600"/>
              <a:gd name="connsiteY25" fmla="*/ 900000 h 900000"/>
              <a:gd name="connsiteX26" fmla="*/ 5362956 w 10515600"/>
              <a:gd name="connsiteY26" fmla="*/ 900000 h 900000"/>
              <a:gd name="connsiteX27" fmla="*/ 5021199 w 10515600"/>
              <a:gd name="connsiteY27" fmla="*/ 900000 h 900000"/>
              <a:gd name="connsiteX28" fmla="*/ 4469130 w 10515600"/>
              <a:gd name="connsiteY28" fmla="*/ 900000 h 900000"/>
              <a:gd name="connsiteX29" fmla="*/ 3706749 w 10515600"/>
              <a:gd name="connsiteY29" fmla="*/ 900000 h 900000"/>
              <a:gd name="connsiteX30" fmla="*/ 3259836 w 10515600"/>
              <a:gd name="connsiteY30" fmla="*/ 900000 h 900000"/>
              <a:gd name="connsiteX31" fmla="*/ 2392299 w 10515600"/>
              <a:gd name="connsiteY31" fmla="*/ 900000 h 900000"/>
              <a:gd name="connsiteX32" fmla="*/ 1524762 w 10515600"/>
              <a:gd name="connsiteY32" fmla="*/ 900000 h 900000"/>
              <a:gd name="connsiteX33" fmla="*/ 867537 w 10515600"/>
              <a:gd name="connsiteY33" fmla="*/ 900000 h 900000"/>
              <a:gd name="connsiteX34" fmla="*/ 0 w 10515600"/>
              <a:gd name="connsiteY34" fmla="*/ 900000 h 900000"/>
              <a:gd name="connsiteX35" fmla="*/ 0 w 10515600"/>
              <a:gd name="connsiteY35" fmla="*/ 450000 h 900000"/>
              <a:gd name="connsiteX36" fmla="*/ 0 w 10515600"/>
              <a:gd name="connsiteY36" fmla="*/ 0 h 9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0515600" h="900000" fill="none" extrusionOk="0">
                <a:moveTo>
                  <a:pt x="0" y="0"/>
                </a:moveTo>
                <a:cubicBezTo>
                  <a:pt x="98888" y="9007"/>
                  <a:pt x="259424" y="11771"/>
                  <a:pt x="341757" y="0"/>
                </a:cubicBezTo>
                <a:cubicBezTo>
                  <a:pt x="424090" y="-11771"/>
                  <a:pt x="519058" y="12003"/>
                  <a:pt x="683514" y="0"/>
                </a:cubicBezTo>
                <a:cubicBezTo>
                  <a:pt x="847970" y="-12003"/>
                  <a:pt x="894690" y="9887"/>
                  <a:pt x="1025271" y="0"/>
                </a:cubicBezTo>
                <a:cubicBezTo>
                  <a:pt x="1155852" y="-9887"/>
                  <a:pt x="1573394" y="3827"/>
                  <a:pt x="1892808" y="0"/>
                </a:cubicBezTo>
                <a:cubicBezTo>
                  <a:pt x="2212222" y="-3827"/>
                  <a:pt x="2391278" y="-6233"/>
                  <a:pt x="2550033" y="0"/>
                </a:cubicBezTo>
                <a:cubicBezTo>
                  <a:pt x="2708789" y="6233"/>
                  <a:pt x="2754491" y="5661"/>
                  <a:pt x="2891790" y="0"/>
                </a:cubicBezTo>
                <a:cubicBezTo>
                  <a:pt x="3029089" y="-5661"/>
                  <a:pt x="3390996" y="26022"/>
                  <a:pt x="3549015" y="0"/>
                </a:cubicBezTo>
                <a:cubicBezTo>
                  <a:pt x="3707035" y="-26022"/>
                  <a:pt x="4087327" y="32230"/>
                  <a:pt x="4416552" y="0"/>
                </a:cubicBezTo>
                <a:cubicBezTo>
                  <a:pt x="4745777" y="-32230"/>
                  <a:pt x="4788838" y="3064"/>
                  <a:pt x="4968621" y="0"/>
                </a:cubicBezTo>
                <a:cubicBezTo>
                  <a:pt x="5148404" y="-3064"/>
                  <a:pt x="5377712" y="-21096"/>
                  <a:pt x="5520690" y="0"/>
                </a:cubicBezTo>
                <a:cubicBezTo>
                  <a:pt x="5663668" y="21096"/>
                  <a:pt x="5953400" y="17386"/>
                  <a:pt x="6177915" y="0"/>
                </a:cubicBezTo>
                <a:cubicBezTo>
                  <a:pt x="6402430" y="-17386"/>
                  <a:pt x="6770921" y="-35143"/>
                  <a:pt x="6940296" y="0"/>
                </a:cubicBezTo>
                <a:cubicBezTo>
                  <a:pt x="7109671" y="35143"/>
                  <a:pt x="7403073" y="4103"/>
                  <a:pt x="7702677" y="0"/>
                </a:cubicBezTo>
                <a:cubicBezTo>
                  <a:pt x="8002281" y="-4103"/>
                  <a:pt x="8221175" y="16641"/>
                  <a:pt x="8465058" y="0"/>
                </a:cubicBezTo>
                <a:cubicBezTo>
                  <a:pt x="8708941" y="-16641"/>
                  <a:pt x="8952466" y="-9276"/>
                  <a:pt x="9332595" y="0"/>
                </a:cubicBezTo>
                <a:cubicBezTo>
                  <a:pt x="9712724" y="9276"/>
                  <a:pt x="9950442" y="3063"/>
                  <a:pt x="10515600" y="0"/>
                </a:cubicBezTo>
                <a:cubicBezTo>
                  <a:pt x="10513857" y="170794"/>
                  <a:pt x="10497973" y="322437"/>
                  <a:pt x="10515600" y="459000"/>
                </a:cubicBezTo>
                <a:cubicBezTo>
                  <a:pt x="10533227" y="595563"/>
                  <a:pt x="10525869" y="774556"/>
                  <a:pt x="10515600" y="900000"/>
                </a:cubicBezTo>
                <a:cubicBezTo>
                  <a:pt x="10122172" y="912447"/>
                  <a:pt x="9852726" y="875678"/>
                  <a:pt x="9648063" y="900000"/>
                </a:cubicBezTo>
                <a:cubicBezTo>
                  <a:pt x="9443400" y="924322"/>
                  <a:pt x="9242928" y="879199"/>
                  <a:pt x="8990838" y="900000"/>
                </a:cubicBezTo>
                <a:cubicBezTo>
                  <a:pt x="8738749" y="920801"/>
                  <a:pt x="8553955" y="914335"/>
                  <a:pt x="8438769" y="900000"/>
                </a:cubicBezTo>
                <a:cubicBezTo>
                  <a:pt x="8323583" y="885665"/>
                  <a:pt x="8114825" y="880515"/>
                  <a:pt x="7886700" y="900000"/>
                </a:cubicBezTo>
                <a:cubicBezTo>
                  <a:pt x="7658575" y="919485"/>
                  <a:pt x="7473371" y="907793"/>
                  <a:pt x="7334631" y="900000"/>
                </a:cubicBezTo>
                <a:cubicBezTo>
                  <a:pt x="7195891" y="892207"/>
                  <a:pt x="7020454" y="916195"/>
                  <a:pt x="6782562" y="900000"/>
                </a:cubicBezTo>
                <a:cubicBezTo>
                  <a:pt x="6544670" y="883805"/>
                  <a:pt x="6283429" y="914450"/>
                  <a:pt x="6020181" y="900000"/>
                </a:cubicBezTo>
                <a:cubicBezTo>
                  <a:pt x="5756933" y="885550"/>
                  <a:pt x="5572314" y="899246"/>
                  <a:pt x="5362956" y="900000"/>
                </a:cubicBezTo>
                <a:cubicBezTo>
                  <a:pt x="5153599" y="900754"/>
                  <a:pt x="5103186" y="912655"/>
                  <a:pt x="5021199" y="900000"/>
                </a:cubicBezTo>
                <a:cubicBezTo>
                  <a:pt x="4939212" y="887345"/>
                  <a:pt x="4631121" y="918435"/>
                  <a:pt x="4469130" y="900000"/>
                </a:cubicBezTo>
                <a:cubicBezTo>
                  <a:pt x="4307139" y="881565"/>
                  <a:pt x="4042980" y="908369"/>
                  <a:pt x="3706749" y="900000"/>
                </a:cubicBezTo>
                <a:cubicBezTo>
                  <a:pt x="3370518" y="891631"/>
                  <a:pt x="3442573" y="888273"/>
                  <a:pt x="3259836" y="900000"/>
                </a:cubicBezTo>
                <a:cubicBezTo>
                  <a:pt x="3077099" y="911727"/>
                  <a:pt x="2633437" y="921735"/>
                  <a:pt x="2392299" y="900000"/>
                </a:cubicBezTo>
                <a:cubicBezTo>
                  <a:pt x="2151161" y="878265"/>
                  <a:pt x="1796705" y="896854"/>
                  <a:pt x="1524762" y="900000"/>
                </a:cubicBezTo>
                <a:cubicBezTo>
                  <a:pt x="1252819" y="903146"/>
                  <a:pt x="1086366" y="907014"/>
                  <a:pt x="867537" y="900000"/>
                </a:cubicBezTo>
                <a:cubicBezTo>
                  <a:pt x="648708" y="892986"/>
                  <a:pt x="251816" y="906274"/>
                  <a:pt x="0" y="900000"/>
                </a:cubicBezTo>
                <a:cubicBezTo>
                  <a:pt x="-6729" y="754568"/>
                  <a:pt x="13876" y="595294"/>
                  <a:pt x="0" y="450000"/>
                </a:cubicBezTo>
                <a:cubicBezTo>
                  <a:pt x="-13876" y="304706"/>
                  <a:pt x="15929" y="121567"/>
                  <a:pt x="0" y="0"/>
                </a:cubicBezTo>
                <a:close/>
              </a:path>
              <a:path w="10515600" h="900000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07640" y="155647"/>
                  <a:pt x="10538911" y="284261"/>
                  <a:pt x="10515600" y="468000"/>
                </a:cubicBezTo>
                <a:cubicBezTo>
                  <a:pt x="10492289" y="651739"/>
                  <a:pt x="10511931" y="780597"/>
                  <a:pt x="10515600" y="900000"/>
                </a:cubicBezTo>
                <a:cubicBezTo>
                  <a:pt x="10305681" y="888585"/>
                  <a:pt x="10050108" y="896420"/>
                  <a:pt x="9753219" y="900000"/>
                </a:cubicBezTo>
                <a:cubicBezTo>
                  <a:pt x="9456330" y="903580"/>
                  <a:pt x="9525512" y="916675"/>
                  <a:pt x="9306306" y="900000"/>
                </a:cubicBezTo>
                <a:cubicBezTo>
                  <a:pt x="9087100" y="883325"/>
                  <a:pt x="8620907" y="934261"/>
                  <a:pt x="8438769" y="900000"/>
                </a:cubicBezTo>
                <a:cubicBezTo>
                  <a:pt x="8256631" y="865739"/>
                  <a:pt x="7950474" y="932124"/>
                  <a:pt x="7781544" y="900000"/>
                </a:cubicBezTo>
                <a:cubicBezTo>
                  <a:pt x="7612615" y="867876"/>
                  <a:pt x="7496249" y="899594"/>
                  <a:pt x="7334631" y="900000"/>
                </a:cubicBezTo>
                <a:cubicBezTo>
                  <a:pt x="7173013" y="900406"/>
                  <a:pt x="6878574" y="923742"/>
                  <a:pt x="6677406" y="900000"/>
                </a:cubicBezTo>
                <a:cubicBezTo>
                  <a:pt x="6476238" y="876258"/>
                  <a:pt x="6439581" y="883638"/>
                  <a:pt x="6335649" y="900000"/>
                </a:cubicBezTo>
                <a:cubicBezTo>
                  <a:pt x="6231717" y="916362"/>
                  <a:pt x="6135578" y="906666"/>
                  <a:pt x="5993892" y="900000"/>
                </a:cubicBezTo>
                <a:cubicBezTo>
                  <a:pt x="5852206" y="893334"/>
                  <a:pt x="5510139" y="868918"/>
                  <a:pt x="5336667" y="900000"/>
                </a:cubicBezTo>
                <a:cubicBezTo>
                  <a:pt x="5163196" y="931082"/>
                  <a:pt x="4995694" y="893930"/>
                  <a:pt x="4889754" y="900000"/>
                </a:cubicBezTo>
                <a:cubicBezTo>
                  <a:pt x="4783814" y="906070"/>
                  <a:pt x="4495120" y="905592"/>
                  <a:pt x="4127373" y="900000"/>
                </a:cubicBezTo>
                <a:cubicBezTo>
                  <a:pt x="3759626" y="894408"/>
                  <a:pt x="3886665" y="902408"/>
                  <a:pt x="3680460" y="900000"/>
                </a:cubicBezTo>
                <a:cubicBezTo>
                  <a:pt x="3474255" y="897592"/>
                  <a:pt x="3123909" y="918515"/>
                  <a:pt x="2918079" y="900000"/>
                </a:cubicBezTo>
                <a:cubicBezTo>
                  <a:pt x="2712249" y="881485"/>
                  <a:pt x="2688971" y="886697"/>
                  <a:pt x="2576322" y="900000"/>
                </a:cubicBezTo>
                <a:cubicBezTo>
                  <a:pt x="2463673" y="913303"/>
                  <a:pt x="2127678" y="921649"/>
                  <a:pt x="1813941" y="900000"/>
                </a:cubicBezTo>
                <a:cubicBezTo>
                  <a:pt x="1500204" y="878351"/>
                  <a:pt x="1545667" y="910505"/>
                  <a:pt x="1367028" y="900000"/>
                </a:cubicBezTo>
                <a:cubicBezTo>
                  <a:pt x="1188389" y="889495"/>
                  <a:pt x="1188334" y="890564"/>
                  <a:pt x="1025271" y="900000"/>
                </a:cubicBezTo>
                <a:cubicBezTo>
                  <a:pt x="862208" y="909436"/>
                  <a:pt x="759610" y="910044"/>
                  <a:pt x="578358" y="900000"/>
                </a:cubicBezTo>
                <a:cubicBezTo>
                  <a:pt x="397106" y="889956"/>
                  <a:pt x="120249" y="880279"/>
                  <a:pt x="0" y="900000"/>
                </a:cubicBezTo>
                <a:cubicBezTo>
                  <a:pt x="-19541" y="744494"/>
                  <a:pt x="-15683" y="674942"/>
                  <a:pt x="0" y="468000"/>
                </a:cubicBezTo>
                <a:cubicBezTo>
                  <a:pt x="15683" y="261058"/>
                  <a:pt x="-3615" y="143737"/>
                  <a:pt x="0" y="0"/>
                </a:cubicBezTo>
                <a:close/>
              </a:path>
            </a:pathLst>
          </a:custGeom>
          <a:solidFill>
            <a:schemeClr val="bg1"/>
          </a:solidFill>
          <a:ln w="88900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sk:type>
                    <ask:lineSketchFreehand/>
                  </ask:type>
                </ask:lineSketchStyleProps>
              </a:ext>
            </a:extLst>
          </a:ln>
        </p:spPr>
        <p:txBody>
          <a:bodyPr>
            <a:normAutofit/>
          </a:bodyPr>
          <a:lstStyle/>
          <a:p>
            <a:pPr algn="ctr"/>
            <a:r>
              <a:rPr lang="ru-RU" sz="5400" b="1" dirty="0">
                <a:solidFill>
                  <a:srgbClr val="072722"/>
                </a:solidFill>
              </a:rPr>
              <a:t>Статьи про </a:t>
            </a:r>
            <a:r>
              <a:rPr lang="ru-RU" sz="5400" b="1" dirty="0" err="1">
                <a:solidFill>
                  <a:srgbClr val="072722"/>
                </a:solidFill>
              </a:rPr>
              <a:t>автоэнкодеры</a:t>
            </a:r>
            <a:r>
              <a:rPr lang="ru-RU" sz="5400" b="1" dirty="0"/>
              <a:t>:</a:t>
            </a:r>
            <a:endParaRPr lang="ru-RU" sz="5400" b="1" dirty="0">
              <a:solidFill>
                <a:srgbClr val="072722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E0986A-FA8E-4FD5-941E-3FE659951802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txBody>
          <a:bodyPr anchor="ctr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1800" dirty="0"/>
              <a:t>Cui Y., Liu Z., Lian S. Patch-wise Auto-Encoder for Visual Anomaly Detection [Electronic resource] // </a:t>
            </a:r>
            <a:r>
              <a:rPr lang="en-US" sz="1800" dirty="0" err="1"/>
              <a:t>arXiv</a:t>
            </a:r>
            <a:r>
              <a:rPr lang="en-US" sz="1800" dirty="0"/>
              <a:t> preprint. — 2024. — arXiv:2308.00429 [cs.CV]. — Version v2, 14 Aug 2024. — URL: </a:t>
            </a:r>
            <a:r>
              <a:rPr lang="en-US" sz="1800" dirty="0">
                <a:hlinkClick r:id="rId2"/>
              </a:rPr>
              <a:t>https://arxiv.org/abs/2308.00429</a:t>
            </a:r>
            <a:r>
              <a:rPr lang="en-US" sz="1800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dirty="0" err="1"/>
              <a:t>Kosko</a:t>
            </a:r>
            <a:r>
              <a:rPr lang="en-US" sz="1800" dirty="0"/>
              <a:t> B., Adigun O. Bidirectional Variational Autoencoders [Electronic resource] // </a:t>
            </a:r>
            <a:r>
              <a:rPr lang="en-US" sz="1800" dirty="0" err="1"/>
              <a:t>arXiv</a:t>
            </a:r>
            <a:r>
              <a:rPr lang="en-US" sz="1800" dirty="0"/>
              <a:t> preprint. — 2025. — arXiv:2505.16074 [</a:t>
            </a:r>
            <a:r>
              <a:rPr lang="en-US" sz="1800" dirty="0" err="1"/>
              <a:t>cs.LG</a:t>
            </a:r>
            <a:r>
              <a:rPr lang="en-US" sz="1800" dirty="0"/>
              <a:t>]. — Version v1, 21 May 2025. — URL: </a:t>
            </a:r>
            <a:r>
              <a:rPr lang="en-US" sz="1800" dirty="0">
                <a:hlinkClick r:id="rId3"/>
              </a:rPr>
              <a:t>https://arxiv.org/abs/2505.16074</a:t>
            </a:r>
            <a:r>
              <a:rPr lang="en-US" sz="1800" dirty="0"/>
              <a:t>.</a:t>
            </a:r>
            <a:endParaRPr lang="ru-RU" sz="1800" dirty="0"/>
          </a:p>
          <a:p>
            <a:pPr marL="514350" indent="-514350">
              <a:buFont typeface="+mj-lt"/>
              <a:buAutoNum type="arabicPeriod"/>
            </a:pPr>
            <a:r>
              <a:rPr lang="en-US" sz="1800" dirty="0" err="1"/>
              <a:t>Walczyna</a:t>
            </a:r>
            <a:r>
              <a:rPr lang="en-US" sz="1800" dirty="0"/>
              <a:t> T., Jankowski D., Piotrowski Z. Enhancing Anomaly Detection Through Latent Space Manipulation in Autoencoders: A Comparative Analysis // Applied Sciences. — 2025. — Vol. 15, No. 1. — P. 286. — DOI: 10.3390/app15010286.</a:t>
            </a:r>
            <a:endParaRPr lang="ru-RU" sz="1800" dirty="0"/>
          </a:p>
          <a:p>
            <a:pPr marL="514350" indent="-514350">
              <a:buFont typeface="+mj-lt"/>
              <a:buAutoNum type="arabicPeriod"/>
            </a:pPr>
            <a:r>
              <a:rPr lang="en-US" sz="1800" dirty="0"/>
              <a:t>Chandra R., Grover S., Lee K., </a:t>
            </a:r>
            <a:r>
              <a:rPr lang="en-US" sz="1800" dirty="0" err="1"/>
              <a:t>Meshry</a:t>
            </a:r>
            <a:r>
              <a:rPr lang="en-US" sz="1800" dirty="0"/>
              <a:t> M., Taha A. Texture Synthesis with Recurrent Variational Auto-Encoder [Electronic resource] // </a:t>
            </a:r>
            <a:r>
              <a:rPr lang="en-US" sz="1800" dirty="0" err="1"/>
              <a:t>arXiv</a:t>
            </a:r>
            <a:r>
              <a:rPr lang="en-US" sz="1800" dirty="0"/>
              <a:t> preprint. — 2017. — arXiv:1712.08838 [cs.CV]. — URL: https://arxiv.org/abs/1712.08838 (date of access: 23.12.2017).</a:t>
            </a:r>
            <a:endParaRPr lang="ru-RU" sz="1800" dirty="0"/>
          </a:p>
          <a:p>
            <a:pPr marL="514350" indent="-514350">
              <a:buFont typeface="+mj-lt"/>
              <a:buAutoNum type="arabicPeriod"/>
            </a:pPr>
            <a:r>
              <a:rPr lang="en-US" sz="1800" dirty="0" err="1"/>
              <a:t>Doersch</a:t>
            </a:r>
            <a:r>
              <a:rPr lang="en-US" sz="1800" dirty="0"/>
              <a:t>, C. Tutorial on Variational Autoencoders [</a:t>
            </a:r>
            <a:r>
              <a:rPr lang="ru-RU" sz="1800" dirty="0"/>
              <a:t>Электронный ресурс] / </a:t>
            </a:r>
            <a:r>
              <a:rPr lang="en-US" sz="1800" dirty="0"/>
              <a:t>C. </a:t>
            </a:r>
            <a:r>
              <a:rPr lang="en-US" sz="1800" dirty="0" err="1"/>
              <a:t>Doersch</a:t>
            </a:r>
            <a:r>
              <a:rPr lang="en-US" sz="1800" dirty="0"/>
              <a:t>. — 2021. — </a:t>
            </a:r>
            <a:r>
              <a:rPr lang="ru-RU" sz="1800" dirty="0"/>
              <a:t>Режим доступа: </a:t>
            </a:r>
            <a:r>
              <a:rPr lang="en-US" sz="1800" dirty="0"/>
              <a:t>https://arxiv.org/abs/1606.05030. — </a:t>
            </a:r>
            <a:r>
              <a:rPr lang="ru-RU" sz="1800" dirty="0"/>
              <a:t>Дата доступа: 02.12.2022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5841209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80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EC511C-6A96-473D-82D8-57747B9E78F5}"/>
              </a:ext>
            </a:extLst>
          </p:cNvPr>
          <p:cNvSpPr>
            <a:spLocks noGrp="1"/>
          </p:cNvSpPr>
          <p:nvPr>
            <p:ph type="title"/>
          </p:nvPr>
        </p:nvSpPr>
        <p:spPr>
          <a:custGeom>
            <a:avLst/>
            <a:gdLst>
              <a:gd name="connsiteX0" fmla="*/ 0 w 10515600"/>
              <a:gd name="connsiteY0" fmla="*/ 0 h 900000"/>
              <a:gd name="connsiteX1" fmla="*/ 341757 w 10515600"/>
              <a:gd name="connsiteY1" fmla="*/ 0 h 900000"/>
              <a:gd name="connsiteX2" fmla="*/ 683514 w 10515600"/>
              <a:gd name="connsiteY2" fmla="*/ 0 h 900000"/>
              <a:gd name="connsiteX3" fmla="*/ 1025271 w 10515600"/>
              <a:gd name="connsiteY3" fmla="*/ 0 h 900000"/>
              <a:gd name="connsiteX4" fmla="*/ 1892808 w 10515600"/>
              <a:gd name="connsiteY4" fmla="*/ 0 h 900000"/>
              <a:gd name="connsiteX5" fmla="*/ 2550033 w 10515600"/>
              <a:gd name="connsiteY5" fmla="*/ 0 h 900000"/>
              <a:gd name="connsiteX6" fmla="*/ 2891790 w 10515600"/>
              <a:gd name="connsiteY6" fmla="*/ 0 h 900000"/>
              <a:gd name="connsiteX7" fmla="*/ 3549015 w 10515600"/>
              <a:gd name="connsiteY7" fmla="*/ 0 h 900000"/>
              <a:gd name="connsiteX8" fmla="*/ 4416552 w 10515600"/>
              <a:gd name="connsiteY8" fmla="*/ 0 h 900000"/>
              <a:gd name="connsiteX9" fmla="*/ 4968621 w 10515600"/>
              <a:gd name="connsiteY9" fmla="*/ 0 h 900000"/>
              <a:gd name="connsiteX10" fmla="*/ 5520690 w 10515600"/>
              <a:gd name="connsiteY10" fmla="*/ 0 h 900000"/>
              <a:gd name="connsiteX11" fmla="*/ 6177915 w 10515600"/>
              <a:gd name="connsiteY11" fmla="*/ 0 h 900000"/>
              <a:gd name="connsiteX12" fmla="*/ 6940296 w 10515600"/>
              <a:gd name="connsiteY12" fmla="*/ 0 h 900000"/>
              <a:gd name="connsiteX13" fmla="*/ 7702677 w 10515600"/>
              <a:gd name="connsiteY13" fmla="*/ 0 h 900000"/>
              <a:gd name="connsiteX14" fmla="*/ 8465058 w 10515600"/>
              <a:gd name="connsiteY14" fmla="*/ 0 h 900000"/>
              <a:gd name="connsiteX15" fmla="*/ 9332595 w 10515600"/>
              <a:gd name="connsiteY15" fmla="*/ 0 h 900000"/>
              <a:gd name="connsiteX16" fmla="*/ 10515600 w 10515600"/>
              <a:gd name="connsiteY16" fmla="*/ 0 h 900000"/>
              <a:gd name="connsiteX17" fmla="*/ 10515600 w 10515600"/>
              <a:gd name="connsiteY17" fmla="*/ 459000 h 900000"/>
              <a:gd name="connsiteX18" fmla="*/ 10515600 w 10515600"/>
              <a:gd name="connsiteY18" fmla="*/ 900000 h 900000"/>
              <a:gd name="connsiteX19" fmla="*/ 9648063 w 10515600"/>
              <a:gd name="connsiteY19" fmla="*/ 900000 h 900000"/>
              <a:gd name="connsiteX20" fmla="*/ 8990838 w 10515600"/>
              <a:gd name="connsiteY20" fmla="*/ 900000 h 900000"/>
              <a:gd name="connsiteX21" fmla="*/ 8438769 w 10515600"/>
              <a:gd name="connsiteY21" fmla="*/ 900000 h 900000"/>
              <a:gd name="connsiteX22" fmla="*/ 7886700 w 10515600"/>
              <a:gd name="connsiteY22" fmla="*/ 900000 h 900000"/>
              <a:gd name="connsiteX23" fmla="*/ 7334631 w 10515600"/>
              <a:gd name="connsiteY23" fmla="*/ 900000 h 900000"/>
              <a:gd name="connsiteX24" fmla="*/ 6782562 w 10515600"/>
              <a:gd name="connsiteY24" fmla="*/ 900000 h 900000"/>
              <a:gd name="connsiteX25" fmla="*/ 6020181 w 10515600"/>
              <a:gd name="connsiteY25" fmla="*/ 900000 h 900000"/>
              <a:gd name="connsiteX26" fmla="*/ 5362956 w 10515600"/>
              <a:gd name="connsiteY26" fmla="*/ 900000 h 900000"/>
              <a:gd name="connsiteX27" fmla="*/ 5021199 w 10515600"/>
              <a:gd name="connsiteY27" fmla="*/ 900000 h 900000"/>
              <a:gd name="connsiteX28" fmla="*/ 4469130 w 10515600"/>
              <a:gd name="connsiteY28" fmla="*/ 900000 h 900000"/>
              <a:gd name="connsiteX29" fmla="*/ 3706749 w 10515600"/>
              <a:gd name="connsiteY29" fmla="*/ 900000 h 900000"/>
              <a:gd name="connsiteX30" fmla="*/ 3259836 w 10515600"/>
              <a:gd name="connsiteY30" fmla="*/ 900000 h 900000"/>
              <a:gd name="connsiteX31" fmla="*/ 2392299 w 10515600"/>
              <a:gd name="connsiteY31" fmla="*/ 900000 h 900000"/>
              <a:gd name="connsiteX32" fmla="*/ 1524762 w 10515600"/>
              <a:gd name="connsiteY32" fmla="*/ 900000 h 900000"/>
              <a:gd name="connsiteX33" fmla="*/ 867537 w 10515600"/>
              <a:gd name="connsiteY33" fmla="*/ 900000 h 900000"/>
              <a:gd name="connsiteX34" fmla="*/ 0 w 10515600"/>
              <a:gd name="connsiteY34" fmla="*/ 900000 h 900000"/>
              <a:gd name="connsiteX35" fmla="*/ 0 w 10515600"/>
              <a:gd name="connsiteY35" fmla="*/ 450000 h 900000"/>
              <a:gd name="connsiteX36" fmla="*/ 0 w 10515600"/>
              <a:gd name="connsiteY36" fmla="*/ 0 h 9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0515600" h="900000" fill="none" extrusionOk="0">
                <a:moveTo>
                  <a:pt x="0" y="0"/>
                </a:moveTo>
                <a:cubicBezTo>
                  <a:pt x="98888" y="9007"/>
                  <a:pt x="259424" y="11771"/>
                  <a:pt x="341757" y="0"/>
                </a:cubicBezTo>
                <a:cubicBezTo>
                  <a:pt x="424090" y="-11771"/>
                  <a:pt x="519058" y="12003"/>
                  <a:pt x="683514" y="0"/>
                </a:cubicBezTo>
                <a:cubicBezTo>
                  <a:pt x="847970" y="-12003"/>
                  <a:pt x="894690" y="9887"/>
                  <a:pt x="1025271" y="0"/>
                </a:cubicBezTo>
                <a:cubicBezTo>
                  <a:pt x="1155852" y="-9887"/>
                  <a:pt x="1573394" y="3827"/>
                  <a:pt x="1892808" y="0"/>
                </a:cubicBezTo>
                <a:cubicBezTo>
                  <a:pt x="2212222" y="-3827"/>
                  <a:pt x="2391278" y="-6233"/>
                  <a:pt x="2550033" y="0"/>
                </a:cubicBezTo>
                <a:cubicBezTo>
                  <a:pt x="2708789" y="6233"/>
                  <a:pt x="2754491" y="5661"/>
                  <a:pt x="2891790" y="0"/>
                </a:cubicBezTo>
                <a:cubicBezTo>
                  <a:pt x="3029089" y="-5661"/>
                  <a:pt x="3390996" y="26022"/>
                  <a:pt x="3549015" y="0"/>
                </a:cubicBezTo>
                <a:cubicBezTo>
                  <a:pt x="3707035" y="-26022"/>
                  <a:pt x="4087327" y="32230"/>
                  <a:pt x="4416552" y="0"/>
                </a:cubicBezTo>
                <a:cubicBezTo>
                  <a:pt x="4745777" y="-32230"/>
                  <a:pt x="4788838" y="3064"/>
                  <a:pt x="4968621" y="0"/>
                </a:cubicBezTo>
                <a:cubicBezTo>
                  <a:pt x="5148404" y="-3064"/>
                  <a:pt x="5377712" y="-21096"/>
                  <a:pt x="5520690" y="0"/>
                </a:cubicBezTo>
                <a:cubicBezTo>
                  <a:pt x="5663668" y="21096"/>
                  <a:pt x="5953400" y="17386"/>
                  <a:pt x="6177915" y="0"/>
                </a:cubicBezTo>
                <a:cubicBezTo>
                  <a:pt x="6402430" y="-17386"/>
                  <a:pt x="6770921" y="-35143"/>
                  <a:pt x="6940296" y="0"/>
                </a:cubicBezTo>
                <a:cubicBezTo>
                  <a:pt x="7109671" y="35143"/>
                  <a:pt x="7403073" y="4103"/>
                  <a:pt x="7702677" y="0"/>
                </a:cubicBezTo>
                <a:cubicBezTo>
                  <a:pt x="8002281" y="-4103"/>
                  <a:pt x="8221175" y="16641"/>
                  <a:pt x="8465058" y="0"/>
                </a:cubicBezTo>
                <a:cubicBezTo>
                  <a:pt x="8708941" y="-16641"/>
                  <a:pt x="8952466" y="-9276"/>
                  <a:pt x="9332595" y="0"/>
                </a:cubicBezTo>
                <a:cubicBezTo>
                  <a:pt x="9712724" y="9276"/>
                  <a:pt x="9950442" y="3063"/>
                  <a:pt x="10515600" y="0"/>
                </a:cubicBezTo>
                <a:cubicBezTo>
                  <a:pt x="10513857" y="170794"/>
                  <a:pt x="10497973" y="322437"/>
                  <a:pt x="10515600" y="459000"/>
                </a:cubicBezTo>
                <a:cubicBezTo>
                  <a:pt x="10533227" y="595563"/>
                  <a:pt x="10525869" y="774556"/>
                  <a:pt x="10515600" y="900000"/>
                </a:cubicBezTo>
                <a:cubicBezTo>
                  <a:pt x="10122172" y="912447"/>
                  <a:pt x="9852726" y="875678"/>
                  <a:pt x="9648063" y="900000"/>
                </a:cubicBezTo>
                <a:cubicBezTo>
                  <a:pt x="9443400" y="924322"/>
                  <a:pt x="9242928" y="879199"/>
                  <a:pt x="8990838" y="900000"/>
                </a:cubicBezTo>
                <a:cubicBezTo>
                  <a:pt x="8738749" y="920801"/>
                  <a:pt x="8553955" y="914335"/>
                  <a:pt x="8438769" y="900000"/>
                </a:cubicBezTo>
                <a:cubicBezTo>
                  <a:pt x="8323583" y="885665"/>
                  <a:pt x="8114825" y="880515"/>
                  <a:pt x="7886700" y="900000"/>
                </a:cubicBezTo>
                <a:cubicBezTo>
                  <a:pt x="7658575" y="919485"/>
                  <a:pt x="7473371" y="907793"/>
                  <a:pt x="7334631" y="900000"/>
                </a:cubicBezTo>
                <a:cubicBezTo>
                  <a:pt x="7195891" y="892207"/>
                  <a:pt x="7020454" y="916195"/>
                  <a:pt x="6782562" y="900000"/>
                </a:cubicBezTo>
                <a:cubicBezTo>
                  <a:pt x="6544670" y="883805"/>
                  <a:pt x="6283429" y="914450"/>
                  <a:pt x="6020181" y="900000"/>
                </a:cubicBezTo>
                <a:cubicBezTo>
                  <a:pt x="5756933" y="885550"/>
                  <a:pt x="5572314" y="899246"/>
                  <a:pt x="5362956" y="900000"/>
                </a:cubicBezTo>
                <a:cubicBezTo>
                  <a:pt x="5153599" y="900754"/>
                  <a:pt x="5103186" y="912655"/>
                  <a:pt x="5021199" y="900000"/>
                </a:cubicBezTo>
                <a:cubicBezTo>
                  <a:pt x="4939212" y="887345"/>
                  <a:pt x="4631121" y="918435"/>
                  <a:pt x="4469130" y="900000"/>
                </a:cubicBezTo>
                <a:cubicBezTo>
                  <a:pt x="4307139" y="881565"/>
                  <a:pt x="4042980" y="908369"/>
                  <a:pt x="3706749" y="900000"/>
                </a:cubicBezTo>
                <a:cubicBezTo>
                  <a:pt x="3370518" y="891631"/>
                  <a:pt x="3442573" y="888273"/>
                  <a:pt x="3259836" y="900000"/>
                </a:cubicBezTo>
                <a:cubicBezTo>
                  <a:pt x="3077099" y="911727"/>
                  <a:pt x="2633437" y="921735"/>
                  <a:pt x="2392299" y="900000"/>
                </a:cubicBezTo>
                <a:cubicBezTo>
                  <a:pt x="2151161" y="878265"/>
                  <a:pt x="1796705" y="896854"/>
                  <a:pt x="1524762" y="900000"/>
                </a:cubicBezTo>
                <a:cubicBezTo>
                  <a:pt x="1252819" y="903146"/>
                  <a:pt x="1086366" y="907014"/>
                  <a:pt x="867537" y="900000"/>
                </a:cubicBezTo>
                <a:cubicBezTo>
                  <a:pt x="648708" y="892986"/>
                  <a:pt x="251816" y="906274"/>
                  <a:pt x="0" y="900000"/>
                </a:cubicBezTo>
                <a:cubicBezTo>
                  <a:pt x="-6729" y="754568"/>
                  <a:pt x="13876" y="595294"/>
                  <a:pt x="0" y="450000"/>
                </a:cubicBezTo>
                <a:cubicBezTo>
                  <a:pt x="-13876" y="304706"/>
                  <a:pt x="15929" y="121567"/>
                  <a:pt x="0" y="0"/>
                </a:cubicBezTo>
                <a:close/>
              </a:path>
              <a:path w="10515600" h="900000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07640" y="155647"/>
                  <a:pt x="10538911" y="284261"/>
                  <a:pt x="10515600" y="468000"/>
                </a:cubicBezTo>
                <a:cubicBezTo>
                  <a:pt x="10492289" y="651739"/>
                  <a:pt x="10511931" y="780597"/>
                  <a:pt x="10515600" y="900000"/>
                </a:cubicBezTo>
                <a:cubicBezTo>
                  <a:pt x="10305681" y="888585"/>
                  <a:pt x="10050108" y="896420"/>
                  <a:pt x="9753219" y="900000"/>
                </a:cubicBezTo>
                <a:cubicBezTo>
                  <a:pt x="9456330" y="903580"/>
                  <a:pt x="9525512" y="916675"/>
                  <a:pt x="9306306" y="900000"/>
                </a:cubicBezTo>
                <a:cubicBezTo>
                  <a:pt x="9087100" y="883325"/>
                  <a:pt x="8620907" y="934261"/>
                  <a:pt x="8438769" y="900000"/>
                </a:cubicBezTo>
                <a:cubicBezTo>
                  <a:pt x="8256631" y="865739"/>
                  <a:pt x="7950474" y="932124"/>
                  <a:pt x="7781544" y="900000"/>
                </a:cubicBezTo>
                <a:cubicBezTo>
                  <a:pt x="7612615" y="867876"/>
                  <a:pt x="7496249" y="899594"/>
                  <a:pt x="7334631" y="900000"/>
                </a:cubicBezTo>
                <a:cubicBezTo>
                  <a:pt x="7173013" y="900406"/>
                  <a:pt x="6878574" y="923742"/>
                  <a:pt x="6677406" y="900000"/>
                </a:cubicBezTo>
                <a:cubicBezTo>
                  <a:pt x="6476238" y="876258"/>
                  <a:pt x="6439581" y="883638"/>
                  <a:pt x="6335649" y="900000"/>
                </a:cubicBezTo>
                <a:cubicBezTo>
                  <a:pt x="6231717" y="916362"/>
                  <a:pt x="6135578" y="906666"/>
                  <a:pt x="5993892" y="900000"/>
                </a:cubicBezTo>
                <a:cubicBezTo>
                  <a:pt x="5852206" y="893334"/>
                  <a:pt x="5510139" y="868918"/>
                  <a:pt x="5336667" y="900000"/>
                </a:cubicBezTo>
                <a:cubicBezTo>
                  <a:pt x="5163196" y="931082"/>
                  <a:pt x="4995694" y="893930"/>
                  <a:pt x="4889754" y="900000"/>
                </a:cubicBezTo>
                <a:cubicBezTo>
                  <a:pt x="4783814" y="906070"/>
                  <a:pt x="4495120" y="905592"/>
                  <a:pt x="4127373" y="900000"/>
                </a:cubicBezTo>
                <a:cubicBezTo>
                  <a:pt x="3759626" y="894408"/>
                  <a:pt x="3886665" y="902408"/>
                  <a:pt x="3680460" y="900000"/>
                </a:cubicBezTo>
                <a:cubicBezTo>
                  <a:pt x="3474255" y="897592"/>
                  <a:pt x="3123909" y="918515"/>
                  <a:pt x="2918079" y="900000"/>
                </a:cubicBezTo>
                <a:cubicBezTo>
                  <a:pt x="2712249" y="881485"/>
                  <a:pt x="2688971" y="886697"/>
                  <a:pt x="2576322" y="900000"/>
                </a:cubicBezTo>
                <a:cubicBezTo>
                  <a:pt x="2463673" y="913303"/>
                  <a:pt x="2127678" y="921649"/>
                  <a:pt x="1813941" y="900000"/>
                </a:cubicBezTo>
                <a:cubicBezTo>
                  <a:pt x="1500204" y="878351"/>
                  <a:pt x="1545667" y="910505"/>
                  <a:pt x="1367028" y="900000"/>
                </a:cubicBezTo>
                <a:cubicBezTo>
                  <a:pt x="1188389" y="889495"/>
                  <a:pt x="1188334" y="890564"/>
                  <a:pt x="1025271" y="900000"/>
                </a:cubicBezTo>
                <a:cubicBezTo>
                  <a:pt x="862208" y="909436"/>
                  <a:pt x="759610" y="910044"/>
                  <a:pt x="578358" y="900000"/>
                </a:cubicBezTo>
                <a:cubicBezTo>
                  <a:pt x="397106" y="889956"/>
                  <a:pt x="120249" y="880279"/>
                  <a:pt x="0" y="900000"/>
                </a:cubicBezTo>
                <a:cubicBezTo>
                  <a:pt x="-19541" y="744494"/>
                  <a:pt x="-15683" y="674942"/>
                  <a:pt x="0" y="468000"/>
                </a:cubicBezTo>
                <a:cubicBezTo>
                  <a:pt x="15683" y="261058"/>
                  <a:pt x="-3615" y="143737"/>
                  <a:pt x="0" y="0"/>
                </a:cubicBezTo>
                <a:close/>
              </a:path>
            </a:pathLst>
          </a:custGeom>
          <a:solidFill>
            <a:schemeClr val="bg1"/>
          </a:solidFill>
          <a:ln w="88900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sk:type>
                    <ask:lineSketchFreehand/>
                  </ask:type>
                </ask:lineSketchStyleProps>
              </a:ext>
            </a:extLst>
          </a:ln>
        </p:spPr>
        <p:txBody>
          <a:bodyPr>
            <a:normAutofit/>
          </a:bodyPr>
          <a:lstStyle/>
          <a:p>
            <a:pPr algn="ctr"/>
            <a:r>
              <a:rPr lang="ru-RU" sz="5400" b="1" dirty="0">
                <a:solidFill>
                  <a:srgbClr val="0A3830"/>
                </a:solidFill>
              </a:rPr>
              <a:t>Другие статьи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06BCE3F-3AD0-4DFA-BD44-2500387072BF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txBody>
          <a:bodyPr anchor="ctr">
            <a:normAutofit fontScale="6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err="1"/>
              <a:t>Staar</a:t>
            </a:r>
            <a:r>
              <a:rPr lang="en-US" dirty="0"/>
              <a:t>, B. Anomaly detection with convolutional neural networks for industrial surface inspection [</a:t>
            </a:r>
            <a:r>
              <a:rPr lang="ru-RU" dirty="0"/>
              <a:t>Электронный ресурс] / </a:t>
            </a:r>
            <a:r>
              <a:rPr lang="en-US" dirty="0"/>
              <a:t>B. </a:t>
            </a:r>
            <a:r>
              <a:rPr lang="en-US" dirty="0" err="1"/>
              <a:t>Staar</a:t>
            </a:r>
            <a:r>
              <a:rPr lang="en-US" dirty="0"/>
              <a:t>, M. </a:t>
            </a:r>
            <a:r>
              <a:rPr lang="en-US" dirty="0" err="1"/>
              <a:t>Lütjen</a:t>
            </a:r>
            <a:r>
              <a:rPr lang="en-US" dirty="0"/>
              <a:t>, M. Freitag // Procedia CIRP: </a:t>
            </a:r>
            <a:r>
              <a:rPr lang="ru-RU" dirty="0"/>
              <a:t>материалы 12</a:t>
            </a:r>
            <a:r>
              <a:rPr lang="en-US" dirty="0" err="1"/>
              <a:t>th</a:t>
            </a:r>
            <a:r>
              <a:rPr lang="en-US" dirty="0"/>
              <a:t> CIRP Conference on Intelligent Computation in Manufacturing Engineering, Gulf of Naples, Italy, 18–20 July 2018 </a:t>
            </a:r>
            <a:r>
              <a:rPr lang="ru-RU" dirty="0"/>
              <a:t>г. – 2018. – </a:t>
            </a:r>
            <a:r>
              <a:rPr lang="en-US" dirty="0"/>
              <a:t>Vol. 72. – P. 1408–1413. – </a:t>
            </a:r>
            <a:r>
              <a:rPr lang="ru-RU" dirty="0"/>
              <a:t>Режим доступа: </a:t>
            </a:r>
            <a:r>
              <a:rPr lang="en-US" dirty="0"/>
              <a:t>https://www.sciencedirect.com/science/article/pii/S2212827118303080. – </a:t>
            </a:r>
            <a:r>
              <a:rPr lang="ru-RU" dirty="0"/>
              <a:t>Дата доступа: 25.09.2023.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Yang, Y. A High-Performance Deep Learning Algorithm for the Automated Optical Inspection of Laser Welding [</a:t>
            </a:r>
            <a:r>
              <a:rPr lang="ru-RU" dirty="0"/>
              <a:t>Электронный ресурс] / </a:t>
            </a:r>
            <a:r>
              <a:rPr lang="en-US" dirty="0"/>
              <a:t>Y. Yang, L. Pan, J. Ma, R. Yang [</a:t>
            </a:r>
            <a:r>
              <a:rPr lang="ru-RU" dirty="0"/>
              <a:t>и др.] // </a:t>
            </a:r>
            <a:r>
              <a:rPr lang="en-US" dirty="0"/>
              <a:t>Applied Sciences. – 2020. – Vol. 10, № 3. – P. 933. – </a:t>
            </a:r>
            <a:r>
              <a:rPr lang="ru-RU" dirty="0"/>
              <a:t>Режим доступа: </a:t>
            </a:r>
            <a:r>
              <a:rPr lang="en-US" dirty="0"/>
              <a:t>https://www.mdpi.com/2076-3417/10/3/933. – </a:t>
            </a:r>
            <a:r>
              <a:rPr lang="ru-RU" dirty="0"/>
              <a:t>Дата доступа: 25.09.2023.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Medel</a:t>
            </a:r>
            <a:r>
              <a:rPr lang="en-US" dirty="0"/>
              <a:t> J. R., Savakis A. Anomaly Detection in Video Using Predictive Convolutional Long Short-Term Memory Networks [Electronic resource] // </a:t>
            </a:r>
            <a:r>
              <a:rPr lang="en-US" dirty="0" err="1"/>
              <a:t>arXiv</a:t>
            </a:r>
            <a:r>
              <a:rPr lang="en-US" dirty="0"/>
              <a:t> preprint. — 2016. — arXiv:1612.00390 [cs.CV]. — Version v2, last revised 15 Dec 2016. — URL: https://arxiv.org/abs/1612.00390. — DOI: 10.48550/arXiv.1612.00390.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Kulkarni T. D., Whitney W., Kohli P., Tenenbaum J. B. Deep Convolutional Inverse Graphics Network [Electronic resource] // </a:t>
            </a:r>
            <a:r>
              <a:rPr lang="en-US" dirty="0" err="1"/>
              <a:t>arXiv</a:t>
            </a:r>
            <a:r>
              <a:rPr lang="en-US" dirty="0"/>
              <a:t> preprint. — 2015. — arXiv:1503.03167 [cs.CV]. — Version v4, last revised 22 Jun 2015. — URL: https://arxiv.org/abs/1503.03167. — DOI: 10.48550/arXiv.1503.03167.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Kowalczyk N., </a:t>
            </a:r>
            <a:r>
              <a:rPr lang="en-US" dirty="0" err="1"/>
              <a:t>Ruminski</a:t>
            </a:r>
            <a:r>
              <a:rPr lang="en-US" dirty="0"/>
              <a:t> J. Mask Detection and Classification in Thermal Face Images // IEEE Access. 2023. Vol. 11. P. 4349–4359. DOI: 10.1109/ACCESS.2023.3272214.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130986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80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AAB51B-9DFC-4813-B606-52F3EE60E8C3}"/>
              </a:ext>
            </a:extLst>
          </p:cNvPr>
          <p:cNvSpPr>
            <a:spLocks noGrp="1"/>
          </p:cNvSpPr>
          <p:nvPr>
            <p:ph type="title"/>
          </p:nvPr>
        </p:nvSpPr>
        <p:spPr>
          <a:custGeom>
            <a:avLst/>
            <a:gdLst>
              <a:gd name="connsiteX0" fmla="*/ 0 w 10515600"/>
              <a:gd name="connsiteY0" fmla="*/ 0 h 1325563"/>
              <a:gd name="connsiteX1" fmla="*/ 341757 w 10515600"/>
              <a:gd name="connsiteY1" fmla="*/ 0 h 1325563"/>
              <a:gd name="connsiteX2" fmla="*/ 683514 w 10515600"/>
              <a:gd name="connsiteY2" fmla="*/ 0 h 1325563"/>
              <a:gd name="connsiteX3" fmla="*/ 1025271 w 10515600"/>
              <a:gd name="connsiteY3" fmla="*/ 0 h 1325563"/>
              <a:gd name="connsiteX4" fmla="*/ 1892808 w 10515600"/>
              <a:gd name="connsiteY4" fmla="*/ 0 h 1325563"/>
              <a:gd name="connsiteX5" fmla="*/ 2550033 w 10515600"/>
              <a:gd name="connsiteY5" fmla="*/ 0 h 1325563"/>
              <a:gd name="connsiteX6" fmla="*/ 2891790 w 10515600"/>
              <a:gd name="connsiteY6" fmla="*/ 0 h 1325563"/>
              <a:gd name="connsiteX7" fmla="*/ 3549015 w 10515600"/>
              <a:gd name="connsiteY7" fmla="*/ 0 h 1325563"/>
              <a:gd name="connsiteX8" fmla="*/ 4416552 w 10515600"/>
              <a:gd name="connsiteY8" fmla="*/ 0 h 1325563"/>
              <a:gd name="connsiteX9" fmla="*/ 4968621 w 10515600"/>
              <a:gd name="connsiteY9" fmla="*/ 0 h 1325563"/>
              <a:gd name="connsiteX10" fmla="*/ 5520690 w 10515600"/>
              <a:gd name="connsiteY10" fmla="*/ 0 h 1325563"/>
              <a:gd name="connsiteX11" fmla="*/ 6177915 w 10515600"/>
              <a:gd name="connsiteY11" fmla="*/ 0 h 1325563"/>
              <a:gd name="connsiteX12" fmla="*/ 6940296 w 10515600"/>
              <a:gd name="connsiteY12" fmla="*/ 0 h 1325563"/>
              <a:gd name="connsiteX13" fmla="*/ 7702677 w 10515600"/>
              <a:gd name="connsiteY13" fmla="*/ 0 h 1325563"/>
              <a:gd name="connsiteX14" fmla="*/ 8465058 w 10515600"/>
              <a:gd name="connsiteY14" fmla="*/ 0 h 1325563"/>
              <a:gd name="connsiteX15" fmla="*/ 9332595 w 10515600"/>
              <a:gd name="connsiteY15" fmla="*/ 0 h 1325563"/>
              <a:gd name="connsiteX16" fmla="*/ 10515600 w 10515600"/>
              <a:gd name="connsiteY16" fmla="*/ 0 h 1325563"/>
              <a:gd name="connsiteX17" fmla="*/ 10515600 w 10515600"/>
              <a:gd name="connsiteY17" fmla="*/ 676037 h 1325563"/>
              <a:gd name="connsiteX18" fmla="*/ 10515600 w 10515600"/>
              <a:gd name="connsiteY18" fmla="*/ 1325563 h 1325563"/>
              <a:gd name="connsiteX19" fmla="*/ 9648063 w 10515600"/>
              <a:gd name="connsiteY19" fmla="*/ 1325563 h 1325563"/>
              <a:gd name="connsiteX20" fmla="*/ 8990838 w 10515600"/>
              <a:gd name="connsiteY20" fmla="*/ 1325563 h 1325563"/>
              <a:gd name="connsiteX21" fmla="*/ 8438769 w 10515600"/>
              <a:gd name="connsiteY21" fmla="*/ 1325563 h 1325563"/>
              <a:gd name="connsiteX22" fmla="*/ 7886700 w 10515600"/>
              <a:gd name="connsiteY22" fmla="*/ 1325563 h 1325563"/>
              <a:gd name="connsiteX23" fmla="*/ 7334631 w 10515600"/>
              <a:gd name="connsiteY23" fmla="*/ 1325563 h 1325563"/>
              <a:gd name="connsiteX24" fmla="*/ 6782562 w 10515600"/>
              <a:gd name="connsiteY24" fmla="*/ 1325563 h 1325563"/>
              <a:gd name="connsiteX25" fmla="*/ 6020181 w 10515600"/>
              <a:gd name="connsiteY25" fmla="*/ 1325563 h 1325563"/>
              <a:gd name="connsiteX26" fmla="*/ 5362956 w 10515600"/>
              <a:gd name="connsiteY26" fmla="*/ 1325563 h 1325563"/>
              <a:gd name="connsiteX27" fmla="*/ 5021199 w 10515600"/>
              <a:gd name="connsiteY27" fmla="*/ 1325563 h 1325563"/>
              <a:gd name="connsiteX28" fmla="*/ 4469130 w 10515600"/>
              <a:gd name="connsiteY28" fmla="*/ 1325563 h 1325563"/>
              <a:gd name="connsiteX29" fmla="*/ 3706749 w 10515600"/>
              <a:gd name="connsiteY29" fmla="*/ 1325563 h 1325563"/>
              <a:gd name="connsiteX30" fmla="*/ 3259836 w 10515600"/>
              <a:gd name="connsiteY30" fmla="*/ 1325563 h 1325563"/>
              <a:gd name="connsiteX31" fmla="*/ 2392299 w 10515600"/>
              <a:gd name="connsiteY31" fmla="*/ 1325563 h 1325563"/>
              <a:gd name="connsiteX32" fmla="*/ 1524762 w 10515600"/>
              <a:gd name="connsiteY32" fmla="*/ 1325563 h 1325563"/>
              <a:gd name="connsiteX33" fmla="*/ 867537 w 10515600"/>
              <a:gd name="connsiteY33" fmla="*/ 1325563 h 1325563"/>
              <a:gd name="connsiteX34" fmla="*/ 0 w 10515600"/>
              <a:gd name="connsiteY34" fmla="*/ 1325563 h 1325563"/>
              <a:gd name="connsiteX35" fmla="*/ 0 w 10515600"/>
              <a:gd name="connsiteY35" fmla="*/ 662782 h 1325563"/>
              <a:gd name="connsiteX36" fmla="*/ 0 w 10515600"/>
              <a:gd name="connsiteY36" fmla="*/ 0 h 1325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0515600" h="1325563" fill="none" extrusionOk="0">
                <a:moveTo>
                  <a:pt x="0" y="0"/>
                </a:moveTo>
                <a:cubicBezTo>
                  <a:pt x="98888" y="9007"/>
                  <a:pt x="259424" y="11771"/>
                  <a:pt x="341757" y="0"/>
                </a:cubicBezTo>
                <a:cubicBezTo>
                  <a:pt x="424090" y="-11771"/>
                  <a:pt x="519058" y="12003"/>
                  <a:pt x="683514" y="0"/>
                </a:cubicBezTo>
                <a:cubicBezTo>
                  <a:pt x="847970" y="-12003"/>
                  <a:pt x="894690" y="9887"/>
                  <a:pt x="1025271" y="0"/>
                </a:cubicBezTo>
                <a:cubicBezTo>
                  <a:pt x="1155852" y="-9887"/>
                  <a:pt x="1573394" y="3827"/>
                  <a:pt x="1892808" y="0"/>
                </a:cubicBezTo>
                <a:cubicBezTo>
                  <a:pt x="2212222" y="-3827"/>
                  <a:pt x="2391278" y="-6233"/>
                  <a:pt x="2550033" y="0"/>
                </a:cubicBezTo>
                <a:cubicBezTo>
                  <a:pt x="2708789" y="6233"/>
                  <a:pt x="2754491" y="5661"/>
                  <a:pt x="2891790" y="0"/>
                </a:cubicBezTo>
                <a:cubicBezTo>
                  <a:pt x="3029089" y="-5661"/>
                  <a:pt x="3390996" y="26022"/>
                  <a:pt x="3549015" y="0"/>
                </a:cubicBezTo>
                <a:cubicBezTo>
                  <a:pt x="3707035" y="-26022"/>
                  <a:pt x="4087327" y="32230"/>
                  <a:pt x="4416552" y="0"/>
                </a:cubicBezTo>
                <a:cubicBezTo>
                  <a:pt x="4745777" y="-32230"/>
                  <a:pt x="4788838" y="3064"/>
                  <a:pt x="4968621" y="0"/>
                </a:cubicBezTo>
                <a:cubicBezTo>
                  <a:pt x="5148404" y="-3064"/>
                  <a:pt x="5377712" y="-21096"/>
                  <a:pt x="5520690" y="0"/>
                </a:cubicBezTo>
                <a:cubicBezTo>
                  <a:pt x="5663668" y="21096"/>
                  <a:pt x="5953400" y="17386"/>
                  <a:pt x="6177915" y="0"/>
                </a:cubicBezTo>
                <a:cubicBezTo>
                  <a:pt x="6402430" y="-17386"/>
                  <a:pt x="6770921" y="-35143"/>
                  <a:pt x="6940296" y="0"/>
                </a:cubicBezTo>
                <a:cubicBezTo>
                  <a:pt x="7109671" y="35143"/>
                  <a:pt x="7403073" y="4103"/>
                  <a:pt x="7702677" y="0"/>
                </a:cubicBezTo>
                <a:cubicBezTo>
                  <a:pt x="8002281" y="-4103"/>
                  <a:pt x="8221175" y="16641"/>
                  <a:pt x="8465058" y="0"/>
                </a:cubicBezTo>
                <a:cubicBezTo>
                  <a:pt x="8708941" y="-16641"/>
                  <a:pt x="8952466" y="-9276"/>
                  <a:pt x="9332595" y="0"/>
                </a:cubicBezTo>
                <a:cubicBezTo>
                  <a:pt x="9712724" y="9276"/>
                  <a:pt x="9950442" y="3063"/>
                  <a:pt x="10515600" y="0"/>
                </a:cubicBezTo>
                <a:cubicBezTo>
                  <a:pt x="10500422" y="235201"/>
                  <a:pt x="10542331" y="366964"/>
                  <a:pt x="10515600" y="676037"/>
                </a:cubicBezTo>
                <a:cubicBezTo>
                  <a:pt x="10488869" y="985110"/>
                  <a:pt x="10526837" y="1096708"/>
                  <a:pt x="10515600" y="1325563"/>
                </a:cubicBezTo>
                <a:cubicBezTo>
                  <a:pt x="10122172" y="1338010"/>
                  <a:pt x="9852726" y="1301241"/>
                  <a:pt x="9648063" y="1325563"/>
                </a:cubicBezTo>
                <a:cubicBezTo>
                  <a:pt x="9443400" y="1349885"/>
                  <a:pt x="9242928" y="1304762"/>
                  <a:pt x="8990838" y="1325563"/>
                </a:cubicBezTo>
                <a:cubicBezTo>
                  <a:pt x="8738749" y="1346364"/>
                  <a:pt x="8553955" y="1339898"/>
                  <a:pt x="8438769" y="1325563"/>
                </a:cubicBezTo>
                <a:cubicBezTo>
                  <a:pt x="8323583" y="1311228"/>
                  <a:pt x="8114825" y="1306078"/>
                  <a:pt x="7886700" y="1325563"/>
                </a:cubicBezTo>
                <a:cubicBezTo>
                  <a:pt x="7658575" y="1345048"/>
                  <a:pt x="7473371" y="1333356"/>
                  <a:pt x="7334631" y="1325563"/>
                </a:cubicBezTo>
                <a:cubicBezTo>
                  <a:pt x="7195891" y="1317770"/>
                  <a:pt x="7020454" y="1341758"/>
                  <a:pt x="6782562" y="1325563"/>
                </a:cubicBezTo>
                <a:cubicBezTo>
                  <a:pt x="6544670" y="1309368"/>
                  <a:pt x="6283429" y="1340013"/>
                  <a:pt x="6020181" y="1325563"/>
                </a:cubicBezTo>
                <a:cubicBezTo>
                  <a:pt x="5756933" y="1311113"/>
                  <a:pt x="5572314" y="1324809"/>
                  <a:pt x="5362956" y="1325563"/>
                </a:cubicBezTo>
                <a:cubicBezTo>
                  <a:pt x="5153599" y="1326317"/>
                  <a:pt x="5103186" y="1338218"/>
                  <a:pt x="5021199" y="1325563"/>
                </a:cubicBezTo>
                <a:cubicBezTo>
                  <a:pt x="4939212" y="1312908"/>
                  <a:pt x="4631121" y="1343998"/>
                  <a:pt x="4469130" y="1325563"/>
                </a:cubicBezTo>
                <a:cubicBezTo>
                  <a:pt x="4307139" y="1307128"/>
                  <a:pt x="4042980" y="1333932"/>
                  <a:pt x="3706749" y="1325563"/>
                </a:cubicBezTo>
                <a:cubicBezTo>
                  <a:pt x="3370518" y="1317194"/>
                  <a:pt x="3442573" y="1313836"/>
                  <a:pt x="3259836" y="1325563"/>
                </a:cubicBezTo>
                <a:cubicBezTo>
                  <a:pt x="3077099" y="1337290"/>
                  <a:pt x="2633437" y="1347298"/>
                  <a:pt x="2392299" y="1325563"/>
                </a:cubicBezTo>
                <a:cubicBezTo>
                  <a:pt x="2151161" y="1303828"/>
                  <a:pt x="1796705" y="1322417"/>
                  <a:pt x="1524762" y="1325563"/>
                </a:cubicBezTo>
                <a:cubicBezTo>
                  <a:pt x="1252819" y="1328709"/>
                  <a:pt x="1086366" y="1332577"/>
                  <a:pt x="867537" y="1325563"/>
                </a:cubicBezTo>
                <a:cubicBezTo>
                  <a:pt x="648708" y="1318549"/>
                  <a:pt x="251816" y="1331837"/>
                  <a:pt x="0" y="1325563"/>
                </a:cubicBezTo>
                <a:cubicBezTo>
                  <a:pt x="-32734" y="1089617"/>
                  <a:pt x="-21327" y="959721"/>
                  <a:pt x="0" y="662782"/>
                </a:cubicBezTo>
                <a:cubicBezTo>
                  <a:pt x="21327" y="365843"/>
                  <a:pt x="-17272" y="280565"/>
                  <a:pt x="0" y="0"/>
                </a:cubicBezTo>
                <a:close/>
              </a:path>
              <a:path w="10515600" h="1325563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499780" y="328569"/>
                  <a:pt x="10494394" y="530518"/>
                  <a:pt x="10515600" y="689293"/>
                </a:cubicBezTo>
                <a:cubicBezTo>
                  <a:pt x="10536806" y="848068"/>
                  <a:pt x="10502453" y="1043458"/>
                  <a:pt x="10515600" y="1325563"/>
                </a:cubicBezTo>
                <a:cubicBezTo>
                  <a:pt x="10305681" y="1314148"/>
                  <a:pt x="10050108" y="1321983"/>
                  <a:pt x="9753219" y="1325563"/>
                </a:cubicBezTo>
                <a:cubicBezTo>
                  <a:pt x="9456330" y="1329143"/>
                  <a:pt x="9525512" y="1342238"/>
                  <a:pt x="9306306" y="1325563"/>
                </a:cubicBezTo>
                <a:cubicBezTo>
                  <a:pt x="9087100" y="1308888"/>
                  <a:pt x="8620907" y="1359824"/>
                  <a:pt x="8438769" y="1325563"/>
                </a:cubicBezTo>
                <a:cubicBezTo>
                  <a:pt x="8256631" y="1291302"/>
                  <a:pt x="7950474" y="1357687"/>
                  <a:pt x="7781544" y="1325563"/>
                </a:cubicBezTo>
                <a:cubicBezTo>
                  <a:pt x="7612615" y="1293439"/>
                  <a:pt x="7496249" y="1325157"/>
                  <a:pt x="7334631" y="1325563"/>
                </a:cubicBezTo>
                <a:cubicBezTo>
                  <a:pt x="7173013" y="1325969"/>
                  <a:pt x="6878574" y="1349305"/>
                  <a:pt x="6677406" y="1325563"/>
                </a:cubicBezTo>
                <a:cubicBezTo>
                  <a:pt x="6476238" y="1301821"/>
                  <a:pt x="6439581" y="1309201"/>
                  <a:pt x="6335649" y="1325563"/>
                </a:cubicBezTo>
                <a:cubicBezTo>
                  <a:pt x="6231717" y="1341925"/>
                  <a:pt x="6135578" y="1332229"/>
                  <a:pt x="5993892" y="1325563"/>
                </a:cubicBezTo>
                <a:cubicBezTo>
                  <a:pt x="5852206" y="1318897"/>
                  <a:pt x="5510139" y="1294481"/>
                  <a:pt x="5336667" y="1325563"/>
                </a:cubicBezTo>
                <a:cubicBezTo>
                  <a:pt x="5163196" y="1356645"/>
                  <a:pt x="4995694" y="1319493"/>
                  <a:pt x="4889754" y="1325563"/>
                </a:cubicBezTo>
                <a:cubicBezTo>
                  <a:pt x="4783814" y="1331633"/>
                  <a:pt x="4495120" y="1331155"/>
                  <a:pt x="4127373" y="1325563"/>
                </a:cubicBezTo>
                <a:cubicBezTo>
                  <a:pt x="3759626" y="1319971"/>
                  <a:pt x="3886665" y="1327971"/>
                  <a:pt x="3680460" y="1325563"/>
                </a:cubicBezTo>
                <a:cubicBezTo>
                  <a:pt x="3474255" y="1323155"/>
                  <a:pt x="3123909" y="1344078"/>
                  <a:pt x="2918079" y="1325563"/>
                </a:cubicBezTo>
                <a:cubicBezTo>
                  <a:pt x="2712249" y="1307048"/>
                  <a:pt x="2688971" y="1312260"/>
                  <a:pt x="2576322" y="1325563"/>
                </a:cubicBezTo>
                <a:cubicBezTo>
                  <a:pt x="2463673" y="1338866"/>
                  <a:pt x="2127678" y="1347212"/>
                  <a:pt x="1813941" y="1325563"/>
                </a:cubicBezTo>
                <a:cubicBezTo>
                  <a:pt x="1500204" y="1303914"/>
                  <a:pt x="1545667" y="1336068"/>
                  <a:pt x="1367028" y="1325563"/>
                </a:cubicBezTo>
                <a:cubicBezTo>
                  <a:pt x="1188389" y="1315058"/>
                  <a:pt x="1188334" y="1316127"/>
                  <a:pt x="1025271" y="1325563"/>
                </a:cubicBezTo>
                <a:cubicBezTo>
                  <a:pt x="862208" y="1334999"/>
                  <a:pt x="759610" y="1335607"/>
                  <a:pt x="578358" y="1325563"/>
                </a:cubicBezTo>
                <a:cubicBezTo>
                  <a:pt x="397106" y="1315519"/>
                  <a:pt x="120249" y="1305842"/>
                  <a:pt x="0" y="1325563"/>
                </a:cubicBezTo>
                <a:cubicBezTo>
                  <a:pt x="3594" y="1133935"/>
                  <a:pt x="30177" y="822218"/>
                  <a:pt x="0" y="689293"/>
                </a:cubicBezTo>
                <a:cubicBezTo>
                  <a:pt x="-30177" y="556368"/>
                  <a:pt x="21730" y="149155"/>
                  <a:pt x="0" y="0"/>
                </a:cubicBezTo>
                <a:close/>
              </a:path>
            </a:pathLst>
          </a:custGeom>
          <a:solidFill>
            <a:schemeClr val="bg1"/>
          </a:solidFill>
          <a:ln w="88900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sk:type>
                    <ask:lineSketchFreehand/>
                  </ask:type>
                </ask:lineSketchStyleProps>
              </a:ext>
            </a:extLst>
          </a:ln>
        </p:spPr>
        <p:txBody>
          <a:bodyPr/>
          <a:lstStyle/>
          <a:p>
            <a:pPr algn="ctr"/>
            <a:r>
              <a:rPr lang="ru-RU" sz="5400" b="1" dirty="0">
                <a:solidFill>
                  <a:srgbClr val="0A3830"/>
                </a:solidFill>
              </a:rPr>
              <a:t>Книги</a:t>
            </a:r>
            <a:endParaRPr lang="ru-RU" b="1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910D1AE-9DE6-4FB3-A246-F107943AC2A7}"/>
              </a:ext>
            </a:extLst>
          </p:cNvPr>
          <p:cNvSpPr/>
          <p:nvPr/>
        </p:nvSpPr>
        <p:spPr>
          <a:xfrm>
            <a:off x="838199" y="2558033"/>
            <a:ext cx="10515599" cy="12826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4350" indent="-514350">
              <a:buFont typeface="+mj-lt"/>
              <a:buAutoNum type="arabicPeriod"/>
            </a:pPr>
            <a:r>
              <a:rPr lang="en-US" sz="1800" dirty="0">
                <a:solidFill>
                  <a:schemeClr val="tx1"/>
                </a:solidFill>
              </a:rPr>
              <a:t>Bishop, C.M. Deep Learning: Foundations and Concepts / C.M. Bishop, H. Bishop. — Cham : Springer, 2023. — 649 p. — ISBN 978-3-031-45467-7. — DOI: 10.1007/978-3-031-45468-4.</a:t>
            </a:r>
            <a:endParaRPr lang="ru-RU" sz="1800" dirty="0">
              <a:solidFill>
                <a:schemeClr val="tx1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sz="1800" b="0" i="0" dirty="0">
                <a:solidFill>
                  <a:schemeClr val="tx1"/>
                </a:solidFill>
                <a:effectLst/>
              </a:rPr>
              <a:t>Гудфеллоу Я., </a:t>
            </a:r>
            <a:r>
              <a:rPr lang="ru-RU" sz="1800" b="0" i="0" dirty="0" err="1">
                <a:solidFill>
                  <a:schemeClr val="tx1"/>
                </a:solidFill>
                <a:effectLst/>
              </a:rPr>
              <a:t>Бенджио</a:t>
            </a:r>
            <a:r>
              <a:rPr lang="ru-RU" sz="1800" b="0" i="0" dirty="0">
                <a:solidFill>
                  <a:schemeClr val="tx1"/>
                </a:solidFill>
                <a:effectLst/>
              </a:rPr>
              <a:t> И., </a:t>
            </a:r>
            <a:r>
              <a:rPr lang="ru-RU" sz="1800" b="0" i="0" dirty="0" err="1">
                <a:solidFill>
                  <a:schemeClr val="tx1"/>
                </a:solidFill>
                <a:effectLst/>
              </a:rPr>
              <a:t>Курвилль</a:t>
            </a:r>
            <a:r>
              <a:rPr lang="ru-RU" sz="1800" b="0" i="0" dirty="0">
                <a:solidFill>
                  <a:schemeClr val="tx1"/>
                </a:solidFill>
                <a:effectLst/>
              </a:rPr>
              <a:t> А. Глубокое обучение / пер. с англ. А. А. </a:t>
            </a:r>
            <a:r>
              <a:rPr lang="ru-RU" sz="1800" b="0" i="0" dirty="0" err="1">
                <a:solidFill>
                  <a:schemeClr val="tx1"/>
                </a:solidFill>
                <a:effectLst/>
              </a:rPr>
              <a:t>Слинкина</a:t>
            </a:r>
            <a:r>
              <a:rPr lang="ru-RU" sz="1800" b="0" i="0" dirty="0">
                <a:solidFill>
                  <a:schemeClr val="tx1"/>
                </a:solidFill>
                <a:effectLst/>
              </a:rPr>
              <a:t>. – 2-е изд., </a:t>
            </a:r>
            <a:r>
              <a:rPr lang="ru-RU" sz="1800" b="0" i="0" dirty="0" err="1">
                <a:solidFill>
                  <a:schemeClr val="tx1"/>
                </a:solidFill>
                <a:effectLst/>
              </a:rPr>
              <a:t>испр</a:t>
            </a:r>
            <a:r>
              <a:rPr lang="ru-RU" sz="1800" b="0" i="0" dirty="0">
                <a:solidFill>
                  <a:schemeClr val="tx1"/>
                </a:solidFill>
                <a:effectLst/>
              </a:rPr>
              <a:t>. – М. : ДМК Пресс, 2018. – 652 с.: </a:t>
            </a:r>
            <a:r>
              <a:rPr lang="ru-RU" sz="1800" b="0" i="0" dirty="0" err="1">
                <a:solidFill>
                  <a:schemeClr val="tx1"/>
                </a:solidFill>
                <a:effectLst/>
              </a:rPr>
              <a:t>цв</a:t>
            </a:r>
            <a:r>
              <a:rPr lang="ru-RU" sz="1800" b="0" i="0" dirty="0">
                <a:solidFill>
                  <a:schemeClr val="tx1"/>
                </a:solidFill>
                <a:effectLst/>
              </a:rPr>
              <a:t>. ил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4A77BC4-95AA-4620-A248-693EC4CC7DCE}"/>
              </a:ext>
            </a:extLst>
          </p:cNvPr>
          <p:cNvSpPr/>
          <p:nvPr/>
        </p:nvSpPr>
        <p:spPr>
          <a:xfrm>
            <a:off x="838200" y="4803475"/>
            <a:ext cx="10515598" cy="1533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4350" indent="-514350">
              <a:buFont typeface="+mj-lt"/>
              <a:buAutoNum type="arabicPeriod"/>
            </a:pPr>
            <a:r>
              <a:rPr lang="en-US" sz="1800" dirty="0" err="1">
                <a:solidFill>
                  <a:schemeClr val="tx1"/>
                </a:solidFill>
              </a:rPr>
              <a:t>Szeliski</a:t>
            </a:r>
            <a:r>
              <a:rPr lang="en-US" sz="1800" dirty="0">
                <a:solidFill>
                  <a:schemeClr val="tx1"/>
                </a:solidFill>
              </a:rPr>
              <a:t> R. Computer Vision: Algorithms and Applications [Electronic resource]. — 2nd ed. — 2021. — Final draft, September 30, 2021. — URL: https://szeliski.org/Book (date of access: 05.01.2023).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dirty="0">
                <a:solidFill>
                  <a:schemeClr val="tx1"/>
                </a:solidFill>
              </a:rPr>
              <a:t>Xiao, C. Mastering Computer Vision with </a:t>
            </a:r>
            <a:r>
              <a:rPr lang="en-US" sz="1800" dirty="0" err="1">
                <a:solidFill>
                  <a:schemeClr val="tx1"/>
                </a:solidFill>
              </a:rPr>
              <a:t>PyTorch</a:t>
            </a:r>
            <a:r>
              <a:rPr lang="en-US" sz="1800" dirty="0">
                <a:solidFill>
                  <a:schemeClr val="tx1"/>
                </a:solidFill>
              </a:rPr>
              <a:t> and Machine Learning [</a:t>
            </a:r>
            <a:r>
              <a:rPr lang="ru-RU" sz="1800" dirty="0">
                <a:solidFill>
                  <a:schemeClr val="tx1"/>
                </a:solidFill>
              </a:rPr>
              <a:t>Электронный ресурс] / </a:t>
            </a:r>
            <a:r>
              <a:rPr lang="en-US" sz="1800" dirty="0">
                <a:solidFill>
                  <a:schemeClr val="tx1"/>
                </a:solidFill>
              </a:rPr>
              <a:t>C. Xiao. — Bristol : IOP Publishing, 2024. — </a:t>
            </a:r>
            <a:r>
              <a:rPr lang="ru-RU" sz="1800" dirty="0">
                <a:solidFill>
                  <a:schemeClr val="tx1"/>
                </a:solidFill>
              </a:rPr>
              <a:t>Режим доступа: </a:t>
            </a:r>
            <a:r>
              <a:rPr lang="en-US" sz="1800" dirty="0">
                <a:solidFill>
                  <a:schemeClr val="tx1"/>
                </a:solidFill>
              </a:rPr>
              <a:t>https://doi.org/10.1088/978-0-7503-6244-3. — </a:t>
            </a:r>
            <a:r>
              <a:rPr lang="ru-RU" sz="1800" dirty="0">
                <a:solidFill>
                  <a:schemeClr val="tx1"/>
                </a:solidFill>
              </a:rPr>
              <a:t>Дата доступа: 02.12.2024.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A4711591-7EAD-4141-AF58-5712BA274C25}"/>
              </a:ext>
            </a:extLst>
          </p:cNvPr>
          <p:cNvSpPr/>
          <p:nvPr/>
        </p:nvSpPr>
        <p:spPr>
          <a:xfrm>
            <a:off x="838200" y="2086369"/>
            <a:ext cx="4542503" cy="353962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b="1" dirty="0">
                <a:solidFill>
                  <a:schemeClr val="tx1"/>
                </a:solidFill>
              </a:rPr>
              <a:t>Книги математической направленности: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74B41FC6-531D-4D6F-94AC-6C5004195311}"/>
              </a:ext>
            </a:extLst>
          </p:cNvPr>
          <p:cNvSpPr/>
          <p:nvPr/>
        </p:nvSpPr>
        <p:spPr>
          <a:xfrm>
            <a:off x="838200" y="4354111"/>
            <a:ext cx="4542503" cy="35396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b="1" dirty="0">
                <a:solidFill>
                  <a:schemeClr val="tx1"/>
                </a:solidFill>
              </a:rPr>
              <a:t>О компьютерном зрении:</a:t>
            </a:r>
          </a:p>
        </p:txBody>
      </p:sp>
    </p:spTree>
    <p:extLst>
      <p:ext uri="{BB962C8B-B14F-4D97-AF65-F5344CB8AC3E}">
        <p14:creationId xmlns:p14="http://schemas.microsoft.com/office/powerpoint/2010/main" val="13263936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80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910D1AE-9DE6-4FB3-A246-F107943AC2A7}"/>
              </a:ext>
            </a:extLst>
          </p:cNvPr>
          <p:cNvSpPr/>
          <p:nvPr/>
        </p:nvSpPr>
        <p:spPr>
          <a:xfrm>
            <a:off x="838200" y="828161"/>
            <a:ext cx="10515600" cy="16917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4350" indent="-514350">
              <a:buFont typeface="+mj-lt"/>
              <a:buAutoNum type="arabicPeriod"/>
            </a:pPr>
            <a:r>
              <a:rPr lang="en-US" sz="1800" dirty="0">
                <a:solidFill>
                  <a:schemeClr val="tx1"/>
                </a:solidFill>
              </a:rPr>
              <a:t>Tomczak, J.M. Deep Generative Modeling / J.M. Tomczak. — 2nd ed. — Cham : Springer, 2024. — 313 p. — ISBN 978-3-031-64086-5. — DOI: 10.1007/978-3-031-64087-2.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dirty="0">
                <a:solidFill>
                  <a:schemeClr val="tx1"/>
                </a:solidFill>
              </a:rPr>
              <a:t>Generative Artificial Intelligence (AI) Approaches for Industrial Applications / N.R. </a:t>
            </a:r>
            <a:r>
              <a:rPr lang="en-US" sz="1800" dirty="0" err="1">
                <a:solidFill>
                  <a:schemeClr val="tx1"/>
                </a:solidFill>
              </a:rPr>
              <a:t>Vajjhala</a:t>
            </a:r>
            <a:r>
              <a:rPr lang="en-US" sz="1800" dirty="0">
                <a:solidFill>
                  <a:schemeClr val="tx1"/>
                </a:solidFill>
              </a:rPr>
              <a:t> [</a:t>
            </a:r>
            <a:r>
              <a:rPr lang="ru-RU" sz="1800" dirty="0">
                <a:solidFill>
                  <a:schemeClr val="tx1"/>
                </a:solidFill>
              </a:rPr>
              <a:t>и др.]; под ред. </a:t>
            </a:r>
            <a:r>
              <a:rPr lang="en-US" sz="1800" dirty="0">
                <a:solidFill>
                  <a:schemeClr val="tx1"/>
                </a:solidFill>
              </a:rPr>
              <a:t>N.R. </a:t>
            </a:r>
            <a:r>
              <a:rPr lang="en-US" sz="1800" dirty="0" err="1">
                <a:solidFill>
                  <a:schemeClr val="tx1"/>
                </a:solidFill>
              </a:rPr>
              <a:t>Vajjhala</a:t>
            </a:r>
            <a:r>
              <a:rPr lang="en-US" sz="1800" dirty="0">
                <a:solidFill>
                  <a:schemeClr val="tx1"/>
                </a:solidFill>
              </a:rPr>
              <a:t>, S.S. Roy, B. </a:t>
            </a:r>
            <a:r>
              <a:rPr lang="en-US" sz="1800" dirty="0" err="1">
                <a:solidFill>
                  <a:schemeClr val="tx1"/>
                </a:solidFill>
              </a:rPr>
              <a:t>Tasci</a:t>
            </a:r>
            <a:r>
              <a:rPr lang="en-US" sz="1800" dirty="0">
                <a:solidFill>
                  <a:schemeClr val="tx1"/>
                </a:solidFill>
              </a:rPr>
              <a:t>, M.E.H. Chowdhury. — Cham : Springer, 2025. — 342 p. — (Information Systems Engineering and Management). — ISBN 978-3-031-76709-8. — DOI: 10.1007/978-3-031-76710-4.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4A77BC4-95AA-4620-A248-693EC4CC7DCE}"/>
              </a:ext>
            </a:extLst>
          </p:cNvPr>
          <p:cNvSpPr/>
          <p:nvPr/>
        </p:nvSpPr>
        <p:spPr>
          <a:xfrm>
            <a:off x="838199" y="3291017"/>
            <a:ext cx="10515601" cy="1533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4350" indent="-514350">
              <a:buFont typeface="+mj-lt"/>
              <a:buAutoNum type="arabicPeriod"/>
            </a:pPr>
            <a:r>
              <a:rPr lang="en-US" sz="1800" dirty="0" err="1">
                <a:solidFill>
                  <a:schemeClr val="tx1"/>
                </a:solidFill>
              </a:rPr>
              <a:t>Prosise</a:t>
            </a:r>
            <a:r>
              <a:rPr lang="en-US" sz="1800" dirty="0">
                <a:solidFill>
                  <a:schemeClr val="tx1"/>
                </a:solidFill>
              </a:rPr>
              <a:t>, J. </a:t>
            </a:r>
            <a:r>
              <a:rPr lang="ru-RU" sz="1800" dirty="0">
                <a:solidFill>
                  <a:schemeClr val="tx1"/>
                </a:solidFill>
              </a:rPr>
              <a:t>Прикладное машинное обучение и искусственный интеллект для инженеров / </a:t>
            </a:r>
            <a:r>
              <a:rPr lang="en-US" sz="1800" dirty="0">
                <a:solidFill>
                  <a:schemeClr val="tx1"/>
                </a:solidFill>
              </a:rPr>
              <a:t>J. </a:t>
            </a:r>
            <a:r>
              <a:rPr lang="en-US" sz="1800" dirty="0" err="1">
                <a:solidFill>
                  <a:schemeClr val="tx1"/>
                </a:solidFill>
              </a:rPr>
              <a:t>Prosise</a:t>
            </a:r>
            <a:r>
              <a:rPr lang="en-US" sz="1800" dirty="0">
                <a:solidFill>
                  <a:schemeClr val="tx1"/>
                </a:solidFill>
              </a:rPr>
              <a:t>; </a:t>
            </a:r>
            <a:r>
              <a:rPr lang="ru-RU" sz="1800" dirty="0">
                <a:solidFill>
                  <a:schemeClr val="tx1"/>
                </a:solidFill>
              </a:rPr>
              <a:t>пер. с англ. — Астана : АЛИСТ, 2024. — 432 с. — </a:t>
            </a:r>
            <a:r>
              <a:rPr lang="en-US" sz="1800" dirty="0">
                <a:solidFill>
                  <a:schemeClr val="tx1"/>
                </a:solidFill>
              </a:rPr>
              <a:t>ISBN 978-601-09-5051-1.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dirty="0">
                <a:solidFill>
                  <a:schemeClr val="tx1"/>
                </a:solidFill>
              </a:rPr>
              <a:t>Godoy D. V. Deep Learning with </a:t>
            </a:r>
            <a:r>
              <a:rPr lang="en-US" sz="1800" dirty="0" err="1">
                <a:solidFill>
                  <a:schemeClr val="tx1"/>
                </a:solidFill>
              </a:rPr>
              <a:t>PyTorch</a:t>
            </a:r>
            <a:r>
              <a:rPr lang="en-US" sz="1800" dirty="0">
                <a:solidFill>
                  <a:schemeClr val="tx1"/>
                </a:solidFill>
              </a:rPr>
              <a:t> Step-by-Step: A Beginner's Guide. — First ed. — 2022. — URL: http://leanpub.com/pytorch. — Revision v1.1 (2021-12-15); First published: May 2021.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925A51F4-2836-43E5-8629-72295A36C599}"/>
              </a:ext>
            </a:extLst>
          </p:cNvPr>
          <p:cNvSpPr/>
          <p:nvPr/>
        </p:nvSpPr>
        <p:spPr>
          <a:xfrm>
            <a:off x="838199" y="5605554"/>
            <a:ext cx="10515601" cy="8406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4350" indent="-514350">
              <a:buFont typeface="+mj-lt"/>
              <a:buAutoNum type="arabicPeriod"/>
            </a:pPr>
            <a:r>
              <a:rPr lang="ru-RU" sz="1800" dirty="0">
                <a:solidFill>
                  <a:schemeClr val="tx1"/>
                </a:solidFill>
              </a:rPr>
              <a:t>Николенко, С. Глубокое обучение / С. Николенко, А. </a:t>
            </a:r>
            <a:r>
              <a:rPr lang="ru-RU" sz="1800" dirty="0" err="1">
                <a:solidFill>
                  <a:schemeClr val="tx1"/>
                </a:solidFill>
              </a:rPr>
              <a:t>Кадурин</a:t>
            </a:r>
            <a:r>
              <a:rPr lang="ru-RU" sz="1800" dirty="0">
                <a:solidFill>
                  <a:schemeClr val="tx1"/>
                </a:solidFill>
              </a:rPr>
              <a:t>, Е. Архангельская. — СПб. : Питер, 2018. — 480 с. — (Серия «Библиотека программиста»). — ISBN 978-5-496-02536-2.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F09D3D74-C5E6-4E09-A06D-105B58921072}"/>
              </a:ext>
            </a:extLst>
          </p:cNvPr>
          <p:cNvSpPr/>
          <p:nvPr/>
        </p:nvSpPr>
        <p:spPr>
          <a:xfrm>
            <a:off x="838199" y="319547"/>
            <a:ext cx="5100486" cy="36837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b="1" dirty="0">
                <a:solidFill>
                  <a:schemeClr val="tx1"/>
                </a:solidFill>
              </a:rPr>
              <a:t>О генеративном искусственном интеллекте: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5B3590CA-ABC4-45B5-BB72-96DECE30C0AC}"/>
              </a:ext>
            </a:extLst>
          </p:cNvPr>
          <p:cNvSpPr/>
          <p:nvPr/>
        </p:nvSpPr>
        <p:spPr>
          <a:xfrm>
            <a:off x="838199" y="2844815"/>
            <a:ext cx="5100486" cy="35396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b="1" dirty="0">
                <a:solidFill>
                  <a:schemeClr val="tx1"/>
                </a:solidFill>
              </a:rPr>
              <a:t>Прикладные книги: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58009487-5BC4-403B-8A8B-473F97937671}"/>
              </a:ext>
            </a:extLst>
          </p:cNvPr>
          <p:cNvSpPr/>
          <p:nvPr/>
        </p:nvSpPr>
        <p:spPr>
          <a:xfrm>
            <a:off x="838199" y="5149771"/>
            <a:ext cx="5100486" cy="35396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00" b="1" dirty="0">
                <a:solidFill>
                  <a:schemeClr val="tx1"/>
                </a:solidFill>
              </a:rPr>
              <a:t>Более общая литература:</a:t>
            </a:r>
          </a:p>
        </p:txBody>
      </p:sp>
    </p:spTree>
    <p:extLst>
      <p:ext uri="{BB962C8B-B14F-4D97-AF65-F5344CB8AC3E}">
        <p14:creationId xmlns:p14="http://schemas.microsoft.com/office/powerpoint/2010/main" val="21237957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80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D1EEE2-59D5-4110-A2C3-110540138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1069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5400" b="1" dirty="0">
                <a:solidFill>
                  <a:schemeClr val="bg1"/>
                </a:solidFill>
              </a:rPr>
              <a:t>Спасибо за внимание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C5066FF-2B47-429F-8518-B70144DD8CC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71" t="401" r="671" b="1"/>
          <a:stretch/>
        </p:blipFill>
        <p:spPr>
          <a:xfrm>
            <a:off x="4817805" y="2379407"/>
            <a:ext cx="2556389" cy="2561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54798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Документы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880</TotalTime>
  <Words>2303</Words>
  <Application>Microsoft Office PowerPoint</Application>
  <PresentationFormat>Широкоэкранный</PresentationFormat>
  <Paragraphs>116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19" baseType="lpstr">
      <vt:lpstr>Arial</vt:lpstr>
      <vt:lpstr>Times New Roman</vt:lpstr>
      <vt:lpstr>Тема Office</vt:lpstr>
      <vt:lpstr>Отчет магистранта о проделанной работе</vt:lpstr>
      <vt:lpstr>Тема магистерской диссертации и обоснование ее актуальности</vt:lpstr>
      <vt:lpstr>Про опыт РБ</vt:lpstr>
      <vt:lpstr>Отрасли применения</vt:lpstr>
      <vt:lpstr>Презентация PowerPoint</vt:lpstr>
      <vt:lpstr>Другие методы</vt:lpstr>
      <vt:lpstr>Презентация PowerPoint</vt:lpstr>
      <vt:lpstr>Список литературы</vt:lpstr>
      <vt:lpstr>Обзорные статьи, посвященные обнаружению дефектов:</vt:lpstr>
      <vt:lpstr>Презентация PowerPoint</vt:lpstr>
      <vt:lpstr>Фундаментальные статьи</vt:lpstr>
      <vt:lpstr>Статьи про автоэнкодеры:</vt:lpstr>
      <vt:lpstr>Другие статьи</vt:lpstr>
      <vt:lpstr>Книги</vt:lpstr>
      <vt:lpstr>Презентация PowerPoint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Отчет о проделанной работе</dc:title>
  <dc:creator>Рожкова Анна Сергеевна</dc:creator>
  <cp:lastModifiedBy>Рожкова Анна Сергеевна</cp:lastModifiedBy>
  <cp:revision>164</cp:revision>
  <dcterms:created xsi:type="dcterms:W3CDTF">2025-11-20T06:17:54Z</dcterms:created>
  <dcterms:modified xsi:type="dcterms:W3CDTF">2025-11-21T12:07:00Z</dcterms:modified>
</cp:coreProperties>
</file>