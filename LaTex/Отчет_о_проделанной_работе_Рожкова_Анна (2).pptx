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92" r:id="rId3"/>
    <p:sldId id="259" r:id="rId4"/>
    <p:sldId id="294" r:id="rId5"/>
    <p:sldId id="296" r:id="rId6"/>
    <p:sldId id="283" r:id="rId7"/>
    <p:sldId id="306" r:id="rId8"/>
    <p:sldId id="307" r:id="rId9"/>
    <p:sldId id="303" r:id="rId10"/>
    <p:sldId id="278" r:id="rId11"/>
    <p:sldId id="279" r:id="rId12"/>
    <p:sldId id="265" r:id="rId13"/>
    <p:sldId id="271" r:id="rId14"/>
    <p:sldId id="270" r:id="rId15"/>
    <p:sldId id="269" r:id="rId16"/>
    <p:sldId id="266" r:id="rId17"/>
    <p:sldId id="295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06E"/>
    <a:srgbClr val="0A3830"/>
    <a:srgbClr val="1D9B86"/>
    <a:srgbClr val="8EEADB"/>
    <a:srgbClr val="76E6D3"/>
    <a:srgbClr val="26CCB0"/>
    <a:srgbClr val="E7F9E6"/>
    <a:srgbClr val="CFE9E7"/>
    <a:srgbClr val="8FCE4A"/>
    <a:srgbClr val="82C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2503" autoAdjust="0"/>
  </p:normalViewPr>
  <p:slideViewPr>
    <p:cSldViewPr snapToGrid="0">
      <p:cViewPr varScale="1">
        <p:scale>
          <a:sx n="79" d="100"/>
          <a:sy n="79" d="100"/>
        </p:scale>
        <p:origin x="16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03705-9898-4261-A5D9-3C02A407BBB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CB71E-3167-46D9-B73C-A414F181DA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70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 последние годы наблюдается несколько существенных факторов интереса к задачам компьютерного зрения. Кроме того, во многих странах заметно значительное вложение средств в эту тему.</a:t>
            </a:r>
          </a:p>
          <a:p>
            <a:endParaRPr lang="ru-RU" dirty="0"/>
          </a:p>
          <a:p>
            <a:r>
              <a:rPr lang="ru-RU" dirty="0"/>
              <a:t>Однако при внедрении есть и серьёзные проблемы, которые нельзя игнорировать.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CB71E-3167-46D9-B73C-A414F181DA9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42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CB71E-3167-46D9-B73C-A414F181DA9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66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Подход базируется на методах глубокого обучения, нацеленных на обучение по нормальным (базовым) данным без необходимости разметки дефектов. </a:t>
            </a:r>
          </a:p>
          <a:p>
            <a:r>
              <a:rPr lang="ru-RU" dirty="0"/>
              <a:t>Главные черты решения:</a:t>
            </a:r>
          </a:p>
          <a:p>
            <a:r>
              <a:rPr lang="ru-RU" dirty="0"/>
              <a:t>1) Использование моделей реконструкции или представлений. Система обучается восстанавливать изображение или его признаки. Участки, которые плохо восстанавливаются, трактуются как аномальные.</a:t>
            </a:r>
          </a:p>
          <a:p>
            <a:r>
              <a:rPr lang="ru-RU" dirty="0"/>
              <a:t>2) Обучение на распределениях нормальных данных. Модель формирует математическое представление того, как выглядит объект в исправном состоянии, и сравнивает новые изображения с этим распределением.</a:t>
            </a:r>
          </a:p>
          <a:p>
            <a:r>
              <a:rPr lang="ru-RU" dirty="0"/>
              <a:t>3) Извлечение многоуровневых признаков. Глубокие </a:t>
            </a:r>
            <a:r>
              <a:rPr lang="ru-RU" dirty="0" err="1"/>
              <a:t>сверточные</a:t>
            </a:r>
            <a:r>
              <a:rPr lang="ru-RU" dirty="0"/>
              <a:t> сети позволяют выделять как глобальные формы, так и мелкие текстурные элементы, что важно для обнаружения дефектов.</a:t>
            </a:r>
          </a:p>
          <a:p>
            <a:r>
              <a:rPr lang="ru-RU" dirty="0"/>
              <a:t>4) Использование современных архитектур. Это могут быть </a:t>
            </a:r>
            <a:r>
              <a:rPr lang="ru-RU" dirty="0" err="1"/>
              <a:t>автоэнкодеры</a:t>
            </a:r>
            <a:r>
              <a:rPr lang="ru-RU" dirty="0"/>
              <a:t>, вариационные </a:t>
            </a:r>
            <a:r>
              <a:rPr lang="ru-RU" dirty="0" err="1"/>
              <a:t>автоэнкодеры</a:t>
            </a:r>
            <a:r>
              <a:rPr lang="ru-RU" dirty="0"/>
              <a:t>, нормализующие потоки, трансформеры или модели с встраиваемыми картами внимания.</a:t>
            </a:r>
          </a:p>
          <a:p>
            <a:r>
              <a:rPr lang="ru-RU" dirty="0"/>
              <a:t>5) Работа с небольшим количеством аномалий. Так как реальные дефекты встречаются редко, система концентрируется на изучении норм и выявлении отклонений, не требуя обширной разметки.</a:t>
            </a:r>
          </a:p>
          <a:p>
            <a:r>
              <a:rPr lang="ru-RU" dirty="0"/>
              <a:t>6) Гибкость и адаптивность. Модель может быть переобучена под новый объект или тип поверхности без полного изменения архитектуры.</a:t>
            </a:r>
          </a:p>
          <a:p>
            <a:endParaRPr lang="ru-RU" dirty="0"/>
          </a:p>
          <a:p>
            <a:r>
              <a:rPr lang="ru-RU" dirty="0"/>
              <a:t>Ключевые блоки:</a:t>
            </a:r>
          </a:p>
          <a:p>
            <a:r>
              <a:rPr lang="ru-RU" dirty="0"/>
              <a:t>1) Автоматическая подготовка данных — сбор и фильтрация нормальных образцов, аугментация для повышения вариативности;</a:t>
            </a:r>
          </a:p>
          <a:p>
            <a:r>
              <a:rPr lang="ru-RU" dirty="0"/>
              <a:t>2) Обучение на конкретных объектах — каждая модель адаптируется к типичной внешности изделия, что улучшает точность;</a:t>
            </a:r>
          </a:p>
          <a:p>
            <a:r>
              <a:rPr lang="ru-RU" dirty="0"/>
              <a:t>3) Обучение на неразмеченных данных — используются подходы типа реконструкции, плотностного моделирования или </a:t>
            </a:r>
            <a:r>
              <a:rPr lang="ru-RU" dirty="0" err="1"/>
              <a:t>контрастивного</a:t>
            </a:r>
            <a:r>
              <a:rPr lang="ru-RU" dirty="0"/>
              <a:t> обучения;</a:t>
            </a:r>
          </a:p>
          <a:p>
            <a:r>
              <a:rPr lang="ru-RU" dirty="0"/>
              <a:t>4) Визуализация найденных дефектов — тепловые карты, маски и </a:t>
            </a:r>
            <a:r>
              <a:rPr lang="ru-RU" dirty="0" err="1"/>
              <a:t>bounding-box’ы</a:t>
            </a:r>
            <a:r>
              <a:rPr lang="ru-RU" dirty="0"/>
              <a:t> для удобства оператора;</a:t>
            </a:r>
          </a:p>
          <a:p>
            <a:r>
              <a:rPr lang="ru-RU" dirty="0"/>
              <a:t>5) Интерфейс оператора — </a:t>
            </a:r>
            <a:r>
              <a:rPr lang="ru-RU" dirty="0" err="1"/>
              <a:t>дашборд</a:t>
            </a:r>
            <a:r>
              <a:rPr lang="ru-RU" dirty="0"/>
              <a:t> с возможностью фильтрации, метрик и ручной разметки для последующего </a:t>
            </a:r>
            <a:r>
              <a:rPr lang="ru-RU" dirty="0" err="1"/>
              <a:t>дообучения</a:t>
            </a:r>
            <a:r>
              <a:rPr lang="ru-RU" dirty="0"/>
              <a:t>;</a:t>
            </a:r>
          </a:p>
          <a:p>
            <a:r>
              <a:rPr lang="ru-RU" dirty="0"/>
              <a:t>6) Расширяемый модульный подход — независимые модули предобработки, модели детекции и интерфейса упрощают поддержку и интеграцию.	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CB71E-3167-46D9-B73C-A414F181DA9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567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CB71E-3167-46D9-B73C-A414F181DA9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743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5F8F1-1C25-44B7-91B1-FE3D19307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2A2784-EDDC-482D-AD2B-EDF711654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FC15A3-D44D-49EF-BD84-9EFB0436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7E5D8-60B2-4E30-BB8F-196DD47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0CCE07-920A-42FD-A9E0-DC11DFFC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88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8DD0A-0575-4DD3-8824-B4AE57EB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F1FB6-D0E4-4709-8606-A8514406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DC7E11-0450-495C-8C13-45C2EA5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94C984-ABEB-4238-98AF-6BE0BA63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661D3-5B42-46D5-A159-89CDA84E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04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17F5B-DA2C-43D1-A3EB-8CFDF99A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147F79-B4EE-4C6F-BD3C-2A758DB85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1250E1-4FC7-4B4F-A4B0-DA70691A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DC91FB-76A3-4FA0-9AD5-1C95E51F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F67F6-7771-4161-90B3-B7C8B08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0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4DB45-CB67-4A19-96AC-09921208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74225-4948-44E5-8526-3A4366374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6010C5-BB98-4F98-8DD1-F42D14512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674D1E-4F9A-41BA-ACC8-473B568E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C1BB0B-FD41-4417-BB76-1903F7CD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749BF5-EB0D-41E1-85E2-5CE19F13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91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7AB5D-F392-4A71-8443-768439C4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16852B-EAF8-4713-A65F-3145F487F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CA9AA8-52A1-44B9-B8B3-92331F3F9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D7E4DA-AC66-48D9-B55E-4438F6E94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B609B8-1C9F-4A76-AE2A-3DA890988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FE3EE96-5235-4480-BF3D-801D2853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0D6D10-5AE7-4B58-AF99-43AF42F2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3E6813-2CFF-4DC6-A31B-61C93DA6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6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1050A-5C6C-464B-A232-D65EAA34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3ECEFC-5A22-4807-A59F-12C54B9B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A5F59C-60BC-40FA-9EC4-3743A0FF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74193D-348C-4094-9997-71B399A2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20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0D3B17-C172-4EDB-8589-DD69A38C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51085E-751B-4DFC-8922-D838B29B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BE6D80-83DE-48EC-9D62-C547446F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8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E2958-0C89-4A4E-A3D0-2BE58A1C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5E619E-1A6A-42E1-A42E-4742CDFD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F954F3-0923-4F88-A396-605FF3904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26176-B028-4FFE-BBA9-A8F5763B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564D2A-5CB0-4879-966E-69E0883F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FD4770-17C4-4FBB-8617-2F86FCFD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1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D9B37-2B4B-45C3-A252-0F6102C7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340E52-209B-432D-AA3C-88772230D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100303-521B-4135-A523-F34B27B43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F4AA54-5B97-44F0-8794-4DD63BC8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22922C-08C6-481F-919D-E5574BF2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E3D251-1535-44AA-905B-0633FC90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5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4AE03-4760-4488-9B32-8B099251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5F1BA8-6209-45A2-B68F-C2276AC09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1AD687-28A9-4CDB-8DE9-5DC7877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C33A6F-21F6-4364-84FB-F188395B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E4161-AF3A-4EAC-9FEF-773F284A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60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101B47-03F4-4A28-A4AD-7E2A9B08F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55C75B-9E14-4E9A-88EB-EE4EB4ED8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4E7EC8-E406-4BA8-A6E9-1170C09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FA2545-94CB-433C-AED7-BB403A3A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ECC995-8112-41B1-8149-3E52A412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64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D40D8-8A2B-4B63-831C-F6639D43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5ED14C-5109-4AFE-A6FA-7260DC46E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8E19D-83B0-4DF8-86D4-7BCD3A96B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D21F3-209E-4ACD-A3BE-C94F9CD83AC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9A81CC-A526-42B7-8F10-1166C0002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0CC01-B824-463F-9D08-394B9ECC1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20051459" TargetMode="External"/><Relationship Id="rId7" Type="http://schemas.openxmlformats.org/officeDocument/2006/relationships/hyperlink" Target="https://doi.org/10.1007/s10462-025-11287-7" TargetMode="External"/><Relationship Id="rId2" Type="http://schemas.openxmlformats.org/officeDocument/2006/relationships/hyperlink" Target="https://doi.org/10.1145/1541880.154188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1633-023-1459-z" TargetMode="External"/><Relationship Id="rId5" Type="http://schemas.openxmlformats.org/officeDocument/2006/relationships/hyperlink" Target="https://doi.org/10.3390/a16020095" TargetMode="External"/><Relationship Id="rId4" Type="http://schemas.openxmlformats.org/officeDocument/2006/relationships/hyperlink" Target="https://doi.org/10.1109/ACCESS.2020.297503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app14156774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5.0172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16074" TargetMode="External"/><Relationship Id="rId2" Type="http://schemas.openxmlformats.org/officeDocument/2006/relationships/hyperlink" Target="https://arxiv.org/abs/2308.00429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4E768-1451-4324-BD46-6EFD5FBBB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8366"/>
            <a:ext cx="9144000" cy="1651666"/>
          </a:xfrm>
        </p:spPr>
        <p:txBody>
          <a:bodyPr anchor="ctr"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Отчет магистранта о проделанной работе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2C0A80-3A06-4B2A-BAA7-0BCD33A9F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0032"/>
            <a:ext cx="9144000" cy="623236"/>
          </a:xfrm>
        </p:spPr>
        <p:txBody>
          <a:bodyPr anchor="ctr"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За сентябрь-ноябрь 2025 года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C3C6E-8841-43CB-A6C3-34A0A801EC8B}"/>
              </a:ext>
            </a:extLst>
          </p:cNvPr>
          <p:cNvSpPr txBox="1"/>
          <p:nvPr/>
        </p:nvSpPr>
        <p:spPr>
          <a:xfrm>
            <a:off x="651308" y="4029345"/>
            <a:ext cx="5444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Подготовила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Рожкова Анна Сергеевна,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студентка 1 курса магистратуры,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Специальность: 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7-06-0533-04 «Математика и компьютерные науки»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28C22-1A77-4787-A967-EAA07E1502CC}"/>
              </a:ext>
            </a:extLst>
          </p:cNvPr>
          <p:cNvSpPr txBox="1"/>
          <p:nvPr/>
        </p:nvSpPr>
        <p:spPr>
          <a:xfrm>
            <a:off x="3101130" y="128678"/>
            <a:ext cx="598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БЕЛОРУССКИЙ ГОСУДАРСТВЕННЫЙ УНИВЕРСИТЕТ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512F7-8D92-43F6-A568-8566F60BD13B}"/>
              </a:ext>
            </a:extLst>
          </p:cNvPr>
          <p:cNvSpPr txBox="1"/>
          <p:nvPr/>
        </p:nvSpPr>
        <p:spPr>
          <a:xfrm>
            <a:off x="3512190" y="497440"/>
            <a:ext cx="516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МЕХАНИКО-МАТЕМАТИЧЕСКИЙ ФАКУЛЬТЕТ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6D2FB-14A5-458E-A280-D4162DC7496C}"/>
              </a:ext>
            </a:extLst>
          </p:cNvPr>
          <p:cNvSpPr txBox="1"/>
          <p:nvPr/>
        </p:nvSpPr>
        <p:spPr>
          <a:xfrm>
            <a:off x="2958516" y="866487"/>
            <a:ext cx="627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+mj-lt"/>
              </a:rPr>
              <a:t>Кафедра дифференциальных уравнений и системного анализа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79A9C-086D-490E-A9E5-CEEB2ADA4D4C}"/>
              </a:ext>
            </a:extLst>
          </p:cNvPr>
          <p:cNvSpPr txBox="1"/>
          <p:nvPr/>
        </p:nvSpPr>
        <p:spPr>
          <a:xfrm>
            <a:off x="651308" y="5506673"/>
            <a:ext cx="532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Научный руководитель: </a:t>
            </a:r>
          </a:p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Василевич М.Н., </a:t>
            </a:r>
          </a:p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кандидат физико-математических наук, доцент</a:t>
            </a:r>
          </a:p>
        </p:txBody>
      </p:sp>
    </p:spTree>
    <p:extLst>
      <p:ext uri="{BB962C8B-B14F-4D97-AF65-F5344CB8AC3E}">
        <p14:creationId xmlns:p14="http://schemas.microsoft.com/office/powerpoint/2010/main" val="22630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640393-B6B5-4ACF-957C-A7D4D0FCD7A5}"/>
              </a:ext>
            </a:extLst>
          </p:cNvPr>
          <p:cNvSpPr/>
          <p:nvPr/>
        </p:nvSpPr>
        <p:spPr>
          <a:xfrm>
            <a:off x="904164" y="2012192"/>
            <a:ext cx="5864936" cy="4845808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b="1" dirty="0">
                <a:solidFill>
                  <a:schemeClr val="bg1"/>
                </a:solidFill>
              </a:rPr>
              <a:t>Факторы роста: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Растущий спрос на автоматизацию в различных отраслях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Растущие требования к аналитике в режиме реального времени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Достижения в технологиях искусственного интеллекта и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r>
              <a:rPr lang="ru-RU" sz="2200" b="1" dirty="0">
                <a:solidFill>
                  <a:schemeClr val="bg1"/>
                </a:solidFill>
              </a:rPr>
              <a:t>Проблемы:</a:t>
            </a:r>
            <a:r>
              <a:rPr lang="ru-RU" sz="2200" dirty="0">
                <a:solidFill>
                  <a:schemeClr val="bg1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Высокая стоимость современных систем компьютерного зрения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Вопросы конфиденциальности и безопасности данных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ECB85B2-A519-4792-9C3D-C35B20D5E6D7}"/>
              </a:ext>
            </a:extLst>
          </p:cNvPr>
          <p:cNvSpPr txBox="1">
            <a:spLocks/>
          </p:cNvSpPr>
          <p:nvPr/>
        </p:nvSpPr>
        <p:spPr>
          <a:xfrm>
            <a:off x="904164" y="245660"/>
            <a:ext cx="10536072" cy="1473247"/>
          </a:xfrm>
          <a:custGeom>
            <a:avLst/>
            <a:gdLst>
              <a:gd name="connsiteX0" fmla="*/ 0 w 10536072"/>
              <a:gd name="connsiteY0" fmla="*/ 0 h 1473247"/>
              <a:gd name="connsiteX1" fmla="*/ 342422 w 10536072"/>
              <a:gd name="connsiteY1" fmla="*/ 0 h 1473247"/>
              <a:gd name="connsiteX2" fmla="*/ 1211648 w 10536072"/>
              <a:gd name="connsiteY2" fmla="*/ 0 h 1473247"/>
              <a:gd name="connsiteX3" fmla="*/ 1870153 w 10536072"/>
              <a:gd name="connsiteY3" fmla="*/ 0 h 1473247"/>
              <a:gd name="connsiteX4" fmla="*/ 2212575 w 10536072"/>
              <a:gd name="connsiteY4" fmla="*/ 0 h 1473247"/>
              <a:gd name="connsiteX5" fmla="*/ 2871080 w 10536072"/>
              <a:gd name="connsiteY5" fmla="*/ 0 h 1473247"/>
              <a:gd name="connsiteX6" fmla="*/ 3740306 w 10536072"/>
              <a:gd name="connsiteY6" fmla="*/ 0 h 1473247"/>
              <a:gd name="connsiteX7" fmla="*/ 4293449 w 10536072"/>
              <a:gd name="connsiteY7" fmla="*/ 0 h 1473247"/>
              <a:gd name="connsiteX8" fmla="*/ 4846593 w 10536072"/>
              <a:gd name="connsiteY8" fmla="*/ 0 h 1473247"/>
              <a:gd name="connsiteX9" fmla="*/ 5505098 w 10536072"/>
              <a:gd name="connsiteY9" fmla="*/ 0 h 1473247"/>
              <a:gd name="connsiteX10" fmla="*/ 6268963 w 10536072"/>
              <a:gd name="connsiteY10" fmla="*/ 0 h 1473247"/>
              <a:gd name="connsiteX11" fmla="*/ 7032828 w 10536072"/>
              <a:gd name="connsiteY11" fmla="*/ 0 h 1473247"/>
              <a:gd name="connsiteX12" fmla="*/ 7796693 w 10536072"/>
              <a:gd name="connsiteY12" fmla="*/ 0 h 1473247"/>
              <a:gd name="connsiteX13" fmla="*/ 8665919 w 10536072"/>
              <a:gd name="connsiteY13" fmla="*/ 0 h 1473247"/>
              <a:gd name="connsiteX14" fmla="*/ 9324424 w 10536072"/>
              <a:gd name="connsiteY14" fmla="*/ 0 h 1473247"/>
              <a:gd name="connsiteX15" fmla="*/ 10536072 w 10536072"/>
              <a:gd name="connsiteY15" fmla="*/ 0 h 1473247"/>
              <a:gd name="connsiteX16" fmla="*/ 10536072 w 10536072"/>
              <a:gd name="connsiteY16" fmla="*/ 491082 h 1473247"/>
              <a:gd name="connsiteX17" fmla="*/ 10536072 w 10536072"/>
              <a:gd name="connsiteY17" fmla="*/ 1011630 h 1473247"/>
              <a:gd name="connsiteX18" fmla="*/ 10536072 w 10536072"/>
              <a:gd name="connsiteY18" fmla="*/ 1473247 h 1473247"/>
              <a:gd name="connsiteX19" fmla="*/ 9666846 w 10536072"/>
              <a:gd name="connsiteY19" fmla="*/ 1473247 h 1473247"/>
              <a:gd name="connsiteX20" fmla="*/ 9113702 w 10536072"/>
              <a:gd name="connsiteY20" fmla="*/ 1473247 h 1473247"/>
              <a:gd name="connsiteX21" fmla="*/ 8560559 w 10536072"/>
              <a:gd name="connsiteY21" fmla="*/ 1473247 h 1473247"/>
              <a:gd name="connsiteX22" fmla="*/ 8007415 w 10536072"/>
              <a:gd name="connsiteY22" fmla="*/ 1473247 h 1473247"/>
              <a:gd name="connsiteX23" fmla="*/ 7243550 w 10536072"/>
              <a:gd name="connsiteY23" fmla="*/ 1473247 h 1473247"/>
              <a:gd name="connsiteX24" fmla="*/ 6585045 w 10536072"/>
              <a:gd name="connsiteY24" fmla="*/ 1473247 h 1473247"/>
              <a:gd name="connsiteX25" fmla="*/ 6242623 w 10536072"/>
              <a:gd name="connsiteY25" fmla="*/ 1473247 h 1473247"/>
              <a:gd name="connsiteX26" fmla="*/ 5689479 w 10536072"/>
              <a:gd name="connsiteY26" fmla="*/ 1473247 h 1473247"/>
              <a:gd name="connsiteX27" fmla="*/ 4925614 w 10536072"/>
              <a:gd name="connsiteY27" fmla="*/ 1473247 h 1473247"/>
              <a:gd name="connsiteX28" fmla="*/ 4477831 w 10536072"/>
              <a:gd name="connsiteY28" fmla="*/ 1473247 h 1473247"/>
              <a:gd name="connsiteX29" fmla="*/ 3608605 w 10536072"/>
              <a:gd name="connsiteY29" fmla="*/ 1473247 h 1473247"/>
              <a:gd name="connsiteX30" fmla="*/ 2739379 w 10536072"/>
              <a:gd name="connsiteY30" fmla="*/ 1473247 h 1473247"/>
              <a:gd name="connsiteX31" fmla="*/ 2080874 w 10536072"/>
              <a:gd name="connsiteY31" fmla="*/ 1473247 h 1473247"/>
              <a:gd name="connsiteX32" fmla="*/ 1211648 w 10536072"/>
              <a:gd name="connsiteY32" fmla="*/ 1473247 h 1473247"/>
              <a:gd name="connsiteX33" fmla="*/ 0 w 10536072"/>
              <a:gd name="connsiteY33" fmla="*/ 1473247 h 1473247"/>
              <a:gd name="connsiteX34" fmla="*/ 0 w 10536072"/>
              <a:gd name="connsiteY34" fmla="*/ 967432 h 1473247"/>
              <a:gd name="connsiteX35" fmla="*/ 0 w 10536072"/>
              <a:gd name="connsiteY35" fmla="*/ 505815 h 1473247"/>
              <a:gd name="connsiteX36" fmla="*/ 0 w 10536072"/>
              <a:gd name="connsiteY36" fmla="*/ 0 h 14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36072" h="1473247" fill="none" extrusionOk="0">
                <a:moveTo>
                  <a:pt x="0" y="0"/>
                </a:moveTo>
                <a:cubicBezTo>
                  <a:pt x="170638" y="-3227"/>
                  <a:pt x="242755" y="-8478"/>
                  <a:pt x="342422" y="0"/>
                </a:cubicBezTo>
                <a:cubicBezTo>
                  <a:pt x="442089" y="8478"/>
                  <a:pt x="788844" y="-32598"/>
                  <a:pt x="1211648" y="0"/>
                </a:cubicBezTo>
                <a:cubicBezTo>
                  <a:pt x="1634452" y="32598"/>
                  <a:pt x="1545805" y="16754"/>
                  <a:pt x="1870153" y="0"/>
                </a:cubicBezTo>
                <a:cubicBezTo>
                  <a:pt x="2194502" y="-16754"/>
                  <a:pt x="2137829" y="-2132"/>
                  <a:pt x="2212575" y="0"/>
                </a:cubicBezTo>
                <a:cubicBezTo>
                  <a:pt x="2287321" y="2132"/>
                  <a:pt x="2661122" y="14575"/>
                  <a:pt x="2871080" y="0"/>
                </a:cubicBezTo>
                <a:cubicBezTo>
                  <a:pt x="3081038" y="-14575"/>
                  <a:pt x="3324059" y="-26478"/>
                  <a:pt x="3740306" y="0"/>
                </a:cubicBezTo>
                <a:cubicBezTo>
                  <a:pt x="4156553" y="26478"/>
                  <a:pt x="4042059" y="-21422"/>
                  <a:pt x="4293449" y="0"/>
                </a:cubicBezTo>
                <a:cubicBezTo>
                  <a:pt x="4544839" y="21422"/>
                  <a:pt x="4675378" y="-14390"/>
                  <a:pt x="4846593" y="0"/>
                </a:cubicBezTo>
                <a:cubicBezTo>
                  <a:pt x="5017808" y="14390"/>
                  <a:pt x="5278534" y="-14693"/>
                  <a:pt x="5505098" y="0"/>
                </a:cubicBezTo>
                <a:cubicBezTo>
                  <a:pt x="5731663" y="14693"/>
                  <a:pt x="6110631" y="21813"/>
                  <a:pt x="6268963" y="0"/>
                </a:cubicBezTo>
                <a:cubicBezTo>
                  <a:pt x="6427295" y="-21813"/>
                  <a:pt x="6752560" y="-19507"/>
                  <a:pt x="7032828" y="0"/>
                </a:cubicBezTo>
                <a:cubicBezTo>
                  <a:pt x="7313097" y="19507"/>
                  <a:pt x="7555463" y="-7915"/>
                  <a:pt x="7796693" y="0"/>
                </a:cubicBezTo>
                <a:cubicBezTo>
                  <a:pt x="8037924" y="7915"/>
                  <a:pt x="8482692" y="-24697"/>
                  <a:pt x="8665919" y="0"/>
                </a:cubicBezTo>
                <a:cubicBezTo>
                  <a:pt x="8849146" y="24697"/>
                  <a:pt x="9115048" y="18415"/>
                  <a:pt x="9324424" y="0"/>
                </a:cubicBezTo>
                <a:cubicBezTo>
                  <a:pt x="9533800" y="-18415"/>
                  <a:pt x="10189238" y="-2880"/>
                  <a:pt x="10536072" y="0"/>
                </a:cubicBezTo>
                <a:cubicBezTo>
                  <a:pt x="10528582" y="103442"/>
                  <a:pt x="10544072" y="302800"/>
                  <a:pt x="10536072" y="491082"/>
                </a:cubicBezTo>
                <a:cubicBezTo>
                  <a:pt x="10528072" y="679364"/>
                  <a:pt x="10518789" y="845093"/>
                  <a:pt x="10536072" y="1011630"/>
                </a:cubicBezTo>
                <a:cubicBezTo>
                  <a:pt x="10553355" y="1178167"/>
                  <a:pt x="10557230" y="1322951"/>
                  <a:pt x="10536072" y="1473247"/>
                </a:cubicBezTo>
                <a:cubicBezTo>
                  <a:pt x="10209976" y="1489033"/>
                  <a:pt x="9878422" y="1504300"/>
                  <a:pt x="9666846" y="1473247"/>
                </a:cubicBezTo>
                <a:cubicBezTo>
                  <a:pt x="9455270" y="1442194"/>
                  <a:pt x="9317495" y="1469565"/>
                  <a:pt x="9113702" y="1473247"/>
                </a:cubicBezTo>
                <a:cubicBezTo>
                  <a:pt x="8909909" y="1476929"/>
                  <a:pt x="8768355" y="1464148"/>
                  <a:pt x="8560559" y="1473247"/>
                </a:cubicBezTo>
                <a:cubicBezTo>
                  <a:pt x="8352763" y="1482346"/>
                  <a:pt x="8221728" y="1498460"/>
                  <a:pt x="8007415" y="1473247"/>
                </a:cubicBezTo>
                <a:cubicBezTo>
                  <a:pt x="7793102" y="1448034"/>
                  <a:pt x="7543911" y="1438200"/>
                  <a:pt x="7243550" y="1473247"/>
                </a:cubicBezTo>
                <a:cubicBezTo>
                  <a:pt x="6943190" y="1508294"/>
                  <a:pt x="6899696" y="1502806"/>
                  <a:pt x="6585045" y="1473247"/>
                </a:cubicBezTo>
                <a:cubicBezTo>
                  <a:pt x="6270395" y="1443688"/>
                  <a:pt x="6408534" y="1465362"/>
                  <a:pt x="6242623" y="1473247"/>
                </a:cubicBezTo>
                <a:cubicBezTo>
                  <a:pt x="6076712" y="1481132"/>
                  <a:pt x="5927077" y="1471371"/>
                  <a:pt x="5689479" y="1473247"/>
                </a:cubicBezTo>
                <a:cubicBezTo>
                  <a:pt x="5451881" y="1475123"/>
                  <a:pt x="5292564" y="1490901"/>
                  <a:pt x="4925614" y="1473247"/>
                </a:cubicBezTo>
                <a:cubicBezTo>
                  <a:pt x="4558664" y="1455593"/>
                  <a:pt x="4588090" y="1494698"/>
                  <a:pt x="4477831" y="1473247"/>
                </a:cubicBezTo>
                <a:cubicBezTo>
                  <a:pt x="4367572" y="1451796"/>
                  <a:pt x="3983650" y="1497048"/>
                  <a:pt x="3608605" y="1473247"/>
                </a:cubicBezTo>
                <a:cubicBezTo>
                  <a:pt x="3233560" y="1449446"/>
                  <a:pt x="2937559" y="1501024"/>
                  <a:pt x="2739379" y="1473247"/>
                </a:cubicBezTo>
                <a:cubicBezTo>
                  <a:pt x="2541199" y="1445470"/>
                  <a:pt x="2251189" y="1477357"/>
                  <a:pt x="2080874" y="1473247"/>
                </a:cubicBezTo>
                <a:cubicBezTo>
                  <a:pt x="1910560" y="1469137"/>
                  <a:pt x="1591616" y="1432296"/>
                  <a:pt x="1211648" y="1473247"/>
                </a:cubicBezTo>
                <a:cubicBezTo>
                  <a:pt x="831680" y="1514198"/>
                  <a:pt x="399468" y="1479806"/>
                  <a:pt x="0" y="1473247"/>
                </a:cubicBezTo>
                <a:cubicBezTo>
                  <a:pt x="-21588" y="1358984"/>
                  <a:pt x="-21609" y="1160994"/>
                  <a:pt x="0" y="967432"/>
                </a:cubicBezTo>
                <a:cubicBezTo>
                  <a:pt x="21609" y="773871"/>
                  <a:pt x="3189" y="641017"/>
                  <a:pt x="0" y="505815"/>
                </a:cubicBezTo>
                <a:cubicBezTo>
                  <a:pt x="-3189" y="370613"/>
                  <a:pt x="8086" y="229632"/>
                  <a:pt x="0" y="0"/>
                </a:cubicBezTo>
                <a:close/>
              </a:path>
              <a:path w="10536072" h="1473247" stroke="0" extrusionOk="0">
                <a:moveTo>
                  <a:pt x="0" y="0"/>
                </a:moveTo>
                <a:cubicBezTo>
                  <a:pt x="124834" y="11046"/>
                  <a:pt x="334746" y="-27317"/>
                  <a:pt x="553144" y="0"/>
                </a:cubicBezTo>
                <a:cubicBezTo>
                  <a:pt x="771542" y="27317"/>
                  <a:pt x="801337" y="15140"/>
                  <a:pt x="895566" y="0"/>
                </a:cubicBezTo>
                <a:cubicBezTo>
                  <a:pt x="989795" y="-15140"/>
                  <a:pt x="1332723" y="-19029"/>
                  <a:pt x="1764792" y="0"/>
                </a:cubicBezTo>
                <a:cubicBezTo>
                  <a:pt x="2196861" y="19029"/>
                  <a:pt x="2141091" y="-13523"/>
                  <a:pt x="2317936" y="0"/>
                </a:cubicBezTo>
                <a:cubicBezTo>
                  <a:pt x="2494781" y="13523"/>
                  <a:pt x="2751421" y="21117"/>
                  <a:pt x="2871080" y="0"/>
                </a:cubicBezTo>
                <a:cubicBezTo>
                  <a:pt x="2990739" y="-21117"/>
                  <a:pt x="3425096" y="-41438"/>
                  <a:pt x="3740306" y="0"/>
                </a:cubicBezTo>
                <a:cubicBezTo>
                  <a:pt x="4055516" y="41438"/>
                  <a:pt x="4012862" y="9677"/>
                  <a:pt x="4188089" y="0"/>
                </a:cubicBezTo>
                <a:cubicBezTo>
                  <a:pt x="4363316" y="-9677"/>
                  <a:pt x="4702184" y="31897"/>
                  <a:pt x="5057315" y="0"/>
                </a:cubicBezTo>
                <a:cubicBezTo>
                  <a:pt x="5412446" y="-31897"/>
                  <a:pt x="5719646" y="30807"/>
                  <a:pt x="5926541" y="0"/>
                </a:cubicBezTo>
                <a:cubicBezTo>
                  <a:pt x="6133436" y="-30807"/>
                  <a:pt x="6381779" y="6989"/>
                  <a:pt x="6585045" y="0"/>
                </a:cubicBezTo>
                <a:cubicBezTo>
                  <a:pt x="6788311" y="-6989"/>
                  <a:pt x="7075550" y="21499"/>
                  <a:pt x="7454271" y="0"/>
                </a:cubicBezTo>
                <a:cubicBezTo>
                  <a:pt x="7832992" y="-21499"/>
                  <a:pt x="7814013" y="-439"/>
                  <a:pt x="8007415" y="0"/>
                </a:cubicBezTo>
                <a:cubicBezTo>
                  <a:pt x="8200817" y="439"/>
                  <a:pt x="8352463" y="-9370"/>
                  <a:pt x="8560559" y="0"/>
                </a:cubicBezTo>
                <a:cubicBezTo>
                  <a:pt x="8768655" y="9370"/>
                  <a:pt x="8985443" y="14713"/>
                  <a:pt x="9324424" y="0"/>
                </a:cubicBezTo>
                <a:cubicBezTo>
                  <a:pt x="9663405" y="-14713"/>
                  <a:pt x="9736203" y="6165"/>
                  <a:pt x="9877568" y="0"/>
                </a:cubicBezTo>
                <a:cubicBezTo>
                  <a:pt x="10018933" y="-6165"/>
                  <a:pt x="10230349" y="19429"/>
                  <a:pt x="10536072" y="0"/>
                </a:cubicBezTo>
                <a:cubicBezTo>
                  <a:pt x="10555212" y="192766"/>
                  <a:pt x="10521319" y="401317"/>
                  <a:pt x="10536072" y="520547"/>
                </a:cubicBezTo>
                <a:cubicBezTo>
                  <a:pt x="10550825" y="639777"/>
                  <a:pt x="10530484" y="924566"/>
                  <a:pt x="10536072" y="1026362"/>
                </a:cubicBezTo>
                <a:cubicBezTo>
                  <a:pt x="10541660" y="1128158"/>
                  <a:pt x="10552389" y="1261865"/>
                  <a:pt x="10536072" y="1473247"/>
                </a:cubicBezTo>
                <a:cubicBezTo>
                  <a:pt x="10396614" y="1489586"/>
                  <a:pt x="10354707" y="1468263"/>
                  <a:pt x="10193650" y="1473247"/>
                </a:cubicBezTo>
                <a:cubicBezTo>
                  <a:pt x="10032593" y="1478231"/>
                  <a:pt x="9526605" y="1449167"/>
                  <a:pt x="9324424" y="1473247"/>
                </a:cubicBezTo>
                <a:cubicBezTo>
                  <a:pt x="9122243" y="1497327"/>
                  <a:pt x="8898880" y="1456803"/>
                  <a:pt x="8665919" y="1473247"/>
                </a:cubicBezTo>
                <a:cubicBezTo>
                  <a:pt x="8432959" y="1489691"/>
                  <a:pt x="8360567" y="1469714"/>
                  <a:pt x="8218136" y="1473247"/>
                </a:cubicBezTo>
                <a:cubicBezTo>
                  <a:pt x="8075705" y="1476780"/>
                  <a:pt x="7703160" y="1464634"/>
                  <a:pt x="7559632" y="1473247"/>
                </a:cubicBezTo>
                <a:cubicBezTo>
                  <a:pt x="7416104" y="1481860"/>
                  <a:pt x="7300958" y="1477192"/>
                  <a:pt x="7217209" y="1473247"/>
                </a:cubicBezTo>
                <a:cubicBezTo>
                  <a:pt x="7133460" y="1469302"/>
                  <a:pt x="6971626" y="1465062"/>
                  <a:pt x="6874787" y="1473247"/>
                </a:cubicBezTo>
                <a:cubicBezTo>
                  <a:pt x="6777948" y="1481432"/>
                  <a:pt x="6456213" y="1448579"/>
                  <a:pt x="6216282" y="1473247"/>
                </a:cubicBezTo>
                <a:cubicBezTo>
                  <a:pt x="5976352" y="1497915"/>
                  <a:pt x="5957714" y="1465901"/>
                  <a:pt x="5768499" y="1473247"/>
                </a:cubicBezTo>
                <a:cubicBezTo>
                  <a:pt x="5579284" y="1480593"/>
                  <a:pt x="5185837" y="1475207"/>
                  <a:pt x="5004634" y="1473247"/>
                </a:cubicBezTo>
                <a:cubicBezTo>
                  <a:pt x="4823432" y="1471287"/>
                  <a:pt x="4694247" y="1465003"/>
                  <a:pt x="4556851" y="1473247"/>
                </a:cubicBezTo>
                <a:cubicBezTo>
                  <a:pt x="4419455" y="1481491"/>
                  <a:pt x="3961624" y="1437488"/>
                  <a:pt x="3792986" y="1473247"/>
                </a:cubicBezTo>
                <a:cubicBezTo>
                  <a:pt x="3624349" y="1509006"/>
                  <a:pt x="3606439" y="1461005"/>
                  <a:pt x="3450564" y="1473247"/>
                </a:cubicBezTo>
                <a:cubicBezTo>
                  <a:pt x="3294689" y="1485489"/>
                  <a:pt x="3047803" y="1443534"/>
                  <a:pt x="2686698" y="1473247"/>
                </a:cubicBezTo>
                <a:cubicBezTo>
                  <a:pt x="2325593" y="1502960"/>
                  <a:pt x="2378357" y="1479112"/>
                  <a:pt x="2238915" y="1473247"/>
                </a:cubicBezTo>
                <a:cubicBezTo>
                  <a:pt x="2099473" y="1467382"/>
                  <a:pt x="1994239" y="1462106"/>
                  <a:pt x="1896493" y="1473247"/>
                </a:cubicBezTo>
                <a:cubicBezTo>
                  <a:pt x="1798747" y="1484388"/>
                  <a:pt x="1605231" y="1466509"/>
                  <a:pt x="1448710" y="1473247"/>
                </a:cubicBezTo>
                <a:cubicBezTo>
                  <a:pt x="1292189" y="1479985"/>
                  <a:pt x="997653" y="1469935"/>
                  <a:pt x="684845" y="1473247"/>
                </a:cubicBezTo>
                <a:cubicBezTo>
                  <a:pt x="372037" y="1476559"/>
                  <a:pt x="149225" y="1486004"/>
                  <a:pt x="0" y="1473247"/>
                </a:cubicBezTo>
                <a:cubicBezTo>
                  <a:pt x="-14567" y="1349963"/>
                  <a:pt x="6317" y="1135463"/>
                  <a:pt x="0" y="1026362"/>
                </a:cubicBezTo>
                <a:cubicBezTo>
                  <a:pt x="-6317" y="917262"/>
                  <a:pt x="-7270" y="674490"/>
                  <a:pt x="0" y="579477"/>
                </a:cubicBezTo>
                <a:cubicBezTo>
                  <a:pt x="7270" y="484465"/>
                  <a:pt x="-2304" y="1950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3600" b="1" dirty="0">
                <a:solidFill>
                  <a:srgbClr val="0A3830"/>
                </a:solidFill>
              </a:rPr>
              <a:t>Тема: выявление аномалий неразмеченных изображений с использованием методов глубокого обучения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C404BBC-05F0-42A8-9158-573E1DE73F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30939" y="2012192"/>
            <a:ext cx="4309298" cy="23323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2989FD3-59CE-43DE-826C-244006D06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808" y="4522837"/>
            <a:ext cx="4309298" cy="233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8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E6BA-377A-432C-B7A2-457D5854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25" y="540000"/>
            <a:ext cx="6154277" cy="1260000"/>
          </a:xfrm>
          <a:custGeom>
            <a:avLst/>
            <a:gdLst>
              <a:gd name="connsiteX0" fmla="*/ 0 w 6154277"/>
              <a:gd name="connsiteY0" fmla="*/ 0 h 1260000"/>
              <a:gd name="connsiteX1" fmla="*/ 806894 w 6154277"/>
              <a:gd name="connsiteY1" fmla="*/ 0 h 1260000"/>
              <a:gd name="connsiteX2" fmla="*/ 1552245 w 6154277"/>
              <a:gd name="connsiteY2" fmla="*/ 0 h 1260000"/>
              <a:gd name="connsiteX3" fmla="*/ 2236054 w 6154277"/>
              <a:gd name="connsiteY3" fmla="*/ 0 h 1260000"/>
              <a:gd name="connsiteX4" fmla="*/ 2919863 w 6154277"/>
              <a:gd name="connsiteY4" fmla="*/ 0 h 1260000"/>
              <a:gd name="connsiteX5" fmla="*/ 3726757 w 6154277"/>
              <a:gd name="connsiteY5" fmla="*/ 0 h 1260000"/>
              <a:gd name="connsiteX6" fmla="*/ 4472108 w 6154277"/>
              <a:gd name="connsiteY6" fmla="*/ 0 h 1260000"/>
              <a:gd name="connsiteX7" fmla="*/ 4971288 w 6154277"/>
              <a:gd name="connsiteY7" fmla="*/ 0 h 1260000"/>
              <a:gd name="connsiteX8" fmla="*/ 6154277 w 6154277"/>
              <a:gd name="connsiteY8" fmla="*/ 0 h 1260000"/>
              <a:gd name="connsiteX9" fmla="*/ 6154277 w 6154277"/>
              <a:gd name="connsiteY9" fmla="*/ 655200 h 1260000"/>
              <a:gd name="connsiteX10" fmla="*/ 6154277 w 6154277"/>
              <a:gd name="connsiteY10" fmla="*/ 1260000 h 1260000"/>
              <a:gd name="connsiteX11" fmla="*/ 5593554 w 6154277"/>
              <a:gd name="connsiteY11" fmla="*/ 1260000 h 1260000"/>
              <a:gd name="connsiteX12" fmla="*/ 4786660 w 6154277"/>
              <a:gd name="connsiteY12" fmla="*/ 1260000 h 1260000"/>
              <a:gd name="connsiteX13" fmla="*/ 4164394 w 6154277"/>
              <a:gd name="connsiteY13" fmla="*/ 1260000 h 1260000"/>
              <a:gd name="connsiteX14" fmla="*/ 3357500 w 6154277"/>
              <a:gd name="connsiteY14" fmla="*/ 1260000 h 1260000"/>
              <a:gd name="connsiteX15" fmla="*/ 2796777 w 6154277"/>
              <a:gd name="connsiteY15" fmla="*/ 1260000 h 1260000"/>
              <a:gd name="connsiteX16" fmla="*/ 2297597 w 6154277"/>
              <a:gd name="connsiteY16" fmla="*/ 1260000 h 1260000"/>
              <a:gd name="connsiteX17" fmla="*/ 1798417 w 6154277"/>
              <a:gd name="connsiteY17" fmla="*/ 1260000 h 1260000"/>
              <a:gd name="connsiteX18" fmla="*/ 1053065 w 6154277"/>
              <a:gd name="connsiteY18" fmla="*/ 1260000 h 1260000"/>
              <a:gd name="connsiteX19" fmla="*/ 0 w 6154277"/>
              <a:gd name="connsiteY19" fmla="*/ 1260000 h 1260000"/>
              <a:gd name="connsiteX20" fmla="*/ 0 w 6154277"/>
              <a:gd name="connsiteY20" fmla="*/ 630000 h 1260000"/>
              <a:gd name="connsiteX21" fmla="*/ 0 w 6154277"/>
              <a:gd name="connsiteY21" fmla="*/ 0 h 1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54277" h="1260000" fill="none" extrusionOk="0">
                <a:moveTo>
                  <a:pt x="0" y="0"/>
                </a:moveTo>
                <a:cubicBezTo>
                  <a:pt x="375400" y="23272"/>
                  <a:pt x="486416" y="6341"/>
                  <a:pt x="806894" y="0"/>
                </a:cubicBezTo>
                <a:cubicBezTo>
                  <a:pt x="1127372" y="-6341"/>
                  <a:pt x="1184245" y="3118"/>
                  <a:pt x="1552245" y="0"/>
                </a:cubicBezTo>
                <a:cubicBezTo>
                  <a:pt x="1920245" y="-3118"/>
                  <a:pt x="1901238" y="8734"/>
                  <a:pt x="2236054" y="0"/>
                </a:cubicBezTo>
                <a:cubicBezTo>
                  <a:pt x="2570870" y="-8734"/>
                  <a:pt x="2618441" y="15459"/>
                  <a:pt x="2919863" y="0"/>
                </a:cubicBezTo>
                <a:cubicBezTo>
                  <a:pt x="3221285" y="-15459"/>
                  <a:pt x="3537654" y="-20891"/>
                  <a:pt x="3726757" y="0"/>
                </a:cubicBezTo>
                <a:cubicBezTo>
                  <a:pt x="3915860" y="20891"/>
                  <a:pt x="4237810" y="27583"/>
                  <a:pt x="4472108" y="0"/>
                </a:cubicBezTo>
                <a:cubicBezTo>
                  <a:pt x="4706406" y="-27583"/>
                  <a:pt x="4862931" y="7514"/>
                  <a:pt x="4971288" y="0"/>
                </a:cubicBezTo>
                <a:cubicBezTo>
                  <a:pt x="5079645" y="-7514"/>
                  <a:pt x="5888660" y="702"/>
                  <a:pt x="6154277" y="0"/>
                </a:cubicBezTo>
                <a:cubicBezTo>
                  <a:pt x="6179855" y="260571"/>
                  <a:pt x="6171739" y="518794"/>
                  <a:pt x="6154277" y="655200"/>
                </a:cubicBezTo>
                <a:cubicBezTo>
                  <a:pt x="6136815" y="791606"/>
                  <a:pt x="6144568" y="1099874"/>
                  <a:pt x="6154277" y="1260000"/>
                </a:cubicBezTo>
                <a:cubicBezTo>
                  <a:pt x="5922129" y="1249107"/>
                  <a:pt x="5770738" y="1283829"/>
                  <a:pt x="5593554" y="1260000"/>
                </a:cubicBezTo>
                <a:cubicBezTo>
                  <a:pt x="5416370" y="1236171"/>
                  <a:pt x="5033640" y="1251420"/>
                  <a:pt x="4786660" y="1260000"/>
                </a:cubicBezTo>
                <a:cubicBezTo>
                  <a:pt x="4539680" y="1268580"/>
                  <a:pt x="4436121" y="1273854"/>
                  <a:pt x="4164394" y="1260000"/>
                </a:cubicBezTo>
                <a:cubicBezTo>
                  <a:pt x="3892667" y="1246146"/>
                  <a:pt x="3553968" y="1239222"/>
                  <a:pt x="3357500" y="1260000"/>
                </a:cubicBezTo>
                <a:cubicBezTo>
                  <a:pt x="3161032" y="1280778"/>
                  <a:pt x="3036805" y="1268882"/>
                  <a:pt x="2796777" y="1260000"/>
                </a:cubicBezTo>
                <a:cubicBezTo>
                  <a:pt x="2556749" y="1251118"/>
                  <a:pt x="2486878" y="1257790"/>
                  <a:pt x="2297597" y="1260000"/>
                </a:cubicBezTo>
                <a:cubicBezTo>
                  <a:pt x="2108316" y="1262210"/>
                  <a:pt x="2042885" y="1266787"/>
                  <a:pt x="1798417" y="1260000"/>
                </a:cubicBezTo>
                <a:cubicBezTo>
                  <a:pt x="1553949" y="1253213"/>
                  <a:pt x="1340554" y="1261192"/>
                  <a:pt x="1053065" y="1260000"/>
                </a:cubicBezTo>
                <a:cubicBezTo>
                  <a:pt x="765576" y="1258808"/>
                  <a:pt x="473274" y="1261195"/>
                  <a:pt x="0" y="1260000"/>
                </a:cubicBezTo>
                <a:cubicBezTo>
                  <a:pt x="16739" y="1113017"/>
                  <a:pt x="8079" y="846198"/>
                  <a:pt x="0" y="630000"/>
                </a:cubicBezTo>
                <a:cubicBezTo>
                  <a:pt x="-8079" y="413802"/>
                  <a:pt x="-13039" y="181113"/>
                  <a:pt x="0" y="0"/>
                </a:cubicBezTo>
                <a:close/>
              </a:path>
              <a:path w="6154277" h="1260000" stroke="0" extrusionOk="0">
                <a:moveTo>
                  <a:pt x="0" y="0"/>
                </a:moveTo>
                <a:cubicBezTo>
                  <a:pt x="285312" y="22925"/>
                  <a:pt x="321290" y="-3003"/>
                  <a:pt x="622266" y="0"/>
                </a:cubicBezTo>
                <a:cubicBezTo>
                  <a:pt x="923242" y="3003"/>
                  <a:pt x="872029" y="13802"/>
                  <a:pt x="1121446" y="0"/>
                </a:cubicBezTo>
                <a:cubicBezTo>
                  <a:pt x="1370863" y="-13802"/>
                  <a:pt x="1636741" y="-5739"/>
                  <a:pt x="1928340" y="0"/>
                </a:cubicBezTo>
                <a:cubicBezTo>
                  <a:pt x="2219939" y="5739"/>
                  <a:pt x="2347122" y="17951"/>
                  <a:pt x="2550606" y="0"/>
                </a:cubicBezTo>
                <a:cubicBezTo>
                  <a:pt x="2754090" y="-17951"/>
                  <a:pt x="2908602" y="17212"/>
                  <a:pt x="3172872" y="0"/>
                </a:cubicBezTo>
                <a:cubicBezTo>
                  <a:pt x="3437142" y="-17212"/>
                  <a:pt x="3635959" y="22725"/>
                  <a:pt x="3979766" y="0"/>
                </a:cubicBezTo>
                <a:cubicBezTo>
                  <a:pt x="4323573" y="-22725"/>
                  <a:pt x="4347987" y="-22981"/>
                  <a:pt x="4540489" y="0"/>
                </a:cubicBezTo>
                <a:cubicBezTo>
                  <a:pt x="4732991" y="22981"/>
                  <a:pt x="5173311" y="40073"/>
                  <a:pt x="5347383" y="0"/>
                </a:cubicBezTo>
                <a:cubicBezTo>
                  <a:pt x="5521455" y="-40073"/>
                  <a:pt x="5892342" y="3920"/>
                  <a:pt x="6154277" y="0"/>
                </a:cubicBezTo>
                <a:cubicBezTo>
                  <a:pt x="6135436" y="263038"/>
                  <a:pt x="6138974" y="409513"/>
                  <a:pt x="6154277" y="630000"/>
                </a:cubicBezTo>
                <a:cubicBezTo>
                  <a:pt x="6169580" y="850487"/>
                  <a:pt x="6182246" y="1063182"/>
                  <a:pt x="6154277" y="1260000"/>
                </a:cubicBezTo>
                <a:cubicBezTo>
                  <a:pt x="5849941" y="1273486"/>
                  <a:pt x="5718124" y="1233023"/>
                  <a:pt x="5408926" y="1260000"/>
                </a:cubicBezTo>
                <a:cubicBezTo>
                  <a:pt x="5099728" y="1286977"/>
                  <a:pt x="4970641" y="1262521"/>
                  <a:pt x="4602032" y="1260000"/>
                </a:cubicBezTo>
                <a:cubicBezTo>
                  <a:pt x="4233423" y="1257479"/>
                  <a:pt x="4040249" y="1270281"/>
                  <a:pt x="3795137" y="1260000"/>
                </a:cubicBezTo>
                <a:cubicBezTo>
                  <a:pt x="3550026" y="1249719"/>
                  <a:pt x="3397829" y="1259964"/>
                  <a:pt x="3234414" y="1260000"/>
                </a:cubicBezTo>
                <a:cubicBezTo>
                  <a:pt x="3070999" y="1260036"/>
                  <a:pt x="2782154" y="1278136"/>
                  <a:pt x="2550606" y="1260000"/>
                </a:cubicBezTo>
                <a:cubicBezTo>
                  <a:pt x="2319058" y="1241864"/>
                  <a:pt x="2046837" y="1224664"/>
                  <a:pt x="1743712" y="1260000"/>
                </a:cubicBezTo>
                <a:cubicBezTo>
                  <a:pt x="1440587" y="1295336"/>
                  <a:pt x="1227534" y="1279689"/>
                  <a:pt x="1059903" y="1260000"/>
                </a:cubicBezTo>
                <a:cubicBezTo>
                  <a:pt x="892272" y="1240311"/>
                  <a:pt x="346304" y="1231113"/>
                  <a:pt x="0" y="1260000"/>
                </a:cubicBezTo>
                <a:cubicBezTo>
                  <a:pt x="-21137" y="1057051"/>
                  <a:pt x="-7874" y="884694"/>
                  <a:pt x="0" y="655200"/>
                </a:cubicBezTo>
                <a:cubicBezTo>
                  <a:pt x="7874" y="425706"/>
                  <a:pt x="1712" y="32561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0">
            <a:norm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Отрасли применения систем контроля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7D1E2-B1FA-44B2-99C1-604E8FD5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23" y="2011677"/>
            <a:ext cx="6154279" cy="4306322"/>
          </a:xfrm>
          <a:solidFill>
            <a:srgbClr val="18806E"/>
          </a:solidFill>
        </p:spPr>
        <p:txBody>
          <a:bodyPr anchor="ctr">
            <a:norm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Металлургическое производство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Текстильная промышленность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Железнодорожный транспорт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Диагностика линий электропередач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Гражданское строительство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Мониторинг технического состояния инженерных сооружений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Агропромышленный сектор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690E4B-039B-4303-A21C-FDEED76D29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407908" y="4067033"/>
            <a:ext cx="2250966" cy="2250966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FA326ED-BC01-4472-9798-583CCE879A60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t="567"/>
          <a:stretch/>
        </p:blipFill>
        <p:spPr>
          <a:xfrm>
            <a:off x="7021039" y="4067033"/>
            <a:ext cx="2250966" cy="2250966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F79B04B-ED05-4313-B2DE-8369A4759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697" y="540000"/>
            <a:ext cx="4619178" cy="300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20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5">
            <a:extLst>
              <a:ext uri="{FF2B5EF4-FFF2-40B4-BE49-F238E27FC236}">
                <a16:creationId xmlns:a16="http://schemas.microsoft.com/office/drawing/2014/main" id="{9FCA36E1-C726-470A-9EBB-513A349C6AE4}"/>
              </a:ext>
            </a:extLst>
          </p:cNvPr>
          <p:cNvSpPr txBox="1">
            <a:spLocks/>
          </p:cNvSpPr>
          <p:nvPr/>
        </p:nvSpPr>
        <p:spPr>
          <a:xfrm>
            <a:off x="6257048" y="2505075"/>
            <a:ext cx="5183188" cy="368458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0A3830"/>
                </a:solidFill>
              </a:rPr>
              <a:t>Исследовать и проанализировать существующие методы выявления аномалий изображений</a:t>
            </a:r>
          </a:p>
          <a:p>
            <a:r>
              <a:rPr lang="ru-RU" sz="1800" dirty="0">
                <a:solidFill>
                  <a:srgbClr val="0A3830"/>
                </a:solidFill>
              </a:rPr>
              <a:t>Разработать метод моделирования</a:t>
            </a:r>
          </a:p>
          <a:p>
            <a:r>
              <a:rPr lang="ru-RU" sz="1800" dirty="0">
                <a:solidFill>
                  <a:srgbClr val="0A3830"/>
                </a:solidFill>
              </a:rPr>
              <a:t>Реализовать компьютерную программу модели</a:t>
            </a:r>
          </a:p>
          <a:p>
            <a:r>
              <a:rPr lang="ru-RU" sz="1800" dirty="0">
                <a:solidFill>
                  <a:srgbClr val="0A3830"/>
                </a:solidFill>
              </a:rPr>
              <a:t>Провести тестирование модели</a:t>
            </a:r>
          </a:p>
          <a:p>
            <a:r>
              <a:rPr lang="ru-RU" sz="1800" dirty="0">
                <a:solidFill>
                  <a:srgbClr val="0A3830"/>
                </a:solidFill>
              </a:rPr>
              <a:t>Провести анализ результатов работы модели</a:t>
            </a:r>
          </a:p>
          <a:p>
            <a:endParaRPr lang="ru-RU" sz="1800" dirty="0">
              <a:solidFill>
                <a:srgbClr val="0A3830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B79A5-A02D-40BA-B544-D94DABA6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64" y="245660"/>
            <a:ext cx="10536072" cy="1473247"/>
          </a:xfrm>
          <a:custGeom>
            <a:avLst/>
            <a:gdLst>
              <a:gd name="connsiteX0" fmla="*/ 0 w 10536072"/>
              <a:gd name="connsiteY0" fmla="*/ 0 h 1473247"/>
              <a:gd name="connsiteX1" fmla="*/ 342422 w 10536072"/>
              <a:gd name="connsiteY1" fmla="*/ 0 h 1473247"/>
              <a:gd name="connsiteX2" fmla="*/ 1211648 w 10536072"/>
              <a:gd name="connsiteY2" fmla="*/ 0 h 1473247"/>
              <a:gd name="connsiteX3" fmla="*/ 1870153 w 10536072"/>
              <a:gd name="connsiteY3" fmla="*/ 0 h 1473247"/>
              <a:gd name="connsiteX4" fmla="*/ 2212575 w 10536072"/>
              <a:gd name="connsiteY4" fmla="*/ 0 h 1473247"/>
              <a:gd name="connsiteX5" fmla="*/ 2871080 w 10536072"/>
              <a:gd name="connsiteY5" fmla="*/ 0 h 1473247"/>
              <a:gd name="connsiteX6" fmla="*/ 3740306 w 10536072"/>
              <a:gd name="connsiteY6" fmla="*/ 0 h 1473247"/>
              <a:gd name="connsiteX7" fmla="*/ 4293449 w 10536072"/>
              <a:gd name="connsiteY7" fmla="*/ 0 h 1473247"/>
              <a:gd name="connsiteX8" fmla="*/ 4846593 w 10536072"/>
              <a:gd name="connsiteY8" fmla="*/ 0 h 1473247"/>
              <a:gd name="connsiteX9" fmla="*/ 5505098 w 10536072"/>
              <a:gd name="connsiteY9" fmla="*/ 0 h 1473247"/>
              <a:gd name="connsiteX10" fmla="*/ 6268963 w 10536072"/>
              <a:gd name="connsiteY10" fmla="*/ 0 h 1473247"/>
              <a:gd name="connsiteX11" fmla="*/ 7032828 w 10536072"/>
              <a:gd name="connsiteY11" fmla="*/ 0 h 1473247"/>
              <a:gd name="connsiteX12" fmla="*/ 7796693 w 10536072"/>
              <a:gd name="connsiteY12" fmla="*/ 0 h 1473247"/>
              <a:gd name="connsiteX13" fmla="*/ 8665919 w 10536072"/>
              <a:gd name="connsiteY13" fmla="*/ 0 h 1473247"/>
              <a:gd name="connsiteX14" fmla="*/ 9324424 w 10536072"/>
              <a:gd name="connsiteY14" fmla="*/ 0 h 1473247"/>
              <a:gd name="connsiteX15" fmla="*/ 10536072 w 10536072"/>
              <a:gd name="connsiteY15" fmla="*/ 0 h 1473247"/>
              <a:gd name="connsiteX16" fmla="*/ 10536072 w 10536072"/>
              <a:gd name="connsiteY16" fmla="*/ 491082 h 1473247"/>
              <a:gd name="connsiteX17" fmla="*/ 10536072 w 10536072"/>
              <a:gd name="connsiteY17" fmla="*/ 1011630 h 1473247"/>
              <a:gd name="connsiteX18" fmla="*/ 10536072 w 10536072"/>
              <a:gd name="connsiteY18" fmla="*/ 1473247 h 1473247"/>
              <a:gd name="connsiteX19" fmla="*/ 9666846 w 10536072"/>
              <a:gd name="connsiteY19" fmla="*/ 1473247 h 1473247"/>
              <a:gd name="connsiteX20" fmla="*/ 9113702 w 10536072"/>
              <a:gd name="connsiteY20" fmla="*/ 1473247 h 1473247"/>
              <a:gd name="connsiteX21" fmla="*/ 8560559 w 10536072"/>
              <a:gd name="connsiteY21" fmla="*/ 1473247 h 1473247"/>
              <a:gd name="connsiteX22" fmla="*/ 8007415 w 10536072"/>
              <a:gd name="connsiteY22" fmla="*/ 1473247 h 1473247"/>
              <a:gd name="connsiteX23" fmla="*/ 7243550 w 10536072"/>
              <a:gd name="connsiteY23" fmla="*/ 1473247 h 1473247"/>
              <a:gd name="connsiteX24" fmla="*/ 6585045 w 10536072"/>
              <a:gd name="connsiteY24" fmla="*/ 1473247 h 1473247"/>
              <a:gd name="connsiteX25" fmla="*/ 6242623 w 10536072"/>
              <a:gd name="connsiteY25" fmla="*/ 1473247 h 1473247"/>
              <a:gd name="connsiteX26" fmla="*/ 5689479 w 10536072"/>
              <a:gd name="connsiteY26" fmla="*/ 1473247 h 1473247"/>
              <a:gd name="connsiteX27" fmla="*/ 4925614 w 10536072"/>
              <a:gd name="connsiteY27" fmla="*/ 1473247 h 1473247"/>
              <a:gd name="connsiteX28" fmla="*/ 4477831 w 10536072"/>
              <a:gd name="connsiteY28" fmla="*/ 1473247 h 1473247"/>
              <a:gd name="connsiteX29" fmla="*/ 3608605 w 10536072"/>
              <a:gd name="connsiteY29" fmla="*/ 1473247 h 1473247"/>
              <a:gd name="connsiteX30" fmla="*/ 2739379 w 10536072"/>
              <a:gd name="connsiteY30" fmla="*/ 1473247 h 1473247"/>
              <a:gd name="connsiteX31" fmla="*/ 2080874 w 10536072"/>
              <a:gd name="connsiteY31" fmla="*/ 1473247 h 1473247"/>
              <a:gd name="connsiteX32" fmla="*/ 1211648 w 10536072"/>
              <a:gd name="connsiteY32" fmla="*/ 1473247 h 1473247"/>
              <a:gd name="connsiteX33" fmla="*/ 0 w 10536072"/>
              <a:gd name="connsiteY33" fmla="*/ 1473247 h 1473247"/>
              <a:gd name="connsiteX34" fmla="*/ 0 w 10536072"/>
              <a:gd name="connsiteY34" fmla="*/ 967432 h 1473247"/>
              <a:gd name="connsiteX35" fmla="*/ 0 w 10536072"/>
              <a:gd name="connsiteY35" fmla="*/ 505815 h 1473247"/>
              <a:gd name="connsiteX36" fmla="*/ 0 w 10536072"/>
              <a:gd name="connsiteY36" fmla="*/ 0 h 14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36072" h="1473247" fill="none" extrusionOk="0">
                <a:moveTo>
                  <a:pt x="0" y="0"/>
                </a:moveTo>
                <a:cubicBezTo>
                  <a:pt x="170638" y="-3227"/>
                  <a:pt x="242755" y="-8478"/>
                  <a:pt x="342422" y="0"/>
                </a:cubicBezTo>
                <a:cubicBezTo>
                  <a:pt x="442089" y="8478"/>
                  <a:pt x="788844" y="-32598"/>
                  <a:pt x="1211648" y="0"/>
                </a:cubicBezTo>
                <a:cubicBezTo>
                  <a:pt x="1634452" y="32598"/>
                  <a:pt x="1545805" y="16754"/>
                  <a:pt x="1870153" y="0"/>
                </a:cubicBezTo>
                <a:cubicBezTo>
                  <a:pt x="2194502" y="-16754"/>
                  <a:pt x="2137829" y="-2132"/>
                  <a:pt x="2212575" y="0"/>
                </a:cubicBezTo>
                <a:cubicBezTo>
                  <a:pt x="2287321" y="2132"/>
                  <a:pt x="2661122" y="14575"/>
                  <a:pt x="2871080" y="0"/>
                </a:cubicBezTo>
                <a:cubicBezTo>
                  <a:pt x="3081038" y="-14575"/>
                  <a:pt x="3324059" y="-26478"/>
                  <a:pt x="3740306" y="0"/>
                </a:cubicBezTo>
                <a:cubicBezTo>
                  <a:pt x="4156553" y="26478"/>
                  <a:pt x="4042059" y="-21422"/>
                  <a:pt x="4293449" y="0"/>
                </a:cubicBezTo>
                <a:cubicBezTo>
                  <a:pt x="4544839" y="21422"/>
                  <a:pt x="4675378" y="-14390"/>
                  <a:pt x="4846593" y="0"/>
                </a:cubicBezTo>
                <a:cubicBezTo>
                  <a:pt x="5017808" y="14390"/>
                  <a:pt x="5278534" y="-14693"/>
                  <a:pt x="5505098" y="0"/>
                </a:cubicBezTo>
                <a:cubicBezTo>
                  <a:pt x="5731663" y="14693"/>
                  <a:pt x="6110631" y="21813"/>
                  <a:pt x="6268963" y="0"/>
                </a:cubicBezTo>
                <a:cubicBezTo>
                  <a:pt x="6427295" y="-21813"/>
                  <a:pt x="6752560" y="-19507"/>
                  <a:pt x="7032828" y="0"/>
                </a:cubicBezTo>
                <a:cubicBezTo>
                  <a:pt x="7313097" y="19507"/>
                  <a:pt x="7555463" y="-7915"/>
                  <a:pt x="7796693" y="0"/>
                </a:cubicBezTo>
                <a:cubicBezTo>
                  <a:pt x="8037924" y="7915"/>
                  <a:pt x="8482692" y="-24697"/>
                  <a:pt x="8665919" y="0"/>
                </a:cubicBezTo>
                <a:cubicBezTo>
                  <a:pt x="8849146" y="24697"/>
                  <a:pt x="9115048" y="18415"/>
                  <a:pt x="9324424" y="0"/>
                </a:cubicBezTo>
                <a:cubicBezTo>
                  <a:pt x="9533800" y="-18415"/>
                  <a:pt x="10189238" y="-2880"/>
                  <a:pt x="10536072" y="0"/>
                </a:cubicBezTo>
                <a:cubicBezTo>
                  <a:pt x="10528582" y="103442"/>
                  <a:pt x="10544072" y="302800"/>
                  <a:pt x="10536072" y="491082"/>
                </a:cubicBezTo>
                <a:cubicBezTo>
                  <a:pt x="10528072" y="679364"/>
                  <a:pt x="10518789" y="845093"/>
                  <a:pt x="10536072" y="1011630"/>
                </a:cubicBezTo>
                <a:cubicBezTo>
                  <a:pt x="10553355" y="1178167"/>
                  <a:pt x="10557230" y="1322951"/>
                  <a:pt x="10536072" y="1473247"/>
                </a:cubicBezTo>
                <a:cubicBezTo>
                  <a:pt x="10209976" y="1489033"/>
                  <a:pt x="9878422" y="1504300"/>
                  <a:pt x="9666846" y="1473247"/>
                </a:cubicBezTo>
                <a:cubicBezTo>
                  <a:pt x="9455270" y="1442194"/>
                  <a:pt x="9317495" y="1469565"/>
                  <a:pt x="9113702" y="1473247"/>
                </a:cubicBezTo>
                <a:cubicBezTo>
                  <a:pt x="8909909" y="1476929"/>
                  <a:pt x="8768355" y="1464148"/>
                  <a:pt x="8560559" y="1473247"/>
                </a:cubicBezTo>
                <a:cubicBezTo>
                  <a:pt x="8352763" y="1482346"/>
                  <a:pt x="8221728" y="1498460"/>
                  <a:pt x="8007415" y="1473247"/>
                </a:cubicBezTo>
                <a:cubicBezTo>
                  <a:pt x="7793102" y="1448034"/>
                  <a:pt x="7543911" y="1438200"/>
                  <a:pt x="7243550" y="1473247"/>
                </a:cubicBezTo>
                <a:cubicBezTo>
                  <a:pt x="6943190" y="1508294"/>
                  <a:pt x="6899696" y="1502806"/>
                  <a:pt x="6585045" y="1473247"/>
                </a:cubicBezTo>
                <a:cubicBezTo>
                  <a:pt x="6270395" y="1443688"/>
                  <a:pt x="6408534" y="1465362"/>
                  <a:pt x="6242623" y="1473247"/>
                </a:cubicBezTo>
                <a:cubicBezTo>
                  <a:pt x="6076712" y="1481132"/>
                  <a:pt x="5927077" y="1471371"/>
                  <a:pt x="5689479" y="1473247"/>
                </a:cubicBezTo>
                <a:cubicBezTo>
                  <a:pt x="5451881" y="1475123"/>
                  <a:pt x="5292564" y="1490901"/>
                  <a:pt x="4925614" y="1473247"/>
                </a:cubicBezTo>
                <a:cubicBezTo>
                  <a:pt x="4558664" y="1455593"/>
                  <a:pt x="4588090" y="1494698"/>
                  <a:pt x="4477831" y="1473247"/>
                </a:cubicBezTo>
                <a:cubicBezTo>
                  <a:pt x="4367572" y="1451796"/>
                  <a:pt x="3983650" y="1497048"/>
                  <a:pt x="3608605" y="1473247"/>
                </a:cubicBezTo>
                <a:cubicBezTo>
                  <a:pt x="3233560" y="1449446"/>
                  <a:pt x="2937559" y="1501024"/>
                  <a:pt x="2739379" y="1473247"/>
                </a:cubicBezTo>
                <a:cubicBezTo>
                  <a:pt x="2541199" y="1445470"/>
                  <a:pt x="2251189" y="1477357"/>
                  <a:pt x="2080874" y="1473247"/>
                </a:cubicBezTo>
                <a:cubicBezTo>
                  <a:pt x="1910560" y="1469137"/>
                  <a:pt x="1591616" y="1432296"/>
                  <a:pt x="1211648" y="1473247"/>
                </a:cubicBezTo>
                <a:cubicBezTo>
                  <a:pt x="831680" y="1514198"/>
                  <a:pt x="399468" y="1479806"/>
                  <a:pt x="0" y="1473247"/>
                </a:cubicBezTo>
                <a:cubicBezTo>
                  <a:pt x="-21588" y="1358984"/>
                  <a:pt x="-21609" y="1160994"/>
                  <a:pt x="0" y="967432"/>
                </a:cubicBezTo>
                <a:cubicBezTo>
                  <a:pt x="21609" y="773871"/>
                  <a:pt x="3189" y="641017"/>
                  <a:pt x="0" y="505815"/>
                </a:cubicBezTo>
                <a:cubicBezTo>
                  <a:pt x="-3189" y="370613"/>
                  <a:pt x="8086" y="229632"/>
                  <a:pt x="0" y="0"/>
                </a:cubicBezTo>
                <a:close/>
              </a:path>
              <a:path w="10536072" h="1473247" stroke="0" extrusionOk="0">
                <a:moveTo>
                  <a:pt x="0" y="0"/>
                </a:moveTo>
                <a:cubicBezTo>
                  <a:pt x="124834" y="11046"/>
                  <a:pt x="334746" y="-27317"/>
                  <a:pt x="553144" y="0"/>
                </a:cubicBezTo>
                <a:cubicBezTo>
                  <a:pt x="771542" y="27317"/>
                  <a:pt x="801337" y="15140"/>
                  <a:pt x="895566" y="0"/>
                </a:cubicBezTo>
                <a:cubicBezTo>
                  <a:pt x="989795" y="-15140"/>
                  <a:pt x="1332723" y="-19029"/>
                  <a:pt x="1764792" y="0"/>
                </a:cubicBezTo>
                <a:cubicBezTo>
                  <a:pt x="2196861" y="19029"/>
                  <a:pt x="2141091" y="-13523"/>
                  <a:pt x="2317936" y="0"/>
                </a:cubicBezTo>
                <a:cubicBezTo>
                  <a:pt x="2494781" y="13523"/>
                  <a:pt x="2751421" y="21117"/>
                  <a:pt x="2871080" y="0"/>
                </a:cubicBezTo>
                <a:cubicBezTo>
                  <a:pt x="2990739" y="-21117"/>
                  <a:pt x="3425096" y="-41438"/>
                  <a:pt x="3740306" y="0"/>
                </a:cubicBezTo>
                <a:cubicBezTo>
                  <a:pt x="4055516" y="41438"/>
                  <a:pt x="4012862" y="9677"/>
                  <a:pt x="4188089" y="0"/>
                </a:cubicBezTo>
                <a:cubicBezTo>
                  <a:pt x="4363316" y="-9677"/>
                  <a:pt x="4702184" y="31897"/>
                  <a:pt x="5057315" y="0"/>
                </a:cubicBezTo>
                <a:cubicBezTo>
                  <a:pt x="5412446" y="-31897"/>
                  <a:pt x="5719646" y="30807"/>
                  <a:pt x="5926541" y="0"/>
                </a:cubicBezTo>
                <a:cubicBezTo>
                  <a:pt x="6133436" y="-30807"/>
                  <a:pt x="6381779" y="6989"/>
                  <a:pt x="6585045" y="0"/>
                </a:cubicBezTo>
                <a:cubicBezTo>
                  <a:pt x="6788311" y="-6989"/>
                  <a:pt x="7075550" y="21499"/>
                  <a:pt x="7454271" y="0"/>
                </a:cubicBezTo>
                <a:cubicBezTo>
                  <a:pt x="7832992" y="-21499"/>
                  <a:pt x="7814013" y="-439"/>
                  <a:pt x="8007415" y="0"/>
                </a:cubicBezTo>
                <a:cubicBezTo>
                  <a:pt x="8200817" y="439"/>
                  <a:pt x="8352463" y="-9370"/>
                  <a:pt x="8560559" y="0"/>
                </a:cubicBezTo>
                <a:cubicBezTo>
                  <a:pt x="8768655" y="9370"/>
                  <a:pt x="8985443" y="14713"/>
                  <a:pt x="9324424" y="0"/>
                </a:cubicBezTo>
                <a:cubicBezTo>
                  <a:pt x="9663405" y="-14713"/>
                  <a:pt x="9736203" y="6165"/>
                  <a:pt x="9877568" y="0"/>
                </a:cubicBezTo>
                <a:cubicBezTo>
                  <a:pt x="10018933" y="-6165"/>
                  <a:pt x="10230349" y="19429"/>
                  <a:pt x="10536072" y="0"/>
                </a:cubicBezTo>
                <a:cubicBezTo>
                  <a:pt x="10555212" y="192766"/>
                  <a:pt x="10521319" y="401317"/>
                  <a:pt x="10536072" y="520547"/>
                </a:cubicBezTo>
                <a:cubicBezTo>
                  <a:pt x="10550825" y="639777"/>
                  <a:pt x="10530484" y="924566"/>
                  <a:pt x="10536072" y="1026362"/>
                </a:cubicBezTo>
                <a:cubicBezTo>
                  <a:pt x="10541660" y="1128158"/>
                  <a:pt x="10552389" y="1261865"/>
                  <a:pt x="10536072" y="1473247"/>
                </a:cubicBezTo>
                <a:cubicBezTo>
                  <a:pt x="10396614" y="1489586"/>
                  <a:pt x="10354707" y="1468263"/>
                  <a:pt x="10193650" y="1473247"/>
                </a:cubicBezTo>
                <a:cubicBezTo>
                  <a:pt x="10032593" y="1478231"/>
                  <a:pt x="9526605" y="1449167"/>
                  <a:pt x="9324424" y="1473247"/>
                </a:cubicBezTo>
                <a:cubicBezTo>
                  <a:pt x="9122243" y="1497327"/>
                  <a:pt x="8898880" y="1456803"/>
                  <a:pt x="8665919" y="1473247"/>
                </a:cubicBezTo>
                <a:cubicBezTo>
                  <a:pt x="8432959" y="1489691"/>
                  <a:pt x="8360567" y="1469714"/>
                  <a:pt x="8218136" y="1473247"/>
                </a:cubicBezTo>
                <a:cubicBezTo>
                  <a:pt x="8075705" y="1476780"/>
                  <a:pt x="7703160" y="1464634"/>
                  <a:pt x="7559632" y="1473247"/>
                </a:cubicBezTo>
                <a:cubicBezTo>
                  <a:pt x="7416104" y="1481860"/>
                  <a:pt x="7300958" y="1477192"/>
                  <a:pt x="7217209" y="1473247"/>
                </a:cubicBezTo>
                <a:cubicBezTo>
                  <a:pt x="7133460" y="1469302"/>
                  <a:pt x="6971626" y="1465062"/>
                  <a:pt x="6874787" y="1473247"/>
                </a:cubicBezTo>
                <a:cubicBezTo>
                  <a:pt x="6777948" y="1481432"/>
                  <a:pt x="6456213" y="1448579"/>
                  <a:pt x="6216282" y="1473247"/>
                </a:cubicBezTo>
                <a:cubicBezTo>
                  <a:pt x="5976352" y="1497915"/>
                  <a:pt x="5957714" y="1465901"/>
                  <a:pt x="5768499" y="1473247"/>
                </a:cubicBezTo>
                <a:cubicBezTo>
                  <a:pt x="5579284" y="1480593"/>
                  <a:pt x="5185837" y="1475207"/>
                  <a:pt x="5004634" y="1473247"/>
                </a:cubicBezTo>
                <a:cubicBezTo>
                  <a:pt x="4823432" y="1471287"/>
                  <a:pt x="4694247" y="1465003"/>
                  <a:pt x="4556851" y="1473247"/>
                </a:cubicBezTo>
                <a:cubicBezTo>
                  <a:pt x="4419455" y="1481491"/>
                  <a:pt x="3961624" y="1437488"/>
                  <a:pt x="3792986" y="1473247"/>
                </a:cubicBezTo>
                <a:cubicBezTo>
                  <a:pt x="3624349" y="1509006"/>
                  <a:pt x="3606439" y="1461005"/>
                  <a:pt x="3450564" y="1473247"/>
                </a:cubicBezTo>
                <a:cubicBezTo>
                  <a:pt x="3294689" y="1485489"/>
                  <a:pt x="3047803" y="1443534"/>
                  <a:pt x="2686698" y="1473247"/>
                </a:cubicBezTo>
                <a:cubicBezTo>
                  <a:pt x="2325593" y="1502960"/>
                  <a:pt x="2378357" y="1479112"/>
                  <a:pt x="2238915" y="1473247"/>
                </a:cubicBezTo>
                <a:cubicBezTo>
                  <a:pt x="2099473" y="1467382"/>
                  <a:pt x="1994239" y="1462106"/>
                  <a:pt x="1896493" y="1473247"/>
                </a:cubicBezTo>
                <a:cubicBezTo>
                  <a:pt x="1798747" y="1484388"/>
                  <a:pt x="1605231" y="1466509"/>
                  <a:pt x="1448710" y="1473247"/>
                </a:cubicBezTo>
                <a:cubicBezTo>
                  <a:pt x="1292189" y="1479985"/>
                  <a:pt x="997653" y="1469935"/>
                  <a:pt x="684845" y="1473247"/>
                </a:cubicBezTo>
                <a:cubicBezTo>
                  <a:pt x="372037" y="1476559"/>
                  <a:pt x="149225" y="1486004"/>
                  <a:pt x="0" y="1473247"/>
                </a:cubicBezTo>
                <a:cubicBezTo>
                  <a:pt x="-14567" y="1349963"/>
                  <a:pt x="6317" y="1135463"/>
                  <a:pt x="0" y="1026362"/>
                </a:cubicBezTo>
                <a:cubicBezTo>
                  <a:pt x="-6317" y="917262"/>
                  <a:pt x="-7270" y="674490"/>
                  <a:pt x="0" y="579477"/>
                </a:cubicBezTo>
                <a:cubicBezTo>
                  <a:pt x="7270" y="484465"/>
                  <a:pt x="-2304" y="1950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Цели и задачи проекта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D38EF1-DEEE-4736-8687-CCE88BE8A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18806E"/>
          </a:solidFill>
        </p:spPr>
        <p:txBody>
          <a:bodyPr anchor="t">
            <a:norm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Создать систему выявления аномалий, работающую на неразмеченных изображениях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Обеспечить универсальность решения для разных типов изделий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Повысить скорость и стабильность визуального контроля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Снизить долю пропущенных дефектов и ложных срабатываний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Сократить трудозатраты инспекторов и затраты на ручную разметку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C65BEA1-0AA2-45F8-9B86-2DA0BE42EF52}"/>
              </a:ext>
            </a:extLst>
          </p:cNvPr>
          <p:cNvSpPr/>
          <p:nvPr/>
        </p:nvSpPr>
        <p:spPr>
          <a:xfrm>
            <a:off x="836612" y="1903863"/>
            <a:ext cx="5157787" cy="416256"/>
          </a:xfrm>
          <a:custGeom>
            <a:avLst/>
            <a:gdLst>
              <a:gd name="connsiteX0" fmla="*/ 0 w 5157787"/>
              <a:gd name="connsiteY0" fmla="*/ 69377 h 416256"/>
              <a:gd name="connsiteX1" fmla="*/ 69377 w 5157787"/>
              <a:gd name="connsiteY1" fmla="*/ 0 h 416256"/>
              <a:gd name="connsiteX2" fmla="*/ 696756 w 5157787"/>
              <a:gd name="connsiteY2" fmla="*/ 0 h 416256"/>
              <a:gd name="connsiteX3" fmla="*/ 1223755 w 5157787"/>
              <a:gd name="connsiteY3" fmla="*/ 0 h 416256"/>
              <a:gd name="connsiteX4" fmla="*/ 1901324 w 5157787"/>
              <a:gd name="connsiteY4" fmla="*/ 0 h 416256"/>
              <a:gd name="connsiteX5" fmla="*/ 2428323 w 5157787"/>
              <a:gd name="connsiteY5" fmla="*/ 0 h 416256"/>
              <a:gd name="connsiteX6" fmla="*/ 3105892 w 5157787"/>
              <a:gd name="connsiteY6" fmla="*/ 0 h 416256"/>
              <a:gd name="connsiteX7" fmla="*/ 3582700 w 5157787"/>
              <a:gd name="connsiteY7" fmla="*/ 0 h 416256"/>
              <a:gd name="connsiteX8" fmla="*/ 4260270 w 5157787"/>
              <a:gd name="connsiteY8" fmla="*/ 0 h 416256"/>
              <a:gd name="connsiteX9" fmla="*/ 5088410 w 5157787"/>
              <a:gd name="connsiteY9" fmla="*/ 0 h 416256"/>
              <a:gd name="connsiteX10" fmla="*/ 5157787 w 5157787"/>
              <a:gd name="connsiteY10" fmla="*/ 69377 h 416256"/>
              <a:gd name="connsiteX11" fmla="*/ 5157787 w 5157787"/>
              <a:gd name="connsiteY11" fmla="*/ 346879 h 416256"/>
              <a:gd name="connsiteX12" fmla="*/ 5088410 w 5157787"/>
              <a:gd name="connsiteY12" fmla="*/ 416256 h 416256"/>
              <a:gd name="connsiteX13" fmla="*/ 4561412 w 5157787"/>
              <a:gd name="connsiteY13" fmla="*/ 416256 h 416256"/>
              <a:gd name="connsiteX14" fmla="*/ 3984223 w 5157787"/>
              <a:gd name="connsiteY14" fmla="*/ 416256 h 416256"/>
              <a:gd name="connsiteX15" fmla="*/ 3356844 w 5157787"/>
              <a:gd name="connsiteY15" fmla="*/ 416256 h 416256"/>
              <a:gd name="connsiteX16" fmla="*/ 2829845 w 5157787"/>
              <a:gd name="connsiteY16" fmla="*/ 416256 h 416256"/>
              <a:gd name="connsiteX17" fmla="*/ 2102085 w 5157787"/>
              <a:gd name="connsiteY17" fmla="*/ 416256 h 416256"/>
              <a:gd name="connsiteX18" fmla="*/ 1474706 w 5157787"/>
              <a:gd name="connsiteY18" fmla="*/ 416256 h 416256"/>
              <a:gd name="connsiteX19" fmla="*/ 746946 w 5157787"/>
              <a:gd name="connsiteY19" fmla="*/ 416256 h 416256"/>
              <a:gd name="connsiteX20" fmla="*/ 69377 w 5157787"/>
              <a:gd name="connsiteY20" fmla="*/ 416256 h 416256"/>
              <a:gd name="connsiteX21" fmla="*/ 0 w 5157787"/>
              <a:gd name="connsiteY21" fmla="*/ 346879 h 416256"/>
              <a:gd name="connsiteX22" fmla="*/ 0 w 5157787"/>
              <a:gd name="connsiteY22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157787" h="416256" fill="none" extrusionOk="0">
                <a:moveTo>
                  <a:pt x="0" y="69377"/>
                </a:moveTo>
                <a:cubicBezTo>
                  <a:pt x="-3836" y="30844"/>
                  <a:pt x="37561" y="5596"/>
                  <a:pt x="69377" y="0"/>
                </a:cubicBezTo>
                <a:cubicBezTo>
                  <a:pt x="244485" y="26515"/>
                  <a:pt x="518289" y="6645"/>
                  <a:pt x="696756" y="0"/>
                </a:cubicBezTo>
                <a:cubicBezTo>
                  <a:pt x="875223" y="-6645"/>
                  <a:pt x="1088959" y="12747"/>
                  <a:pt x="1223755" y="0"/>
                </a:cubicBezTo>
                <a:cubicBezTo>
                  <a:pt x="1358551" y="-12747"/>
                  <a:pt x="1675966" y="-13215"/>
                  <a:pt x="1901324" y="0"/>
                </a:cubicBezTo>
                <a:cubicBezTo>
                  <a:pt x="2126682" y="13215"/>
                  <a:pt x="2246010" y="-21447"/>
                  <a:pt x="2428323" y="0"/>
                </a:cubicBezTo>
                <a:cubicBezTo>
                  <a:pt x="2610636" y="21447"/>
                  <a:pt x="2865959" y="1520"/>
                  <a:pt x="3105892" y="0"/>
                </a:cubicBezTo>
                <a:cubicBezTo>
                  <a:pt x="3345825" y="-1520"/>
                  <a:pt x="3459638" y="-16712"/>
                  <a:pt x="3582700" y="0"/>
                </a:cubicBezTo>
                <a:cubicBezTo>
                  <a:pt x="3705762" y="16712"/>
                  <a:pt x="4072981" y="-26549"/>
                  <a:pt x="4260270" y="0"/>
                </a:cubicBezTo>
                <a:cubicBezTo>
                  <a:pt x="4447559" y="26549"/>
                  <a:pt x="4753266" y="-36189"/>
                  <a:pt x="5088410" y="0"/>
                </a:cubicBezTo>
                <a:cubicBezTo>
                  <a:pt x="5124354" y="1330"/>
                  <a:pt x="5158727" y="33608"/>
                  <a:pt x="5157787" y="69377"/>
                </a:cubicBezTo>
                <a:cubicBezTo>
                  <a:pt x="5144676" y="205520"/>
                  <a:pt x="5144245" y="245615"/>
                  <a:pt x="5157787" y="346879"/>
                </a:cubicBezTo>
                <a:cubicBezTo>
                  <a:pt x="5159756" y="384674"/>
                  <a:pt x="5126273" y="419396"/>
                  <a:pt x="5088410" y="416256"/>
                </a:cubicBezTo>
                <a:cubicBezTo>
                  <a:pt x="4851756" y="402826"/>
                  <a:pt x="4723952" y="426093"/>
                  <a:pt x="4561412" y="416256"/>
                </a:cubicBezTo>
                <a:cubicBezTo>
                  <a:pt x="4398872" y="406419"/>
                  <a:pt x="4166478" y="404396"/>
                  <a:pt x="3984223" y="416256"/>
                </a:cubicBezTo>
                <a:cubicBezTo>
                  <a:pt x="3801968" y="428116"/>
                  <a:pt x="3591489" y="437936"/>
                  <a:pt x="3356844" y="416256"/>
                </a:cubicBezTo>
                <a:cubicBezTo>
                  <a:pt x="3122199" y="394576"/>
                  <a:pt x="2965402" y="442392"/>
                  <a:pt x="2829845" y="416256"/>
                </a:cubicBezTo>
                <a:cubicBezTo>
                  <a:pt x="2694288" y="390120"/>
                  <a:pt x="2333123" y="431565"/>
                  <a:pt x="2102085" y="416256"/>
                </a:cubicBezTo>
                <a:cubicBezTo>
                  <a:pt x="1871047" y="400947"/>
                  <a:pt x="1678639" y="444521"/>
                  <a:pt x="1474706" y="416256"/>
                </a:cubicBezTo>
                <a:cubicBezTo>
                  <a:pt x="1270773" y="387991"/>
                  <a:pt x="1032812" y="433465"/>
                  <a:pt x="746946" y="416256"/>
                </a:cubicBezTo>
                <a:cubicBezTo>
                  <a:pt x="461080" y="399047"/>
                  <a:pt x="309598" y="415343"/>
                  <a:pt x="69377" y="416256"/>
                </a:cubicBezTo>
                <a:cubicBezTo>
                  <a:pt x="29127" y="423338"/>
                  <a:pt x="4556" y="377522"/>
                  <a:pt x="0" y="346879"/>
                </a:cubicBezTo>
                <a:cubicBezTo>
                  <a:pt x="-13129" y="226545"/>
                  <a:pt x="-1205" y="195211"/>
                  <a:pt x="0" y="69377"/>
                </a:cubicBezTo>
                <a:close/>
              </a:path>
              <a:path w="5157787" h="416256" stroke="0" extrusionOk="0">
                <a:moveTo>
                  <a:pt x="0" y="69377"/>
                </a:moveTo>
                <a:cubicBezTo>
                  <a:pt x="-5850" y="27453"/>
                  <a:pt x="22999" y="3026"/>
                  <a:pt x="69377" y="0"/>
                </a:cubicBezTo>
                <a:cubicBezTo>
                  <a:pt x="300728" y="-6877"/>
                  <a:pt x="539316" y="-20823"/>
                  <a:pt x="797137" y="0"/>
                </a:cubicBezTo>
                <a:cubicBezTo>
                  <a:pt x="1054958" y="20823"/>
                  <a:pt x="1116286" y="24824"/>
                  <a:pt x="1374326" y="0"/>
                </a:cubicBezTo>
                <a:cubicBezTo>
                  <a:pt x="1632366" y="-24824"/>
                  <a:pt x="1734911" y="17205"/>
                  <a:pt x="1901324" y="0"/>
                </a:cubicBezTo>
                <a:cubicBezTo>
                  <a:pt x="2067737" y="-17205"/>
                  <a:pt x="2400038" y="7301"/>
                  <a:pt x="2578894" y="0"/>
                </a:cubicBezTo>
                <a:cubicBezTo>
                  <a:pt x="2757750" y="-7301"/>
                  <a:pt x="3023675" y="15096"/>
                  <a:pt x="3156082" y="0"/>
                </a:cubicBezTo>
                <a:cubicBezTo>
                  <a:pt x="3288489" y="-15096"/>
                  <a:pt x="3586397" y="26779"/>
                  <a:pt x="3883842" y="0"/>
                </a:cubicBezTo>
                <a:cubicBezTo>
                  <a:pt x="4181287" y="-26779"/>
                  <a:pt x="4271908" y="-11336"/>
                  <a:pt x="4410841" y="0"/>
                </a:cubicBezTo>
                <a:cubicBezTo>
                  <a:pt x="4549774" y="11336"/>
                  <a:pt x="4817454" y="29002"/>
                  <a:pt x="5088410" y="0"/>
                </a:cubicBezTo>
                <a:cubicBezTo>
                  <a:pt x="5131837" y="1229"/>
                  <a:pt x="5155019" y="30613"/>
                  <a:pt x="5157787" y="69377"/>
                </a:cubicBezTo>
                <a:cubicBezTo>
                  <a:pt x="5155762" y="147845"/>
                  <a:pt x="5147936" y="275750"/>
                  <a:pt x="5157787" y="346879"/>
                </a:cubicBezTo>
                <a:cubicBezTo>
                  <a:pt x="5163289" y="379758"/>
                  <a:pt x="5131462" y="413202"/>
                  <a:pt x="5088410" y="416256"/>
                </a:cubicBezTo>
                <a:cubicBezTo>
                  <a:pt x="4828923" y="388627"/>
                  <a:pt x="4654891" y="424438"/>
                  <a:pt x="4461031" y="416256"/>
                </a:cubicBezTo>
                <a:cubicBezTo>
                  <a:pt x="4267171" y="408074"/>
                  <a:pt x="4185333" y="400476"/>
                  <a:pt x="3934032" y="416256"/>
                </a:cubicBezTo>
                <a:cubicBezTo>
                  <a:pt x="3682731" y="432036"/>
                  <a:pt x="3438337" y="412606"/>
                  <a:pt x="3306653" y="416256"/>
                </a:cubicBezTo>
                <a:cubicBezTo>
                  <a:pt x="3174969" y="419906"/>
                  <a:pt x="2840801" y="385090"/>
                  <a:pt x="2578894" y="416256"/>
                </a:cubicBezTo>
                <a:cubicBezTo>
                  <a:pt x="2316987" y="447422"/>
                  <a:pt x="2250177" y="435993"/>
                  <a:pt x="1951514" y="416256"/>
                </a:cubicBezTo>
                <a:cubicBezTo>
                  <a:pt x="1652851" y="396519"/>
                  <a:pt x="1655220" y="426707"/>
                  <a:pt x="1474706" y="416256"/>
                </a:cubicBezTo>
                <a:cubicBezTo>
                  <a:pt x="1294192" y="405805"/>
                  <a:pt x="1150076" y="392963"/>
                  <a:pt x="947708" y="416256"/>
                </a:cubicBezTo>
                <a:cubicBezTo>
                  <a:pt x="745340" y="439549"/>
                  <a:pt x="416323" y="426682"/>
                  <a:pt x="69377" y="416256"/>
                </a:cubicBezTo>
                <a:cubicBezTo>
                  <a:pt x="39843" y="414398"/>
                  <a:pt x="435" y="389322"/>
                  <a:pt x="0" y="346879"/>
                </a:cubicBezTo>
                <a:cubicBezTo>
                  <a:pt x="-9035" y="217922"/>
                  <a:pt x="10705" y="145278"/>
                  <a:pt x="0" y="69377"/>
                </a:cubicBezTo>
                <a:close/>
              </a:path>
            </a:pathLst>
          </a:custGeom>
          <a:solidFill>
            <a:srgbClr val="18806E"/>
          </a:solidFill>
          <a:ln w="88900" cap="flat">
            <a:solidFill>
              <a:srgbClr val="18806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Цели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D4F45E-10A6-4F57-8CB4-97C51C974B79}"/>
              </a:ext>
            </a:extLst>
          </p:cNvPr>
          <p:cNvSpPr/>
          <p:nvPr/>
        </p:nvSpPr>
        <p:spPr>
          <a:xfrm>
            <a:off x="6197603" y="1903863"/>
            <a:ext cx="5157785" cy="416256"/>
          </a:xfrm>
          <a:custGeom>
            <a:avLst/>
            <a:gdLst>
              <a:gd name="connsiteX0" fmla="*/ 0 w 5157785"/>
              <a:gd name="connsiteY0" fmla="*/ 69377 h 416256"/>
              <a:gd name="connsiteX1" fmla="*/ 69377 w 5157785"/>
              <a:gd name="connsiteY1" fmla="*/ 0 h 416256"/>
              <a:gd name="connsiteX2" fmla="*/ 797136 w 5157785"/>
              <a:gd name="connsiteY2" fmla="*/ 0 h 416256"/>
              <a:gd name="connsiteX3" fmla="*/ 1424515 w 5157785"/>
              <a:gd name="connsiteY3" fmla="*/ 0 h 416256"/>
              <a:gd name="connsiteX4" fmla="*/ 1951514 w 5157785"/>
              <a:gd name="connsiteY4" fmla="*/ 0 h 416256"/>
              <a:gd name="connsiteX5" fmla="*/ 2629083 w 5157785"/>
              <a:gd name="connsiteY5" fmla="*/ 0 h 416256"/>
              <a:gd name="connsiteX6" fmla="*/ 3306652 w 5157785"/>
              <a:gd name="connsiteY6" fmla="*/ 0 h 416256"/>
              <a:gd name="connsiteX7" fmla="*/ 3934031 w 5157785"/>
              <a:gd name="connsiteY7" fmla="*/ 0 h 416256"/>
              <a:gd name="connsiteX8" fmla="*/ 5088408 w 5157785"/>
              <a:gd name="connsiteY8" fmla="*/ 0 h 416256"/>
              <a:gd name="connsiteX9" fmla="*/ 5157785 w 5157785"/>
              <a:gd name="connsiteY9" fmla="*/ 69377 h 416256"/>
              <a:gd name="connsiteX10" fmla="*/ 5157785 w 5157785"/>
              <a:gd name="connsiteY10" fmla="*/ 346879 h 416256"/>
              <a:gd name="connsiteX11" fmla="*/ 5088408 w 5157785"/>
              <a:gd name="connsiteY11" fmla="*/ 416256 h 416256"/>
              <a:gd name="connsiteX12" fmla="*/ 4511219 w 5157785"/>
              <a:gd name="connsiteY12" fmla="*/ 416256 h 416256"/>
              <a:gd name="connsiteX13" fmla="*/ 3984221 w 5157785"/>
              <a:gd name="connsiteY13" fmla="*/ 416256 h 416256"/>
              <a:gd name="connsiteX14" fmla="*/ 3457223 w 5157785"/>
              <a:gd name="connsiteY14" fmla="*/ 416256 h 416256"/>
              <a:gd name="connsiteX15" fmla="*/ 2880034 w 5157785"/>
              <a:gd name="connsiteY15" fmla="*/ 416256 h 416256"/>
              <a:gd name="connsiteX16" fmla="*/ 2302846 w 5157785"/>
              <a:gd name="connsiteY16" fmla="*/ 416256 h 416256"/>
              <a:gd name="connsiteX17" fmla="*/ 1675467 w 5157785"/>
              <a:gd name="connsiteY17" fmla="*/ 416256 h 416256"/>
              <a:gd name="connsiteX18" fmla="*/ 1048088 w 5157785"/>
              <a:gd name="connsiteY18" fmla="*/ 416256 h 416256"/>
              <a:gd name="connsiteX19" fmla="*/ 69377 w 5157785"/>
              <a:gd name="connsiteY19" fmla="*/ 416256 h 416256"/>
              <a:gd name="connsiteX20" fmla="*/ 0 w 5157785"/>
              <a:gd name="connsiteY20" fmla="*/ 346879 h 416256"/>
              <a:gd name="connsiteX21" fmla="*/ 0 w 5157785"/>
              <a:gd name="connsiteY21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57785" h="416256" fill="none" extrusionOk="0">
                <a:moveTo>
                  <a:pt x="0" y="69377"/>
                </a:moveTo>
                <a:cubicBezTo>
                  <a:pt x="3613" y="39181"/>
                  <a:pt x="33420" y="1998"/>
                  <a:pt x="69377" y="0"/>
                </a:cubicBezTo>
                <a:cubicBezTo>
                  <a:pt x="217383" y="-1751"/>
                  <a:pt x="494012" y="-11665"/>
                  <a:pt x="797136" y="0"/>
                </a:cubicBezTo>
                <a:cubicBezTo>
                  <a:pt x="1100260" y="11665"/>
                  <a:pt x="1227670" y="-10393"/>
                  <a:pt x="1424515" y="0"/>
                </a:cubicBezTo>
                <a:cubicBezTo>
                  <a:pt x="1621360" y="10393"/>
                  <a:pt x="1707029" y="-3525"/>
                  <a:pt x="1951514" y="0"/>
                </a:cubicBezTo>
                <a:cubicBezTo>
                  <a:pt x="2195999" y="3525"/>
                  <a:pt x="2387914" y="-31702"/>
                  <a:pt x="2629083" y="0"/>
                </a:cubicBezTo>
                <a:cubicBezTo>
                  <a:pt x="2870252" y="31702"/>
                  <a:pt x="2987303" y="5773"/>
                  <a:pt x="3306652" y="0"/>
                </a:cubicBezTo>
                <a:cubicBezTo>
                  <a:pt x="3626001" y="-5773"/>
                  <a:pt x="3798525" y="20536"/>
                  <a:pt x="3934031" y="0"/>
                </a:cubicBezTo>
                <a:cubicBezTo>
                  <a:pt x="4069537" y="-20536"/>
                  <a:pt x="4661552" y="50111"/>
                  <a:pt x="5088408" y="0"/>
                </a:cubicBezTo>
                <a:cubicBezTo>
                  <a:pt x="5124110" y="688"/>
                  <a:pt x="5149976" y="34336"/>
                  <a:pt x="5157785" y="69377"/>
                </a:cubicBezTo>
                <a:cubicBezTo>
                  <a:pt x="5159424" y="177643"/>
                  <a:pt x="5150117" y="219902"/>
                  <a:pt x="5157785" y="346879"/>
                </a:cubicBezTo>
                <a:cubicBezTo>
                  <a:pt x="5156914" y="382621"/>
                  <a:pt x="5128277" y="418611"/>
                  <a:pt x="5088408" y="416256"/>
                </a:cubicBezTo>
                <a:cubicBezTo>
                  <a:pt x="4950597" y="443500"/>
                  <a:pt x="4701510" y="419818"/>
                  <a:pt x="4511219" y="416256"/>
                </a:cubicBezTo>
                <a:cubicBezTo>
                  <a:pt x="4320928" y="412694"/>
                  <a:pt x="4177294" y="404380"/>
                  <a:pt x="3984221" y="416256"/>
                </a:cubicBezTo>
                <a:cubicBezTo>
                  <a:pt x="3791148" y="428132"/>
                  <a:pt x="3600127" y="423600"/>
                  <a:pt x="3457223" y="416256"/>
                </a:cubicBezTo>
                <a:cubicBezTo>
                  <a:pt x="3314319" y="408912"/>
                  <a:pt x="3011868" y="392388"/>
                  <a:pt x="2880034" y="416256"/>
                </a:cubicBezTo>
                <a:cubicBezTo>
                  <a:pt x="2748200" y="440124"/>
                  <a:pt x="2506669" y="411473"/>
                  <a:pt x="2302846" y="416256"/>
                </a:cubicBezTo>
                <a:cubicBezTo>
                  <a:pt x="2099023" y="421039"/>
                  <a:pt x="1883476" y="430970"/>
                  <a:pt x="1675467" y="416256"/>
                </a:cubicBezTo>
                <a:cubicBezTo>
                  <a:pt x="1467458" y="401542"/>
                  <a:pt x="1294799" y="429128"/>
                  <a:pt x="1048088" y="416256"/>
                </a:cubicBezTo>
                <a:cubicBezTo>
                  <a:pt x="801377" y="403384"/>
                  <a:pt x="317100" y="406883"/>
                  <a:pt x="69377" y="416256"/>
                </a:cubicBezTo>
                <a:cubicBezTo>
                  <a:pt x="34263" y="407274"/>
                  <a:pt x="-2728" y="384273"/>
                  <a:pt x="0" y="346879"/>
                </a:cubicBezTo>
                <a:cubicBezTo>
                  <a:pt x="3851" y="277969"/>
                  <a:pt x="8107" y="192816"/>
                  <a:pt x="0" y="69377"/>
                </a:cubicBezTo>
                <a:close/>
              </a:path>
              <a:path w="5157785" h="416256" stroke="0" extrusionOk="0">
                <a:moveTo>
                  <a:pt x="0" y="69377"/>
                </a:moveTo>
                <a:cubicBezTo>
                  <a:pt x="559" y="32732"/>
                  <a:pt x="35621" y="-5487"/>
                  <a:pt x="69377" y="0"/>
                </a:cubicBezTo>
                <a:cubicBezTo>
                  <a:pt x="326875" y="-35777"/>
                  <a:pt x="527889" y="-19769"/>
                  <a:pt x="797136" y="0"/>
                </a:cubicBezTo>
                <a:cubicBezTo>
                  <a:pt x="1066383" y="19769"/>
                  <a:pt x="1221449" y="-26158"/>
                  <a:pt x="1374325" y="0"/>
                </a:cubicBezTo>
                <a:cubicBezTo>
                  <a:pt x="1527201" y="26158"/>
                  <a:pt x="1784183" y="-7451"/>
                  <a:pt x="1901323" y="0"/>
                </a:cubicBezTo>
                <a:cubicBezTo>
                  <a:pt x="2018463" y="7451"/>
                  <a:pt x="2260633" y="7731"/>
                  <a:pt x="2428322" y="0"/>
                </a:cubicBezTo>
                <a:cubicBezTo>
                  <a:pt x="2596011" y="-7731"/>
                  <a:pt x="2813759" y="-17177"/>
                  <a:pt x="2955320" y="0"/>
                </a:cubicBezTo>
                <a:cubicBezTo>
                  <a:pt x="3096881" y="17177"/>
                  <a:pt x="3443092" y="-31759"/>
                  <a:pt x="3632889" y="0"/>
                </a:cubicBezTo>
                <a:cubicBezTo>
                  <a:pt x="3822686" y="31759"/>
                  <a:pt x="3942341" y="-6978"/>
                  <a:pt x="4159887" y="0"/>
                </a:cubicBezTo>
                <a:cubicBezTo>
                  <a:pt x="4377433" y="6978"/>
                  <a:pt x="4635355" y="-23062"/>
                  <a:pt x="5088408" y="0"/>
                </a:cubicBezTo>
                <a:cubicBezTo>
                  <a:pt x="5122869" y="-2478"/>
                  <a:pt x="5158975" y="25845"/>
                  <a:pt x="5157785" y="69377"/>
                </a:cubicBezTo>
                <a:cubicBezTo>
                  <a:pt x="5146045" y="189467"/>
                  <a:pt x="5170653" y="234787"/>
                  <a:pt x="5157785" y="346879"/>
                </a:cubicBezTo>
                <a:cubicBezTo>
                  <a:pt x="5161894" y="384235"/>
                  <a:pt x="5123925" y="411163"/>
                  <a:pt x="5088408" y="416256"/>
                </a:cubicBezTo>
                <a:cubicBezTo>
                  <a:pt x="4820339" y="447421"/>
                  <a:pt x="4623932" y="429386"/>
                  <a:pt x="4410839" y="416256"/>
                </a:cubicBezTo>
                <a:cubicBezTo>
                  <a:pt x="4197746" y="403126"/>
                  <a:pt x="3920642" y="392262"/>
                  <a:pt x="3783460" y="416256"/>
                </a:cubicBezTo>
                <a:cubicBezTo>
                  <a:pt x="3646278" y="440250"/>
                  <a:pt x="3406822" y="422533"/>
                  <a:pt x="3256462" y="416256"/>
                </a:cubicBezTo>
                <a:cubicBezTo>
                  <a:pt x="3106102" y="409979"/>
                  <a:pt x="2733855" y="435992"/>
                  <a:pt x="2578893" y="416256"/>
                </a:cubicBezTo>
                <a:cubicBezTo>
                  <a:pt x="2423931" y="396520"/>
                  <a:pt x="2254811" y="433891"/>
                  <a:pt x="2001704" y="416256"/>
                </a:cubicBezTo>
                <a:cubicBezTo>
                  <a:pt x="1748597" y="398621"/>
                  <a:pt x="1481355" y="404150"/>
                  <a:pt x="1324135" y="416256"/>
                </a:cubicBezTo>
                <a:cubicBezTo>
                  <a:pt x="1166915" y="428362"/>
                  <a:pt x="943022" y="403904"/>
                  <a:pt x="847327" y="416256"/>
                </a:cubicBezTo>
                <a:cubicBezTo>
                  <a:pt x="751632" y="428608"/>
                  <a:pt x="254434" y="384655"/>
                  <a:pt x="69377" y="416256"/>
                </a:cubicBezTo>
                <a:cubicBezTo>
                  <a:pt x="32840" y="414346"/>
                  <a:pt x="-1791" y="384662"/>
                  <a:pt x="0" y="346879"/>
                </a:cubicBezTo>
                <a:cubicBezTo>
                  <a:pt x="-13148" y="284846"/>
                  <a:pt x="-8192" y="155191"/>
                  <a:pt x="0" y="69377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A3830"/>
                </a:solidFill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59870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5">
            <a:extLst>
              <a:ext uri="{FF2B5EF4-FFF2-40B4-BE49-F238E27FC236}">
                <a16:creationId xmlns:a16="http://schemas.microsoft.com/office/drawing/2014/main" id="{9FCA36E1-C726-470A-9EBB-513A349C6AE4}"/>
              </a:ext>
            </a:extLst>
          </p:cNvPr>
          <p:cNvSpPr txBox="1">
            <a:spLocks/>
          </p:cNvSpPr>
          <p:nvPr/>
        </p:nvSpPr>
        <p:spPr>
          <a:xfrm>
            <a:off x="6257048" y="2505075"/>
            <a:ext cx="5183188" cy="368458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Автоматическая подготовка данных</a:t>
            </a:r>
          </a:p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Обучение модели на конкретных объектах</a:t>
            </a:r>
          </a:p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Обучение на неразмеченных данных</a:t>
            </a:r>
          </a:p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Визуализация найденных дефектов</a:t>
            </a:r>
          </a:p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Интерфейс оператора</a:t>
            </a:r>
          </a:p>
          <a:p>
            <a:pPr lvl="1">
              <a:lnSpc>
                <a:spcPct val="100000"/>
              </a:lnSpc>
              <a:buSzPct val="100000"/>
              <a:tabLst>
                <a:tab pos="914400" algn="l"/>
              </a:tabLst>
            </a:pPr>
            <a:r>
              <a:rPr lang="ru-RU" dirty="0">
                <a:solidFill>
                  <a:srgbClr val="0A3830"/>
                </a:solidFill>
              </a:rPr>
              <a:t>Расширяемый модульный подход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B79A5-A02D-40BA-B544-D94DABA6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64" y="245660"/>
            <a:ext cx="10536072" cy="1473247"/>
          </a:xfrm>
          <a:custGeom>
            <a:avLst/>
            <a:gdLst>
              <a:gd name="connsiteX0" fmla="*/ 0 w 10536072"/>
              <a:gd name="connsiteY0" fmla="*/ 0 h 1473247"/>
              <a:gd name="connsiteX1" fmla="*/ 342422 w 10536072"/>
              <a:gd name="connsiteY1" fmla="*/ 0 h 1473247"/>
              <a:gd name="connsiteX2" fmla="*/ 1211648 w 10536072"/>
              <a:gd name="connsiteY2" fmla="*/ 0 h 1473247"/>
              <a:gd name="connsiteX3" fmla="*/ 1870153 w 10536072"/>
              <a:gd name="connsiteY3" fmla="*/ 0 h 1473247"/>
              <a:gd name="connsiteX4" fmla="*/ 2212575 w 10536072"/>
              <a:gd name="connsiteY4" fmla="*/ 0 h 1473247"/>
              <a:gd name="connsiteX5" fmla="*/ 2871080 w 10536072"/>
              <a:gd name="connsiteY5" fmla="*/ 0 h 1473247"/>
              <a:gd name="connsiteX6" fmla="*/ 3740306 w 10536072"/>
              <a:gd name="connsiteY6" fmla="*/ 0 h 1473247"/>
              <a:gd name="connsiteX7" fmla="*/ 4293449 w 10536072"/>
              <a:gd name="connsiteY7" fmla="*/ 0 h 1473247"/>
              <a:gd name="connsiteX8" fmla="*/ 4846593 w 10536072"/>
              <a:gd name="connsiteY8" fmla="*/ 0 h 1473247"/>
              <a:gd name="connsiteX9" fmla="*/ 5505098 w 10536072"/>
              <a:gd name="connsiteY9" fmla="*/ 0 h 1473247"/>
              <a:gd name="connsiteX10" fmla="*/ 6268963 w 10536072"/>
              <a:gd name="connsiteY10" fmla="*/ 0 h 1473247"/>
              <a:gd name="connsiteX11" fmla="*/ 7032828 w 10536072"/>
              <a:gd name="connsiteY11" fmla="*/ 0 h 1473247"/>
              <a:gd name="connsiteX12" fmla="*/ 7796693 w 10536072"/>
              <a:gd name="connsiteY12" fmla="*/ 0 h 1473247"/>
              <a:gd name="connsiteX13" fmla="*/ 8665919 w 10536072"/>
              <a:gd name="connsiteY13" fmla="*/ 0 h 1473247"/>
              <a:gd name="connsiteX14" fmla="*/ 9324424 w 10536072"/>
              <a:gd name="connsiteY14" fmla="*/ 0 h 1473247"/>
              <a:gd name="connsiteX15" fmla="*/ 10536072 w 10536072"/>
              <a:gd name="connsiteY15" fmla="*/ 0 h 1473247"/>
              <a:gd name="connsiteX16" fmla="*/ 10536072 w 10536072"/>
              <a:gd name="connsiteY16" fmla="*/ 491082 h 1473247"/>
              <a:gd name="connsiteX17" fmla="*/ 10536072 w 10536072"/>
              <a:gd name="connsiteY17" fmla="*/ 1011630 h 1473247"/>
              <a:gd name="connsiteX18" fmla="*/ 10536072 w 10536072"/>
              <a:gd name="connsiteY18" fmla="*/ 1473247 h 1473247"/>
              <a:gd name="connsiteX19" fmla="*/ 9666846 w 10536072"/>
              <a:gd name="connsiteY19" fmla="*/ 1473247 h 1473247"/>
              <a:gd name="connsiteX20" fmla="*/ 9113702 w 10536072"/>
              <a:gd name="connsiteY20" fmla="*/ 1473247 h 1473247"/>
              <a:gd name="connsiteX21" fmla="*/ 8560559 w 10536072"/>
              <a:gd name="connsiteY21" fmla="*/ 1473247 h 1473247"/>
              <a:gd name="connsiteX22" fmla="*/ 8007415 w 10536072"/>
              <a:gd name="connsiteY22" fmla="*/ 1473247 h 1473247"/>
              <a:gd name="connsiteX23" fmla="*/ 7243550 w 10536072"/>
              <a:gd name="connsiteY23" fmla="*/ 1473247 h 1473247"/>
              <a:gd name="connsiteX24" fmla="*/ 6585045 w 10536072"/>
              <a:gd name="connsiteY24" fmla="*/ 1473247 h 1473247"/>
              <a:gd name="connsiteX25" fmla="*/ 6242623 w 10536072"/>
              <a:gd name="connsiteY25" fmla="*/ 1473247 h 1473247"/>
              <a:gd name="connsiteX26" fmla="*/ 5689479 w 10536072"/>
              <a:gd name="connsiteY26" fmla="*/ 1473247 h 1473247"/>
              <a:gd name="connsiteX27" fmla="*/ 4925614 w 10536072"/>
              <a:gd name="connsiteY27" fmla="*/ 1473247 h 1473247"/>
              <a:gd name="connsiteX28" fmla="*/ 4477831 w 10536072"/>
              <a:gd name="connsiteY28" fmla="*/ 1473247 h 1473247"/>
              <a:gd name="connsiteX29" fmla="*/ 3608605 w 10536072"/>
              <a:gd name="connsiteY29" fmla="*/ 1473247 h 1473247"/>
              <a:gd name="connsiteX30" fmla="*/ 2739379 w 10536072"/>
              <a:gd name="connsiteY30" fmla="*/ 1473247 h 1473247"/>
              <a:gd name="connsiteX31" fmla="*/ 2080874 w 10536072"/>
              <a:gd name="connsiteY31" fmla="*/ 1473247 h 1473247"/>
              <a:gd name="connsiteX32" fmla="*/ 1211648 w 10536072"/>
              <a:gd name="connsiteY32" fmla="*/ 1473247 h 1473247"/>
              <a:gd name="connsiteX33" fmla="*/ 0 w 10536072"/>
              <a:gd name="connsiteY33" fmla="*/ 1473247 h 1473247"/>
              <a:gd name="connsiteX34" fmla="*/ 0 w 10536072"/>
              <a:gd name="connsiteY34" fmla="*/ 967432 h 1473247"/>
              <a:gd name="connsiteX35" fmla="*/ 0 w 10536072"/>
              <a:gd name="connsiteY35" fmla="*/ 505815 h 1473247"/>
              <a:gd name="connsiteX36" fmla="*/ 0 w 10536072"/>
              <a:gd name="connsiteY36" fmla="*/ 0 h 14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36072" h="1473247" fill="none" extrusionOk="0">
                <a:moveTo>
                  <a:pt x="0" y="0"/>
                </a:moveTo>
                <a:cubicBezTo>
                  <a:pt x="170638" y="-3227"/>
                  <a:pt x="242755" y="-8478"/>
                  <a:pt x="342422" y="0"/>
                </a:cubicBezTo>
                <a:cubicBezTo>
                  <a:pt x="442089" y="8478"/>
                  <a:pt x="788844" y="-32598"/>
                  <a:pt x="1211648" y="0"/>
                </a:cubicBezTo>
                <a:cubicBezTo>
                  <a:pt x="1634452" y="32598"/>
                  <a:pt x="1545805" y="16754"/>
                  <a:pt x="1870153" y="0"/>
                </a:cubicBezTo>
                <a:cubicBezTo>
                  <a:pt x="2194502" y="-16754"/>
                  <a:pt x="2137829" y="-2132"/>
                  <a:pt x="2212575" y="0"/>
                </a:cubicBezTo>
                <a:cubicBezTo>
                  <a:pt x="2287321" y="2132"/>
                  <a:pt x="2661122" y="14575"/>
                  <a:pt x="2871080" y="0"/>
                </a:cubicBezTo>
                <a:cubicBezTo>
                  <a:pt x="3081038" y="-14575"/>
                  <a:pt x="3324059" y="-26478"/>
                  <a:pt x="3740306" y="0"/>
                </a:cubicBezTo>
                <a:cubicBezTo>
                  <a:pt x="4156553" y="26478"/>
                  <a:pt x="4042059" y="-21422"/>
                  <a:pt x="4293449" y="0"/>
                </a:cubicBezTo>
                <a:cubicBezTo>
                  <a:pt x="4544839" y="21422"/>
                  <a:pt x="4675378" y="-14390"/>
                  <a:pt x="4846593" y="0"/>
                </a:cubicBezTo>
                <a:cubicBezTo>
                  <a:pt x="5017808" y="14390"/>
                  <a:pt x="5278534" y="-14693"/>
                  <a:pt x="5505098" y="0"/>
                </a:cubicBezTo>
                <a:cubicBezTo>
                  <a:pt x="5731663" y="14693"/>
                  <a:pt x="6110631" y="21813"/>
                  <a:pt x="6268963" y="0"/>
                </a:cubicBezTo>
                <a:cubicBezTo>
                  <a:pt x="6427295" y="-21813"/>
                  <a:pt x="6752560" y="-19507"/>
                  <a:pt x="7032828" y="0"/>
                </a:cubicBezTo>
                <a:cubicBezTo>
                  <a:pt x="7313097" y="19507"/>
                  <a:pt x="7555463" y="-7915"/>
                  <a:pt x="7796693" y="0"/>
                </a:cubicBezTo>
                <a:cubicBezTo>
                  <a:pt x="8037924" y="7915"/>
                  <a:pt x="8482692" y="-24697"/>
                  <a:pt x="8665919" y="0"/>
                </a:cubicBezTo>
                <a:cubicBezTo>
                  <a:pt x="8849146" y="24697"/>
                  <a:pt x="9115048" y="18415"/>
                  <a:pt x="9324424" y="0"/>
                </a:cubicBezTo>
                <a:cubicBezTo>
                  <a:pt x="9533800" y="-18415"/>
                  <a:pt x="10189238" y="-2880"/>
                  <a:pt x="10536072" y="0"/>
                </a:cubicBezTo>
                <a:cubicBezTo>
                  <a:pt x="10528582" y="103442"/>
                  <a:pt x="10544072" y="302800"/>
                  <a:pt x="10536072" y="491082"/>
                </a:cubicBezTo>
                <a:cubicBezTo>
                  <a:pt x="10528072" y="679364"/>
                  <a:pt x="10518789" y="845093"/>
                  <a:pt x="10536072" y="1011630"/>
                </a:cubicBezTo>
                <a:cubicBezTo>
                  <a:pt x="10553355" y="1178167"/>
                  <a:pt x="10557230" y="1322951"/>
                  <a:pt x="10536072" y="1473247"/>
                </a:cubicBezTo>
                <a:cubicBezTo>
                  <a:pt x="10209976" y="1489033"/>
                  <a:pt x="9878422" y="1504300"/>
                  <a:pt x="9666846" y="1473247"/>
                </a:cubicBezTo>
                <a:cubicBezTo>
                  <a:pt x="9455270" y="1442194"/>
                  <a:pt x="9317495" y="1469565"/>
                  <a:pt x="9113702" y="1473247"/>
                </a:cubicBezTo>
                <a:cubicBezTo>
                  <a:pt x="8909909" y="1476929"/>
                  <a:pt x="8768355" y="1464148"/>
                  <a:pt x="8560559" y="1473247"/>
                </a:cubicBezTo>
                <a:cubicBezTo>
                  <a:pt x="8352763" y="1482346"/>
                  <a:pt x="8221728" y="1498460"/>
                  <a:pt x="8007415" y="1473247"/>
                </a:cubicBezTo>
                <a:cubicBezTo>
                  <a:pt x="7793102" y="1448034"/>
                  <a:pt x="7543911" y="1438200"/>
                  <a:pt x="7243550" y="1473247"/>
                </a:cubicBezTo>
                <a:cubicBezTo>
                  <a:pt x="6943190" y="1508294"/>
                  <a:pt x="6899696" y="1502806"/>
                  <a:pt x="6585045" y="1473247"/>
                </a:cubicBezTo>
                <a:cubicBezTo>
                  <a:pt x="6270395" y="1443688"/>
                  <a:pt x="6408534" y="1465362"/>
                  <a:pt x="6242623" y="1473247"/>
                </a:cubicBezTo>
                <a:cubicBezTo>
                  <a:pt x="6076712" y="1481132"/>
                  <a:pt x="5927077" y="1471371"/>
                  <a:pt x="5689479" y="1473247"/>
                </a:cubicBezTo>
                <a:cubicBezTo>
                  <a:pt x="5451881" y="1475123"/>
                  <a:pt x="5292564" y="1490901"/>
                  <a:pt x="4925614" y="1473247"/>
                </a:cubicBezTo>
                <a:cubicBezTo>
                  <a:pt x="4558664" y="1455593"/>
                  <a:pt x="4588090" y="1494698"/>
                  <a:pt x="4477831" y="1473247"/>
                </a:cubicBezTo>
                <a:cubicBezTo>
                  <a:pt x="4367572" y="1451796"/>
                  <a:pt x="3983650" y="1497048"/>
                  <a:pt x="3608605" y="1473247"/>
                </a:cubicBezTo>
                <a:cubicBezTo>
                  <a:pt x="3233560" y="1449446"/>
                  <a:pt x="2937559" y="1501024"/>
                  <a:pt x="2739379" y="1473247"/>
                </a:cubicBezTo>
                <a:cubicBezTo>
                  <a:pt x="2541199" y="1445470"/>
                  <a:pt x="2251189" y="1477357"/>
                  <a:pt x="2080874" y="1473247"/>
                </a:cubicBezTo>
                <a:cubicBezTo>
                  <a:pt x="1910560" y="1469137"/>
                  <a:pt x="1591616" y="1432296"/>
                  <a:pt x="1211648" y="1473247"/>
                </a:cubicBezTo>
                <a:cubicBezTo>
                  <a:pt x="831680" y="1514198"/>
                  <a:pt x="399468" y="1479806"/>
                  <a:pt x="0" y="1473247"/>
                </a:cubicBezTo>
                <a:cubicBezTo>
                  <a:pt x="-21588" y="1358984"/>
                  <a:pt x="-21609" y="1160994"/>
                  <a:pt x="0" y="967432"/>
                </a:cubicBezTo>
                <a:cubicBezTo>
                  <a:pt x="21609" y="773871"/>
                  <a:pt x="3189" y="641017"/>
                  <a:pt x="0" y="505815"/>
                </a:cubicBezTo>
                <a:cubicBezTo>
                  <a:pt x="-3189" y="370613"/>
                  <a:pt x="8086" y="229632"/>
                  <a:pt x="0" y="0"/>
                </a:cubicBezTo>
                <a:close/>
              </a:path>
              <a:path w="10536072" h="1473247" stroke="0" extrusionOk="0">
                <a:moveTo>
                  <a:pt x="0" y="0"/>
                </a:moveTo>
                <a:cubicBezTo>
                  <a:pt x="124834" y="11046"/>
                  <a:pt x="334746" y="-27317"/>
                  <a:pt x="553144" y="0"/>
                </a:cubicBezTo>
                <a:cubicBezTo>
                  <a:pt x="771542" y="27317"/>
                  <a:pt x="801337" y="15140"/>
                  <a:pt x="895566" y="0"/>
                </a:cubicBezTo>
                <a:cubicBezTo>
                  <a:pt x="989795" y="-15140"/>
                  <a:pt x="1332723" y="-19029"/>
                  <a:pt x="1764792" y="0"/>
                </a:cubicBezTo>
                <a:cubicBezTo>
                  <a:pt x="2196861" y="19029"/>
                  <a:pt x="2141091" y="-13523"/>
                  <a:pt x="2317936" y="0"/>
                </a:cubicBezTo>
                <a:cubicBezTo>
                  <a:pt x="2494781" y="13523"/>
                  <a:pt x="2751421" y="21117"/>
                  <a:pt x="2871080" y="0"/>
                </a:cubicBezTo>
                <a:cubicBezTo>
                  <a:pt x="2990739" y="-21117"/>
                  <a:pt x="3425096" y="-41438"/>
                  <a:pt x="3740306" y="0"/>
                </a:cubicBezTo>
                <a:cubicBezTo>
                  <a:pt x="4055516" y="41438"/>
                  <a:pt x="4012862" y="9677"/>
                  <a:pt x="4188089" y="0"/>
                </a:cubicBezTo>
                <a:cubicBezTo>
                  <a:pt x="4363316" y="-9677"/>
                  <a:pt x="4702184" y="31897"/>
                  <a:pt x="5057315" y="0"/>
                </a:cubicBezTo>
                <a:cubicBezTo>
                  <a:pt x="5412446" y="-31897"/>
                  <a:pt x="5719646" y="30807"/>
                  <a:pt x="5926541" y="0"/>
                </a:cubicBezTo>
                <a:cubicBezTo>
                  <a:pt x="6133436" y="-30807"/>
                  <a:pt x="6381779" y="6989"/>
                  <a:pt x="6585045" y="0"/>
                </a:cubicBezTo>
                <a:cubicBezTo>
                  <a:pt x="6788311" y="-6989"/>
                  <a:pt x="7075550" y="21499"/>
                  <a:pt x="7454271" y="0"/>
                </a:cubicBezTo>
                <a:cubicBezTo>
                  <a:pt x="7832992" y="-21499"/>
                  <a:pt x="7814013" y="-439"/>
                  <a:pt x="8007415" y="0"/>
                </a:cubicBezTo>
                <a:cubicBezTo>
                  <a:pt x="8200817" y="439"/>
                  <a:pt x="8352463" y="-9370"/>
                  <a:pt x="8560559" y="0"/>
                </a:cubicBezTo>
                <a:cubicBezTo>
                  <a:pt x="8768655" y="9370"/>
                  <a:pt x="8985443" y="14713"/>
                  <a:pt x="9324424" y="0"/>
                </a:cubicBezTo>
                <a:cubicBezTo>
                  <a:pt x="9663405" y="-14713"/>
                  <a:pt x="9736203" y="6165"/>
                  <a:pt x="9877568" y="0"/>
                </a:cubicBezTo>
                <a:cubicBezTo>
                  <a:pt x="10018933" y="-6165"/>
                  <a:pt x="10230349" y="19429"/>
                  <a:pt x="10536072" y="0"/>
                </a:cubicBezTo>
                <a:cubicBezTo>
                  <a:pt x="10555212" y="192766"/>
                  <a:pt x="10521319" y="401317"/>
                  <a:pt x="10536072" y="520547"/>
                </a:cubicBezTo>
                <a:cubicBezTo>
                  <a:pt x="10550825" y="639777"/>
                  <a:pt x="10530484" y="924566"/>
                  <a:pt x="10536072" y="1026362"/>
                </a:cubicBezTo>
                <a:cubicBezTo>
                  <a:pt x="10541660" y="1128158"/>
                  <a:pt x="10552389" y="1261865"/>
                  <a:pt x="10536072" y="1473247"/>
                </a:cubicBezTo>
                <a:cubicBezTo>
                  <a:pt x="10396614" y="1489586"/>
                  <a:pt x="10354707" y="1468263"/>
                  <a:pt x="10193650" y="1473247"/>
                </a:cubicBezTo>
                <a:cubicBezTo>
                  <a:pt x="10032593" y="1478231"/>
                  <a:pt x="9526605" y="1449167"/>
                  <a:pt x="9324424" y="1473247"/>
                </a:cubicBezTo>
                <a:cubicBezTo>
                  <a:pt x="9122243" y="1497327"/>
                  <a:pt x="8898880" y="1456803"/>
                  <a:pt x="8665919" y="1473247"/>
                </a:cubicBezTo>
                <a:cubicBezTo>
                  <a:pt x="8432959" y="1489691"/>
                  <a:pt x="8360567" y="1469714"/>
                  <a:pt x="8218136" y="1473247"/>
                </a:cubicBezTo>
                <a:cubicBezTo>
                  <a:pt x="8075705" y="1476780"/>
                  <a:pt x="7703160" y="1464634"/>
                  <a:pt x="7559632" y="1473247"/>
                </a:cubicBezTo>
                <a:cubicBezTo>
                  <a:pt x="7416104" y="1481860"/>
                  <a:pt x="7300958" y="1477192"/>
                  <a:pt x="7217209" y="1473247"/>
                </a:cubicBezTo>
                <a:cubicBezTo>
                  <a:pt x="7133460" y="1469302"/>
                  <a:pt x="6971626" y="1465062"/>
                  <a:pt x="6874787" y="1473247"/>
                </a:cubicBezTo>
                <a:cubicBezTo>
                  <a:pt x="6777948" y="1481432"/>
                  <a:pt x="6456213" y="1448579"/>
                  <a:pt x="6216282" y="1473247"/>
                </a:cubicBezTo>
                <a:cubicBezTo>
                  <a:pt x="5976352" y="1497915"/>
                  <a:pt x="5957714" y="1465901"/>
                  <a:pt x="5768499" y="1473247"/>
                </a:cubicBezTo>
                <a:cubicBezTo>
                  <a:pt x="5579284" y="1480593"/>
                  <a:pt x="5185837" y="1475207"/>
                  <a:pt x="5004634" y="1473247"/>
                </a:cubicBezTo>
                <a:cubicBezTo>
                  <a:pt x="4823432" y="1471287"/>
                  <a:pt x="4694247" y="1465003"/>
                  <a:pt x="4556851" y="1473247"/>
                </a:cubicBezTo>
                <a:cubicBezTo>
                  <a:pt x="4419455" y="1481491"/>
                  <a:pt x="3961624" y="1437488"/>
                  <a:pt x="3792986" y="1473247"/>
                </a:cubicBezTo>
                <a:cubicBezTo>
                  <a:pt x="3624349" y="1509006"/>
                  <a:pt x="3606439" y="1461005"/>
                  <a:pt x="3450564" y="1473247"/>
                </a:cubicBezTo>
                <a:cubicBezTo>
                  <a:pt x="3294689" y="1485489"/>
                  <a:pt x="3047803" y="1443534"/>
                  <a:pt x="2686698" y="1473247"/>
                </a:cubicBezTo>
                <a:cubicBezTo>
                  <a:pt x="2325593" y="1502960"/>
                  <a:pt x="2378357" y="1479112"/>
                  <a:pt x="2238915" y="1473247"/>
                </a:cubicBezTo>
                <a:cubicBezTo>
                  <a:pt x="2099473" y="1467382"/>
                  <a:pt x="1994239" y="1462106"/>
                  <a:pt x="1896493" y="1473247"/>
                </a:cubicBezTo>
                <a:cubicBezTo>
                  <a:pt x="1798747" y="1484388"/>
                  <a:pt x="1605231" y="1466509"/>
                  <a:pt x="1448710" y="1473247"/>
                </a:cubicBezTo>
                <a:cubicBezTo>
                  <a:pt x="1292189" y="1479985"/>
                  <a:pt x="997653" y="1469935"/>
                  <a:pt x="684845" y="1473247"/>
                </a:cubicBezTo>
                <a:cubicBezTo>
                  <a:pt x="372037" y="1476559"/>
                  <a:pt x="149225" y="1486004"/>
                  <a:pt x="0" y="1473247"/>
                </a:cubicBezTo>
                <a:cubicBezTo>
                  <a:pt x="-14567" y="1349963"/>
                  <a:pt x="6317" y="1135463"/>
                  <a:pt x="0" y="1026362"/>
                </a:cubicBezTo>
                <a:cubicBezTo>
                  <a:pt x="-6317" y="917262"/>
                  <a:pt x="-7270" y="674490"/>
                  <a:pt x="0" y="579477"/>
                </a:cubicBezTo>
                <a:cubicBezTo>
                  <a:pt x="7270" y="484465"/>
                  <a:pt x="-2304" y="1950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Описание предлагаемого решения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D38EF1-DEEE-4736-8687-CCE88BE8A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18806E"/>
          </a:solidFill>
        </p:spPr>
        <p:txBody>
          <a:bodyPr anchor="t">
            <a:normAutofit fontScale="92500" lnSpcReduction="20000"/>
          </a:bodyPr>
          <a:lstStyle/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моделей реконструкции или представлений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 на распределениях нормальных данных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Извлечение многоуровневых признаков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современных архитектур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 небольшим количеством аномалий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tabLst>
                <a:tab pos="45720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Гибкость и адаптивность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C65BEA1-0AA2-45F8-9B86-2DA0BE42EF52}"/>
              </a:ext>
            </a:extLst>
          </p:cNvPr>
          <p:cNvSpPr/>
          <p:nvPr/>
        </p:nvSpPr>
        <p:spPr>
          <a:xfrm>
            <a:off x="836612" y="1903863"/>
            <a:ext cx="5157787" cy="416256"/>
          </a:xfrm>
          <a:custGeom>
            <a:avLst/>
            <a:gdLst>
              <a:gd name="connsiteX0" fmla="*/ 0 w 5157787"/>
              <a:gd name="connsiteY0" fmla="*/ 69377 h 416256"/>
              <a:gd name="connsiteX1" fmla="*/ 69377 w 5157787"/>
              <a:gd name="connsiteY1" fmla="*/ 0 h 416256"/>
              <a:gd name="connsiteX2" fmla="*/ 696756 w 5157787"/>
              <a:gd name="connsiteY2" fmla="*/ 0 h 416256"/>
              <a:gd name="connsiteX3" fmla="*/ 1223755 w 5157787"/>
              <a:gd name="connsiteY3" fmla="*/ 0 h 416256"/>
              <a:gd name="connsiteX4" fmla="*/ 1901324 w 5157787"/>
              <a:gd name="connsiteY4" fmla="*/ 0 h 416256"/>
              <a:gd name="connsiteX5" fmla="*/ 2428323 w 5157787"/>
              <a:gd name="connsiteY5" fmla="*/ 0 h 416256"/>
              <a:gd name="connsiteX6" fmla="*/ 3105892 w 5157787"/>
              <a:gd name="connsiteY6" fmla="*/ 0 h 416256"/>
              <a:gd name="connsiteX7" fmla="*/ 3582700 w 5157787"/>
              <a:gd name="connsiteY7" fmla="*/ 0 h 416256"/>
              <a:gd name="connsiteX8" fmla="*/ 4260270 w 5157787"/>
              <a:gd name="connsiteY8" fmla="*/ 0 h 416256"/>
              <a:gd name="connsiteX9" fmla="*/ 5088410 w 5157787"/>
              <a:gd name="connsiteY9" fmla="*/ 0 h 416256"/>
              <a:gd name="connsiteX10" fmla="*/ 5157787 w 5157787"/>
              <a:gd name="connsiteY10" fmla="*/ 69377 h 416256"/>
              <a:gd name="connsiteX11" fmla="*/ 5157787 w 5157787"/>
              <a:gd name="connsiteY11" fmla="*/ 346879 h 416256"/>
              <a:gd name="connsiteX12" fmla="*/ 5088410 w 5157787"/>
              <a:gd name="connsiteY12" fmla="*/ 416256 h 416256"/>
              <a:gd name="connsiteX13" fmla="*/ 4561412 w 5157787"/>
              <a:gd name="connsiteY13" fmla="*/ 416256 h 416256"/>
              <a:gd name="connsiteX14" fmla="*/ 3984223 w 5157787"/>
              <a:gd name="connsiteY14" fmla="*/ 416256 h 416256"/>
              <a:gd name="connsiteX15" fmla="*/ 3356844 w 5157787"/>
              <a:gd name="connsiteY15" fmla="*/ 416256 h 416256"/>
              <a:gd name="connsiteX16" fmla="*/ 2829845 w 5157787"/>
              <a:gd name="connsiteY16" fmla="*/ 416256 h 416256"/>
              <a:gd name="connsiteX17" fmla="*/ 2102085 w 5157787"/>
              <a:gd name="connsiteY17" fmla="*/ 416256 h 416256"/>
              <a:gd name="connsiteX18" fmla="*/ 1474706 w 5157787"/>
              <a:gd name="connsiteY18" fmla="*/ 416256 h 416256"/>
              <a:gd name="connsiteX19" fmla="*/ 746946 w 5157787"/>
              <a:gd name="connsiteY19" fmla="*/ 416256 h 416256"/>
              <a:gd name="connsiteX20" fmla="*/ 69377 w 5157787"/>
              <a:gd name="connsiteY20" fmla="*/ 416256 h 416256"/>
              <a:gd name="connsiteX21" fmla="*/ 0 w 5157787"/>
              <a:gd name="connsiteY21" fmla="*/ 346879 h 416256"/>
              <a:gd name="connsiteX22" fmla="*/ 0 w 5157787"/>
              <a:gd name="connsiteY22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157787" h="416256" fill="none" extrusionOk="0">
                <a:moveTo>
                  <a:pt x="0" y="69377"/>
                </a:moveTo>
                <a:cubicBezTo>
                  <a:pt x="-3836" y="30844"/>
                  <a:pt x="37561" y="5596"/>
                  <a:pt x="69377" y="0"/>
                </a:cubicBezTo>
                <a:cubicBezTo>
                  <a:pt x="244485" y="26515"/>
                  <a:pt x="518289" y="6645"/>
                  <a:pt x="696756" y="0"/>
                </a:cubicBezTo>
                <a:cubicBezTo>
                  <a:pt x="875223" y="-6645"/>
                  <a:pt x="1088959" y="12747"/>
                  <a:pt x="1223755" y="0"/>
                </a:cubicBezTo>
                <a:cubicBezTo>
                  <a:pt x="1358551" y="-12747"/>
                  <a:pt x="1675966" y="-13215"/>
                  <a:pt x="1901324" y="0"/>
                </a:cubicBezTo>
                <a:cubicBezTo>
                  <a:pt x="2126682" y="13215"/>
                  <a:pt x="2246010" y="-21447"/>
                  <a:pt x="2428323" y="0"/>
                </a:cubicBezTo>
                <a:cubicBezTo>
                  <a:pt x="2610636" y="21447"/>
                  <a:pt x="2865959" y="1520"/>
                  <a:pt x="3105892" y="0"/>
                </a:cubicBezTo>
                <a:cubicBezTo>
                  <a:pt x="3345825" y="-1520"/>
                  <a:pt x="3459638" y="-16712"/>
                  <a:pt x="3582700" y="0"/>
                </a:cubicBezTo>
                <a:cubicBezTo>
                  <a:pt x="3705762" y="16712"/>
                  <a:pt x="4072981" y="-26549"/>
                  <a:pt x="4260270" y="0"/>
                </a:cubicBezTo>
                <a:cubicBezTo>
                  <a:pt x="4447559" y="26549"/>
                  <a:pt x="4753266" y="-36189"/>
                  <a:pt x="5088410" y="0"/>
                </a:cubicBezTo>
                <a:cubicBezTo>
                  <a:pt x="5124354" y="1330"/>
                  <a:pt x="5158727" y="33608"/>
                  <a:pt x="5157787" y="69377"/>
                </a:cubicBezTo>
                <a:cubicBezTo>
                  <a:pt x="5144676" y="205520"/>
                  <a:pt x="5144245" y="245615"/>
                  <a:pt x="5157787" y="346879"/>
                </a:cubicBezTo>
                <a:cubicBezTo>
                  <a:pt x="5159756" y="384674"/>
                  <a:pt x="5126273" y="419396"/>
                  <a:pt x="5088410" y="416256"/>
                </a:cubicBezTo>
                <a:cubicBezTo>
                  <a:pt x="4851756" y="402826"/>
                  <a:pt x="4723952" y="426093"/>
                  <a:pt x="4561412" y="416256"/>
                </a:cubicBezTo>
                <a:cubicBezTo>
                  <a:pt x="4398872" y="406419"/>
                  <a:pt x="4166478" y="404396"/>
                  <a:pt x="3984223" y="416256"/>
                </a:cubicBezTo>
                <a:cubicBezTo>
                  <a:pt x="3801968" y="428116"/>
                  <a:pt x="3591489" y="437936"/>
                  <a:pt x="3356844" y="416256"/>
                </a:cubicBezTo>
                <a:cubicBezTo>
                  <a:pt x="3122199" y="394576"/>
                  <a:pt x="2965402" y="442392"/>
                  <a:pt x="2829845" y="416256"/>
                </a:cubicBezTo>
                <a:cubicBezTo>
                  <a:pt x="2694288" y="390120"/>
                  <a:pt x="2333123" y="431565"/>
                  <a:pt x="2102085" y="416256"/>
                </a:cubicBezTo>
                <a:cubicBezTo>
                  <a:pt x="1871047" y="400947"/>
                  <a:pt x="1678639" y="444521"/>
                  <a:pt x="1474706" y="416256"/>
                </a:cubicBezTo>
                <a:cubicBezTo>
                  <a:pt x="1270773" y="387991"/>
                  <a:pt x="1032812" y="433465"/>
                  <a:pt x="746946" y="416256"/>
                </a:cubicBezTo>
                <a:cubicBezTo>
                  <a:pt x="461080" y="399047"/>
                  <a:pt x="309598" y="415343"/>
                  <a:pt x="69377" y="416256"/>
                </a:cubicBezTo>
                <a:cubicBezTo>
                  <a:pt x="29127" y="423338"/>
                  <a:pt x="4556" y="377522"/>
                  <a:pt x="0" y="346879"/>
                </a:cubicBezTo>
                <a:cubicBezTo>
                  <a:pt x="-13129" y="226545"/>
                  <a:pt x="-1205" y="195211"/>
                  <a:pt x="0" y="69377"/>
                </a:cubicBezTo>
                <a:close/>
              </a:path>
              <a:path w="5157787" h="416256" stroke="0" extrusionOk="0">
                <a:moveTo>
                  <a:pt x="0" y="69377"/>
                </a:moveTo>
                <a:cubicBezTo>
                  <a:pt x="-5850" y="27453"/>
                  <a:pt x="22999" y="3026"/>
                  <a:pt x="69377" y="0"/>
                </a:cubicBezTo>
                <a:cubicBezTo>
                  <a:pt x="300728" y="-6877"/>
                  <a:pt x="539316" y="-20823"/>
                  <a:pt x="797137" y="0"/>
                </a:cubicBezTo>
                <a:cubicBezTo>
                  <a:pt x="1054958" y="20823"/>
                  <a:pt x="1116286" y="24824"/>
                  <a:pt x="1374326" y="0"/>
                </a:cubicBezTo>
                <a:cubicBezTo>
                  <a:pt x="1632366" y="-24824"/>
                  <a:pt x="1734911" y="17205"/>
                  <a:pt x="1901324" y="0"/>
                </a:cubicBezTo>
                <a:cubicBezTo>
                  <a:pt x="2067737" y="-17205"/>
                  <a:pt x="2400038" y="7301"/>
                  <a:pt x="2578894" y="0"/>
                </a:cubicBezTo>
                <a:cubicBezTo>
                  <a:pt x="2757750" y="-7301"/>
                  <a:pt x="3023675" y="15096"/>
                  <a:pt x="3156082" y="0"/>
                </a:cubicBezTo>
                <a:cubicBezTo>
                  <a:pt x="3288489" y="-15096"/>
                  <a:pt x="3586397" y="26779"/>
                  <a:pt x="3883842" y="0"/>
                </a:cubicBezTo>
                <a:cubicBezTo>
                  <a:pt x="4181287" y="-26779"/>
                  <a:pt x="4271908" y="-11336"/>
                  <a:pt x="4410841" y="0"/>
                </a:cubicBezTo>
                <a:cubicBezTo>
                  <a:pt x="4549774" y="11336"/>
                  <a:pt x="4817454" y="29002"/>
                  <a:pt x="5088410" y="0"/>
                </a:cubicBezTo>
                <a:cubicBezTo>
                  <a:pt x="5131837" y="1229"/>
                  <a:pt x="5155019" y="30613"/>
                  <a:pt x="5157787" y="69377"/>
                </a:cubicBezTo>
                <a:cubicBezTo>
                  <a:pt x="5155762" y="147845"/>
                  <a:pt x="5147936" y="275750"/>
                  <a:pt x="5157787" y="346879"/>
                </a:cubicBezTo>
                <a:cubicBezTo>
                  <a:pt x="5163289" y="379758"/>
                  <a:pt x="5131462" y="413202"/>
                  <a:pt x="5088410" y="416256"/>
                </a:cubicBezTo>
                <a:cubicBezTo>
                  <a:pt x="4828923" y="388627"/>
                  <a:pt x="4654891" y="424438"/>
                  <a:pt x="4461031" y="416256"/>
                </a:cubicBezTo>
                <a:cubicBezTo>
                  <a:pt x="4267171" y="408074"/>
                  <a:pt x="4185333" y="400476"/>
                  <a:pt x="3934032" y="416256"/>
                </a:cubicBezTo>
                <a:cubicBezTo>
                  <a:pt x="3682731" y="432036"/>
                  <a:pt x="3438337" y="412606"/>
                  <a:pt x="3306653" y="416256"/>
                </a:cubicBezTo>
                <a:cubicBezTo>
                  <a:pt x="3174969" y="419906"/>
                  <a:pt x="2840801" y="385090"/>
                  <a:pt x="2578894" y="416256"/>
                </a:cubicBezTo>
                <a:cubicBezTo>
                  <a:pt x="2316987" y="447422"/>
                  <a:pt x="2250177" y="435993"/>
                  <a:pt x="1951514" y="416256"/>
                </a:cubicBezTo>
                <a:cubicBezTo>
                  <a:pt x="1652851" y="396519"/>
                  <a:pt x="1655220" y="426707"/>
                  <a:pt x="1474706" y="416256"/>
                </a:cubicBezTo>
                <a:cubicBezTo>
                  <a:pt x="1294192" y="405805"/>
                  <a:pt x="1150076" y="392963"/>
                  <a:pt x="947708" y="416256"/>
                </a:cubicBezTo>
                <a:cubicBezTo>
                  <a:pt x="745340" y="439549"/>
                  <a:pt x="416323" y="426682"/>
                  <a:pt x="69377" y="416256"/>
                </a:cubicBezTo>
                <a:cubicBezTo>
                  <a:pt x="39843" y="414398"/>
                  <a:pt x="435" y="389322"/>
                  <a:pt x="0" y="346879"/>
                </a:cubicBezTo>
                <a:cubicBezTo>
                  <a:pt x="-9035" y="217922"/>
                  <a:pt x="10705" y="145278"/>
                  <a:pt x="0" y="69377"/>
                </a:cubicBezTo>
                <a:close/>
              </a:path>
            </a:pathLst>
          </a:custGeom>
          <a:solidFill>
            <a:srgbClr val="18806E"/>
          </a:solidFill>
          <a:ln w="88900" cap="flat">
            <a:solidFill>
              <a:srgbClr val="18806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Главные черты решения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D4F45E-10A6-4F57-8CB4-97C51C974B79}"/>
              </a:ext>
            </a:extLst>
          </p:cNvPr>
          <p:cNvSpPr/>
          <p:nvPr/>
        </p:nvSpPr>
        <p:spPr>
          <a:xfrm>
            <a:off x="6197603" y="1903863"/>
            <a:ext cx="5157785" cy="416256"/>
          </a:xfrm>
          <a:custGeom>
            <a:avLst/>
            <a:gdLst>
              <a:gd name="connsiteX0" fmla="*/ 0 w 5157785"/>
              <a:gd name="connsiteY0" fmla="*/ 69377 h 416256"/>
              <a:gd name="connsiteX1" fmla="*/ 69377 w 5157785"/>
              <a:gd name="connsiteY1" fmla="*/ 0 h 416256"/>
              <a:gd name="connsiteX2" fmla="*/ 797136 w 5157785"/>
              <a:gd name="connsiteY2" fmla="*/ 0 h 416256"/>
              <a:gd name="connsiteX3" fmla="*/ 1424515 w 5157785"/>
              <a:gd name="connsiteY3" fmla="*/ 0 h 416256"/>
              <a:gd name="connsiteX4" fmla="*/ 1951514 w 5157785"/>
              <a:gd name="connsiteY4" fmla="*/ 0 h 416256"/>
              <a:gd name="connsiteX5" fmla="*/ 2629083 w 5157785"/>
              <a:gd name="connsiteY5" fmla="*/ 0 h 416256"/>
              <a:gd name="connsiteX6" fmla="*/ 3306652 w 5157785"/>
              <a:gd name="connsiteY6" fmla="*/ 0 h 416256"/>
              <a:gd name="connsiteX7" fmla="*/ 3934031 w 5157785"/>
              <a:gd name="connsiteY7" fmla="*/ 0 h 416256"/>
              <a:gd name="connsiteX8" fmla="*/ 5088408 w 5157785"/>
              <a:gd name="connsiteY8" fmla="*/ 0 h 416256"/>
              <a:gd name="connsiteX9" fmla="*/ 5157785 w 5157785"/>
              <a:gd name="connsiteY9" fmla="*/ 69377 h 416256"/>
              <a:gd name="connsiteX10" fmla="*/ 5157785 w 5157785"/>
              <a:gd name="connsiteY10" fmla="*/ 346879 h 416256"/>
              <a:gd name="connsiteX11" fmla="*/ 5088408 w 5157785"/>
              <a:gd name="connsiteY11" fmla="*/ 416256 h 416256"/>
              <a:gd name="connsiteX12" fmla="*/ 4511219 w 5157785"/>
              <a:gd name="connsiteY12" fmla="*/ 416256 h 416256"/>
              <a:gd name="connsiteX13" fmla="*/ 3984221 w 5157785"/>
              <a:gd name="connsiteY13" fmla="*/ 416256 h 416256"/>
              <a:gd name="connsiteX14" fmla="*/ 3457223 w 5157785"/>
              <a:gd name="connsiteY14" fmla="*/ 416256 h 416256"/>
              <a:gd name="connsiteX15" fmla="*/ 2880034 w 5157785"/>
              <a:gd name="connsiteY15" fmla="*/ 416256 h 416256"/>
              <a:gd name="connsiteX16" fmla="*/ 2302846 w 5157785"/>
              <a:gd name="connsiteY16" fmla="*/ 416256 h 416256"/>
              <a:gd name="connsiteX17" fmla="*/ 1675467 w 5157785"/>
              <a:gd name="connsiteY17" fmla="*/ 416256 h 416256"/>
              <a:gd name="connsiteX18" fmla="*/ 1048088 w 5157785"/>
              <a:gd name="connsiteY18" fmla="*/ 416256 h 416256"/>
              <a:gd name="connsiteX19" fmla="*/ 69377 w 5157785"/>
              <a:gd name="connsiteY19" fmla="*/ 416256 h 416256"/>
              <a:gd name="connsiteX20" fmla="*/ 0 w 5157785"/>
              <a:gd name="connsiteY20" fmla="*/ 346879 h 416256"/>
              <a:gd name="connsiteX21" fmla="*/ 0 w 5157785"/>
              <a:gd name="connsiteY21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57785" h="416256" fill="none" extrusionOk="0">
                <a:moveTo>
                  <a:pt x="0" y="69377"/>
                </a:moveTo>
                <a:cubicBezTo>
                  <a:pt x="3613" y="39181"/>
                  <a:pt x="33420" y="1998"/>
                  <a:pt x="69377" y="0"/>
                </a:cubicBezTo>
                <a:cubicBezTo>
                  <a:pt x="217383" y="-1751"/>
                  <a:pt x="494012" y="-11665"/>
                  <a:pt x="797136" y="0"/>
                </a:cubicBezTo>
                <a:cubicBezTo>
                  <a:pt x="1100260" y="11665"/>
                  <a:pt x="1227670" y="-10393"/>
                  <a:pt x="1424515" y="0"/>
                </a:cubicBezTo>
                <a:cubicBezTo>
                  <a:pt x="1621360" y="10393"/>
                  <a:pt x="1707029" y="-3525"/>
                  <a:pt x="1951514" y="0"/>
                </a:cubicBezTo>
                <a:cubicBezTo>
                  <a:pt x="2195999" y="3525"/>
                  <a:pt x="2387914" y="-31702"/>
                  <a:pt x="2629083" y="0"/>
                </a:cubicBezTo>
                <a:cubicBezTo>
                  <a:pt x="2870252" y="31702"/>
                  <a:pt x="2987303" y="5773"/>
                  <a:pt x="3306652" y="0"/>
                </a:cubicBezTo>
                <a:cubicBezTo>
                  <a:pt x="3626001" y="-5773"/>
                  <a:pt x="3798525" y="20536"/>
                  <a:pt x="3934031" y="0"/>
                </a:cubicBezTo>
                <a:cubicBezTo>
                  <a:pt x="4069537" y="-20536"/>
                  <a:pt x="4661552" y="50111"/>
                  <a:pt x="5088408" y="0"/>
                </a:cubicBezTo>
                <a:cubicBezTo>
                  <a:pt x="5124110" y="688"/>
                  <a:pt x="5149976" y="34336"/>
                  <a:pt x="5157785" y="69377"/>
                </a:cubicBezTo>
                <a:cubicBezTo>
                  <a:pt x="5159424" y="177643"/>
                  <a:pt x="5150117" y="219902"/>
                  <a:pt x="5157785" y="346879"/>
                </a:cubicBezTo>
                <a:cubicBezTo>
                  <a:pt x="5156914" y="382621"/>
                  <a:pt x="5128277" y="418611"/>
                  <a:pt x="5088408" y="416256"/>
                </a:cubicBezTo>
                <a:cubicBezTo>
                  <a:pt x="4950597" y="443500"/>
                  <a:pt x="4701510" y="419818"/>
                  <a:pt x="4511219" y="416256"/>
                </a:cubicBezTo>
                <a:cubicBezTo>
                  <a:pt x="4320928" y="412694"/>
                  <a:pt x="4177294" y="404380"/>
                  <a:pt x="3984221" y="416256"/>
                </a:cubicBezTo>
                <a:cubicBezTo>
                  <a:pt x="3791148" y="428132"/>
                  <a:pt x="3600127" y="423600"/>
                  <a:pt x="3457223" y="416256"/>
                </a:cubicBezTo>
                <a:cubicBezTo>
                  <a:pt x="3314319" y="408912"/>
                  <a:pt x="3011868" y="392388"/>
                  <a:pt x="2880034" y="416256"/>
                </a:cubicBezTo>
                <a:cubicBezTo>
                  <a:pt x="2748200" y="440124"/>
                  <a:pt x="2506669" y="411473"/>
                  <a:pt x="2302846" y="416256"/>
                </a:cubicBezTo>
                <a:cubicBezTo>
                  <a:pt x="2099023" y="421039"/>
                  <a:pt x="1883476" y="430970"/>
                  <a:pt x="1675467" y="416256"/>
                </a:cubicBezTo>
                <a:cubicBezTo>
                  <a:pt x="1467458" y="401542"/>
                  <a:pt x="1294799" y="429128"/>
                  <a:pt x="1048088" y="416256"/>
                </a:cubicBezTo>
                <a:cubicBezTo>
                  <a:pt x="801377" y="403384"/>
                  <a:pt x="317100" y="406883"/>
                  <a:pt x="69377" y="416256"/>
                </a:cubicBezTo>
                <a:cubicBezTo>
                  <a:pt x="34263" y="407274"/>
                  <a:pt x="-2728" y="384273"/>
                  <a:pt x="0" y="346879"/>
                </a:cubicBezTo>
                <a:cubicBezTo>
                  <a:pt x="3851" y="277969"/>
                  <a:pt x="8107" y="192816"/>
                  <a:pt x="0" y="69377"/>
                </a:cubicBezTo>
                <a:close/>
              </a:path>
              <a:path w="5157785" h="416256" stroke="0" extrusionOk="0">
                <a:moveTo>
                  <a:pt x="0" y="69377"/>
                </a:moveTo>
                <a:cubicBezTo>
                  <a:pt x="559" y="32732"/>
                  <a:pt x="35621" y="-5487"/>
                  <a:pt x="69377" y="0"/>
                </a:cubicBezTo>
                <a:cubicBezTo>
                  <a:pt x="326875" y="-35777"/>
                  <a:pt x="527889" y="-19769"/>
                  <a:pt x="797136" y="0"/>
                </a:cubicBezTo>
                <a:cubicBezTo>
                  <a:pt x="1066383" y="19769"/>
                  <a:pt x="1221449" y="-26158"/>
                  <a:pt x="1374325" y="0"/>
                </a:cubicBezTo>
                <a:cubicBezTo>
                  <a:pt x="1527201" y="26158"/>
                  <a:pt x="1784183" y="-7451"/>
                  <a:pt x="1901323" y="0"/>
                </a:cubicBezTo>
                <a:cubicBezTo>
                  <a:pt x="2018463" y="7451"/>
                  <a:pt x="2260633" y="7731"/>
                  <a:pt x="2428322" y="0"/>
                </a:cubicBezTo>
                <a:cubicBezTo>
                  <a:pt x="2596011" y="-7731"/>
                  <a:pt x="2813759" y="-17177"/>
                  <a:pt x="2955320" y="0"/>
                </a:cubicBezTo>
                <a:cubicBezTo>
                  <a:pt x="3096881" y="17177"/>
                  <a:pt x="3443092" y="-31759"/>
                  <a:pt x="3632889" y="0"/>
                </a:cubicBezTo>
                <a:cubicBezTo>
                  <a:pt x="3822686" y="31759"/>
                  <a:pt x="3942341" y="-6978"/>
                  <a:pt x="4159887" y="0"/>
                </a:cubicBezTo>
                <a:cubicBezTo>
                  <a:pt x="4377433" y="6978"/>
                  <a:pt x="4635355" y="-23062"/>
                  <a:pt x="5088408" y="0"/>
                </a:cubicBezTo>
                <a:cubicBezTo>
                  <a:pt x="5122869" y="-2478"/>
                  <a:pt x="5158975" y="25845"/>
                  <a:pt x="5157785" y="69377"/>
                </a:cubicBezTo>
                <a:cubicBezTo>
                  <a:pt x="5146045" y="189467"/>
                  <a:pt x="5170653" y="234787"/>
                  <a:pt x="5157785" y="346879"/>
                </a:cubicBezTo>
                <a:cubicBezTo>
                  <a:pt x="5161894" y="384235"/>
                  <a:pt x="5123925" y="411163"/>
                  <a:pt x="5088408" y="416256"/>
                </a:cubicBezTo>
                <a:cubicBezTo>
                  <a:pt x="4820339" y="447421"/>
                  <a:pt x="4623932" y="429386"/>
                  <a:pt x="4410839" y="416256"/>
                </a:cubicBezTo>
                <a:cubicBezTo>
                  <a:pt x="4197746" y="403126"/>
                  <a:pt x="3920642" y="392262"/>
                  <a:pt x="3783460" y="416256"/>
                </a:cubicBezTo>
                <a:cubicBezTo>
                  <a:pt x="3646278" y="440250"/>
                  <a:pt x="3406822" y="422533"/>
                  <a:pt x="3256462" y="416256"/>
                </a:cubicBezTo>
                <a:cubicBezTo>
                  <a:pt x="3106102" y="409979"/>
                  <a:pt x="2733855" y="435992"/>
                  <a:pt x="2578893" y="416256"/>
                </a:cubicBezTo>
                <a:cubicBezTo>
                  <a:pt x="2423931" y="396520"/>
                  <a:pt x="2254811" y="433891"/>
                  <a:pt x="2001704" y="416256"/>
                </a:cubicBezTo>
                <a:cubicBezTo>
                  <a:pt x="1748597" y="398621"/>
                  <a:pt x="1481355" y="404150"/>
                  <a:pt x="1324135" y="416256"/>
                </a:cubicBezTo>
                <a:cubicBezTo>
                  <a:pt x="1166915" y="428362"/>
                  <a:pt x="943022" y="403904"/>
                  <a:pt x="847327" y="416256"/>
                </a:cubicBezTo>
                <a:cubicBezTo>
                  <a:pt x="751632" y="428608"/>
                  <a:pt x="254434" y="384655"/>
                  <a:pt x="69377" y="416256"/>
                </a:cubicBezTo>
                <a:cubicBezTo>
                  <a:pt x="32840" y="414346"/>
                  <a:pt x="-1791" y="384662"/>
                  <a:pt x="0" y="346879"/>
                </a:cubicBezTo>
                <a:cubicBezTo>
                  <a:pt x="-13148" y="284846"/>
                  <a:pt x="-8192" y="155191"/>
                  <a:pt x="0" y="69377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A3830"/>
                </a:solidFill>
              </a:rPr>
              <a:t>Ключевые блоки</a:t>
            </a:r>
          </a:p>
        </p:txBody>
      </p:sp>
    </p:spTree>
    <p:extLst>
      <p:ext uri="{BB962C8B-B14F-4D97-AF65-F5344CB8AC3E}">
        <p14:creationId xmlns:p14="http://schemas.microsoft.com/office/powerpoint/2010/main" val="138385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B79A5-A02D-40BA-B544-D94DABA6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64" y="245660"/>
            <a:ext cx="10536072" cy="1473247"/>
          </a:xfrm>
          <a:custGeom>
            <a:avLst/>
            <a:gdLst>
              <a:gd name="connsiteX0" fmla="*/ 0 w 10536072"/>
              <a:gd name="connsiteY0" fmla="*/ 0 h 1473247"/>
              <a:gd name="connsiteX1" fmla="*/ 342422 w 10536072"/>
              <a:gd name="connsiteY1" fmla="*/ 0 h 1473247"/>
              <a:gd name="connsiteX2" fmla="*/ 1211648 w 10536072"/>
              <a:gd name="connsiteY2" fmla="*/ 0 h 1473247"/>
              <a:gd name="connsiteX3" fmla="*/ 1870153 w 10536072"/>
              <a:gd name="connsiteY3" fmla="*/ 0 h 1473247"/>
              <a:gd name="connsiteX4" fmla="*/ 2212575 w 10536072"/>
              <a:gd name="connsiteY4" fmla="*/ 0 h 1473247"/>
              <a:gd name="connsiteX5" fmla="*/ 2871080 w 10536072"/>
              <a:gd name="connsiteY5" fmla="*/ 0 h 1473247"/>
              <a:gd name="connsiteX6" fmla="*/ 3740306 w 10536072"/>
              <a:gd name="connsiteY6" fmla="*/ 0 h 1473247"/>
              <a:gd name="connsiteX7" fmla="*/ 4293449 w 10536072"/>
              <a:gd name="connsiteY7" fmla="*/ 0 h 1473247"/>
              <a:gd name="connsiteX8" fmla="*/ 4846593 w 10536072"/>
              <a:gd name="connsiteY8" fmla="*/ 0 h 1473247"/>
              <a:gd name="connsiteX9" fmla="*/ 5505098 w 10536072"/>
              <a:gd name="connsiteY9" fmla="*/ 0 h 1473247"/>
              <a:gd name="connsiteX10" fmla="*/ 6268963 w 10536072"/>
              <a:gd name="connsiteY10" fmla="*/ 0 h 1473247"/>
              <a:gd name="connsiteX11" fmla="*/ 7032828 w 10536072"/>
              <a:gd name="connsiteY11" fmla="*/ 0 h 1473247"/>
              <a:gd name="connsiteX12" fmla="*/ 7796693 w 10536072"/>
              <a:gd name="connsiteY12" fmla="*/ 0 h 1473247"/>
              <a:gd name="connsiteX13" fmla="*/ 8665919 w 10536072"/>
              <a:gd name="connsiteY13" fmla="*/ 0 h 1473247"/>
              <a:gd name="connsiteX14" fmla="*/ 9324424 w 10536072"/>
              <a:gd name="connsiteY14" fmla="*/ 0 h 1473247"/>
              <a:gd name="connsiteX15" fmla="*/ 10536072 w 10536072"/>
              <a:gd name="connsiteY15" fmla="*/ 0 h 1473247"/>
              <a:gd name="connsiteX16" fmla="*/ 10536072 w 10536072"/>
              <a:gd name="connsiteY16" fmla="*/ 491082 h 1473247"/>
              <a:gd name="connsiteX17" fmla="*/ 10536072 w 10536072"/>
              <a:gd name="connsiteY17" fmla="*/ 1011630 h 1473247"/>
              <a:gd name="connsiteX18" fmla="*/ 10536072 w 10536072"/>
              <a:gd name="connsiteY18" fmla="*/ 1473247 h 1473247"/>
              <a:gd name="connsiteX19" fmla="*/ 9666846 w 10536072"/>
              <a:gd name="connsiteY19" fmla="*/ 1473247 h 1473247"/>
              <a:gd name="connsiteX20" fmla="*/ 9113702 w 10536072"/>
              <a:gd name="connsiteY20" fmla="*/ 1473247 h 1473247"/>
              <a:gd name="connsiteX21" fmla="*/ 8560559 w 10536072"/>
              <a:gd name="connsiteY21" fmla="*/ 1473247 h 1473247"/>
              <a:gd name="connsiteX22" fmla="*/ 8007415 w 10536072"/>
              <a:gd name="connsiteY22" fmla="*/ 1473247 h 1473247"/>
              <a:gd name="connsiteX23" fmla="*/ 7243550 w 10536072"/>
              <a:gd name="connsiteY23" fmla="*/ 1473247 h 1473247"/>
              <a:gd name="connsiteX24" fmla="*/ 6585045 w 10536072"/>
              <a:gd name="connsiteY24" fmla="*/ 1473247 h 1473247"/>
              <a:gd name="connsiteX25" fmla="*/ 6242623 w 10536072"/>
              <a:gd name="connsiteY25" fmla="*/ 1473247 h 1473247"/>
              <a:gd name="connsiteX26" fmla="*/ 5689479 w 10536072"/>
              <a:gd name="connsiteY26" fmla="*/ 1473247 h 1473247"/>
              <a:gd name="connsiteX27" fmla="*/ 4925614 w 10536072"/>
              <a:gd name="connsiteY27" fmla="*/ 1473247 h 1473247"/>
              <a:gd name="connsiteX28" fmla="*/ 4477831 w 10536072"/>
              <a:gd name="connsiteY28" fmla="*/ 1473247 h 1473247"/>
              <a:gd name="connsiteX29" fmla="*/ 3608605 w 10536072"/>
              <a:gd name="connsiteY29" fmla="*/ 1473247 h 1473247"/>
              <a:gd name="connsiteX30" fmla="*/ 2739379 w 10536072"/>
              <a:gd name="connsiteY30" fmla="*/ 1473247 h 1473247"/>
              <a:gd name="connsiteX31" fmla="*/ 2080874 w 10536072"/>
              <a:gd name="connsiteY31" fmla="*/ 1473247 h 1473247"/>
              <a:gd name="connsiteX32" fmla="*/ 1211648 w 10536072"/>
              <a:gd name="connsiteY32" fmla="*/ 1473247 h 1473247"/>
              <a:gd name="connsiteX33" fmla="*/ 0 w 10536072"/>
              <a:gd name="connsiteY33" fmla="*/ 1473247 h 1473247"/>
              <a:gd name="connsiteX34" fmla="*/ 0 w 10536072"/>
              <a:gd name="connsiteY34" fmla="*/ 967432 h 1473247"/>
              <a:gd name="connsiteX35" fmla="*/ 0 w 10536072"/>
              <a:gd name="connsiteY35" fmla="*/ 505815 h 1473247"/>
              <a:gd name="connsiteX36" fmla="*/ 0 w 10536072"/>
              <a:gd name="connsiteY36" fmla="*/ 0 h 14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36072" h="1473247" fill="none" extrusionOk="0">
                <a:moveTo>
                  <a:pt x="0" y="0"/>
                </a:moveTo>
                <a:cubicBezTo>
                  <a:pt x="170638" y="-3227"/>
                  <a:pt x="242755" y="-8478"/>
                  <a:pt x="342422" y="0"/>
                </a:cubicBezTo>
                <a:cubicBezTo>
                  <a:pt x="442089" y="8478"/>
                  <a:pt x="788844" y="-32598"/>
                  <a:pt x="1211648" y="0"/>
                </a:cubicBezTo>
                <a:cubicBezTo>
                  <a:pt x="1634452" y="32598"/>
                  <a:pt x="1545805" y="16754"/>
                  <a:pt x="1870153" y="0"/>
                </a:cubicBezTo>
                <a:cubicBezTo>
                  <a:pt x="2194502" y="-16754"/>
                  <a:pt x="2137829" y="-2132"/>
                  <a:pt x="2212575" y="0"/>
                </a:cubicBezTo>
                <a:cubicBezTo>
                  <a:pt x="2287321" y="2132"/>
                  <a:pt x="2661122" y="14575"/>
                  <a:pt x="2871080" y="0"/>
                </a:cubicBezTo>
                <a:cubicBezTo>
                  <a:pt x="3081038" y="-14575"/>
                  <a:pt x="3324059" y="-26478"/>
                  <a:pt x="3740306" y="0"/>
                </a:cubicBezTo>
                <a:cubicBezTo>
                  <a:pt x="4156553" y="26478"/>
                  <a:pt x="4042059" y="-21422"/>
                  <a:pt x="4293449" y="0"/>
                </a:cubicBezTo>
                <a:cubicBezTo>
                  <a:pt x="4544839" y="21422"/>
                  <a:pt x="4675378" y="-14390"/>
                  <a:pt x="4846593" y="0"/>
                </a:cubicBezTo>
                <a:cubicBezTo>
                  <a:pt x="5017808" y="14390"/>
                  <a:pt x="5278534" y="-14693"/>
                  <a:pt x="5505098" y="0"/>
                </a:cubicBezTo>
                <a:cubicBezTo>
                  <a:pt x="5731663" y="14693"/>
                  <a:pt x="6110631" y="21813"/>
                  <a:pt x="6268963" y="0"/>
                </a:cubicBezTo>
                <a:cubicBezTo>
                  <a:pt x="6427295" y="-21813"/>
                  <a:pt x="6752560" y="-19507"/>
                  <a:pt x="7032828" y="0"/>
                </a:cubicBezTo>
                <a:cubicBezTo>
                  <a:pt x="7313097" y="19507"/>
                  <a:pt x="7555463" y="-7915"/>
                  <a:pt x="7796693" y="0"/>
                </a:cubicBezTo>
                <a:cubicBezTo>
                  <a:pt x="8037924" y="7915"/>
                  <a:pt x="8482692" y="-24697"/>
                  <a:pt x="8665919" y="0"/>
                </a:cubicBezTo>
                <a:cubicBezTo>
                  <a:pt x="8849146" y="24697"/>
                  <a:pt x="9115048" y="18415"/>
                  <a:pt x="9324424" y="0"/>
                </a:cubicBezTo>
                <a:cubicBezTo>
                  <a:pt x="9533800" y="-18415"/>
                  <a:pt x="10189238" y="-2880"/>
                  <a:pt x="10536072" y="0"/>
                </a:cubicBezTo>
                <a:cubicBezTo>
                  <a:pt x="10528582" y="103442"/>
                  <a:pt x="10544072" y="302800"/>
                  <a:pt x="10536072" y="491082"/>
                </a:cubicBezTo>
                <a:cubicBezTo>
                  <a:pt x="10528072" y="679364"/>
                  <a:pt x="10518789" y="845093"/>
                  <a:pt x="10536072" y="1011630"/>
                </a:cubicBezTo>
                <a:cubicBezTo>
                  <a:pt x="10553355" y="1178167"/>
                  <a:pt x="10557230" y="1322951"/>
                  <a:pt x="10536072" y="1473247"/>
                </a:cubicBezTo>
                <a:cubicBezTo>
                  <a:pt x="10209976" y="1489033"/>
                  <a:pt x="9878422" y="1504300"/>
                  <a:pt x="9666846" y="1473247"/>
                </a:cubicBezTo>
                <a:cubicBezTo>
                  <a:pt x="9455270" y="1442194"/>
                  <a:pt x="9317495" y="1469565"/>
                  <a:pt x="9113702" y="1473247"/>
                </a:cubicBezTo>
                <a:cubicBezTo>
                  <a:pt x="8909909" y="1476929"/>
                  <a:pt x="8768355" y="1464148"/>
                  <a:pt x="8560559" y="1473247"/>
                </a:cubicBezTo>
                <a:cubicBezTo>
                  <a:pt x="8352763" y="1482346"/>
                  <a:pt x="8221728" y="1498460"/>
                  <a:pt x="8007415" y="1473247"/>
                </a:cubicBezTo>
                <a:cubicBezTo>
                  <a:pt x="7793102" y="1448034"/>
                  <a:pt x="7543911" y="1438200"/>
                  <a:pt x="7243550" y="1473247"/>
                </a:cubicBezTo>
                <a:cubicBezTo>
                  <a:pt x="6943190" y="1508294"/>
                  <a:pt x="6899696" y="1502806"/>
                  <a:pt x="6585045" y="1473247"/>
                </a:cubicBezTo>
                <a:cubicBezTo>
                  <a:pt x="6270395" y="1443688"/>
                  <a:pt x="6408534" y="1465362"/>
                  <a:pt x="6242623" y="1473247"/>
                </a:cubicBezTo>
                <a:cubicBezTo>
                  <a:pt x="6076712" y="1481132"/>
                  <a:pt x="5927077" y="1471371"/>
                  <a:pt x="5689479" y="1473247"/>
                </a:cubicBezTo>
                <a:cubicBezTo>
                  <a:pt x="5451881" y="1475123"/>
                  <a:pt x="5292564" y="1490901"/>
                  <a:pt x="4925614" y="1473247"/>
                </a:cubicBezTo>
                <a:cubicBezTo>
                  <a:pt x="4558664" y="1455593"/>
                  <a:pt x="4588090" y="1494698"/>
                  <a:pt x="4477831" y="1473247"/>
                </a:cubicBezTo>
                <a:cubicBezTo>
                  <a:pt x="4367572" y="1451796"/>
                  <a:pt x="3983650" y="1497048"/>
                  <a:pt x="3608605" y="1473247"/>
                </a:cubicBezTo>
                <a:cubicBezTo>
                  <a:pt x="3233560" y="1449446"/>
                  <a:pt x="2937559" y="1501024"/>
                  <a:pt x="2739379" y="1473247"/>
                </a:cubicBezTo>
                <a:cubicBezTo>
                  <a:pt x="2541199" y="1445470"/>
                  <a:pt x="2251189" y="1477357"/>
                  <a:pt x="2080874" y="1473247"/>
                </a:cubicBezTo>
                <a:cubicBezTo>
                  <a:pt x="1910560" y="1469137"/>
                  <a:pt x="1591616" y="1432296"/>
                  <a:pt x="1211648" y="1473247"/>
                </a:cubicBezTo>
                <a:cubicBezTo>
                  <a:pt x="831680" y="1514198"/>
                  <a:pt x="399468" y="1479806"/>
                  <a:pt x="0" y="1473247"/>
                </a:cubicBezTo>
                <a:cubicBezTo>
                  <a:pt x="-21588" y="1358984"/>
                  <a:pt x="-21609" y="1160994"/>
                  <a:pt x="0" y="967432"/>
                </a:cubicBezTo>
                <a:cubicBezTo>
                  <a:pt x="21609" y="773871"/>
                  <a:pt x="3189" y="641017"/>
                  <a:pt x="0" y="505815"/>
                </a:cubicBezTo>
                <a:cubicBezTo>
                  <a:pt x="-3189" y="370613"/>
                  <a:pt x="8086" y="229632"/>
                  <a:pt x="0" y="0"/>
                </a:cubicBezTo>
                <a:close/>
              </a:path>
              <a:path w="10536072" h="1473247" stroke="0" extrusionOk="0">
                <a:moveTo>
                  <a:pt x="0" y="0"/>
                </a:moveTo>
                <a:cubicBezTo>
                  <a:pt x="124834" y="11046"/>
                  <a:pt x="334746" y="-27317"/>
                  <a:pt x="553144" y="0"/>
                </a:cubicBezTo>
                <a:cubicBezTo>
                  <a:pt x="771542" y="27317"/>
                  <a:pt x="801337" y="15140"/>
                  <a:pt x="895566" y="0"/>
                </a:cubicBezTo>
                <a:cubicBezTo>
                  <a:pt x="989795" y="-15140"/>
                  <a:pt x="1332723" y="-19029"/>
                  <a:pt x="1764792" y="0"/>
                </a:cubicBezTo>
                <a:cubicBezTo>
                  <a:pt x="2196861" y="19029"/>
                  <a:pt x="2141091" y="-13523"/>
                  <a:pt x="2317936" y="0"/>
                </a:cubicBezTo>
                <a:cubicBezTo>
                  <a:pt x="2494781" y="13523"/>
                  <a:pt x="2751421" y="21117"/>
                  <a:pt x="2871080" y="0"/>
                </a:cubicBezTo>
                <a:cubicBezTo>
                  <a:pt x="2990739" y="-21117"/>
                  <a:pt x="3425096" y="-41438"/>
                  <a:pt x="3740306" y="0"/>
                </a:cubicBezTo>
                <a:cubicBezTo>
                  <a:pt x="4055516" y="41438"/>
                  <a:pt x="4012862" y="9677"/>
                  <a:pt x="4188089" y="0"/>
                </a:cubicBezTo>
                <a:cubicBezTo>
                  <a:pt x="4363316" y="-9677"/>
                  <a:pt x="4702184" y="31897"/>
                  <a:pt x="5057315" y="0"/>
                </a:cubicBezTo>
                <a:cubicBezTo>
                  <a:pt x="5412446" y="-31897"/>
                  <a:pt x="5719646" y="30807"/>
                  <a:pt x="5926541" y="0"/>
                </a:cubicBezTo>
                <a:cubicBezTo>
                  <a:pt x="6133436" y="-30807"/>
                  <a:pt x="6381779" y="6989"/>
                  <a:pt x="6585045" y="0"/>
                </a:cubicBezTo>
                <a:cubicBezTo>
                  <a:pt x="6788311" y="-6989"/>
                  <a:pt x="7075550" y="21499"/>
                  <a:pt x="7454271" y="0"/>
                </a:cubicBezTo>
                <a:cubicBezTo>
                  <a:pt x="7832992" y="-21499"/>
                  <a:pt x="7814013" y="-439"/>
                  <a:pt x="8007415" y="0"/>
                </a:cubicBezTo>
                <a:cubicBezTo>
                  <a:pt x="8200817" y="439"/>
                  <a:pt x="8352463" y="-9370"/>
                  <a:pt x="8560559" y="0"/>
                </a:cubicBezTo>
                <a:cubicBezTo>
                  <a:pt x="8768655" y="9370"/>
                  <a:pt x="8985443" y="14713"/>
                  <a:pt x="9324424" y="0"/>
                </a:cubicBezTo>
                <a:cubicBezTo>
                  <a:pt x="9663405" y="-14713"/>
                  <a:pt x="9736203" y="6165"/>
                  <a:pt x="9877568" y="0"/>
                </a:cubicBezTo>
                <a:cubicBezTo>
                  <a:pt x="10018933" y="-6165"/>
                  <a:pt x="10230349" y="19429"/>
                  <a:pt x="10536072" y="0"/>
                </a:cubicBezTo>
                <a:cubicBezTo>
                  <a:pt x="10555212" y="192766"/>
                  <a:pt x="10521319" y="401317"/>
                  <a:pt x="10536072" y="520547"/>
                </a:cubicBezTo>
                <a:cubicBezTo>
                  <a:pt x="10550825" y="639777"/>
                  <a:pt x="10530484" y="924566"/>
                  <a:pt x="10536072" y="1026362"/>
                </a:cubicBezTo>
                <a:cubicBezTo>
                  <a:pt x="10541660" y="1128158"/>
                  <a:pt x="10552389" y="1261865"/>
                  <a:pt x="10536072" y="1473247"/>
                </a:cubicBezTo>
                <a:cubicBezTo>
                  <a:pt x="10396614" y="1489586"/>
                  <a:pt x="10354707" y="1468263"/>
                  <a:pt x="10193650" y="1473247"/>
                </a:cubicBezTo>
                <a:cubicBezTo>
                  <a:pt x="10032593" y="1478231"/>
                  <a:pt x="9526605" y="1449167"/>
                  <a:pt x="9324424" y="1473247"/>
                </a:cubicBezTo>
                <a:cubicBezTo>
                  <a:pt x="9122243" y="1497327"/>
                  <a:pt x="8898880" y="1456803"/>
                  <a:pt x="8665919" y="1473247"/>
                </a:cubicBezTo>
                <a:cubicBezTo>
                  <a:pt x="8432959" y="1489691"/>
                  <a:pt x="8360567" y="1469714"/>
                  <a:pt x="8218136" y="1473247"/>
                </a:cubicBezTo>
                <a:cubicBezTo>
                  <a:pt x="8075705" y="1476780"/>
                  <a:pt x="7703160" y="1464634"/>
                  <a:pt x="7559632" y="1473247"/>
                </a:cubicBezTo>
                <a:cubicBezTo>
                  <a:pt x="7416104" y="1481860"/>
                  <a:pt x="7300958" y="1477192"/>
                  <a:pt x="7217209" y="1473247"/>
                </a:cubicBezTo>
                <a:cubicBezTo>
                  <a:pt x="7133460" y="1469302"/>
                  <a:pt x="6971626" y="1465062"/>
                  <a:pt x="6874787" y="1473247"/>
                </a:cubicBezTo>
                <a:cubicBezTo>
                  <a:pt x="6777948" y="1481432"/>
                  <a:pt x="6456213" y="1448579"/>
                  <a:pt x="6216282" y="1473247"/>
                </a:cubicBezTo>
                <a:cubicBezTo>
                  <a:pt x="5976352" y="1497915"/>
                  <a:pt x="5957714" y="1465901"/>
                  <a:pt x="5768499" y="1473247"/>
                </a:cubicBezTo>
                <a:cubicBezTo>
                  <a:pt x="5579284" y="1480593"/>
                  <a:pt x="5185837" y="1475207"/>
                  <a:pt x="5004634" y="1473247"/>
                </a:cubicBezTo>
                <a:cubicBezTo>
                  <a:pt x="4823432" y="1471287"/>
                  <a:pt x="4694247" y="1465003"/>
                  <a:pt x="4556851" y="1473247"/>
                </a:cubicBezTo>
                <a:cubicBezTo>
                  <a:pt x="4419455" y="1481491"/>
                  <a:pt x="3961624" y="1437488"/>
                  <a:pt x="3792986" y="1473247"/>
                </a:cubicBezTo>
                <a:cubicBezTo>
                  <a:pt x="3624349" y="1509006"/>
                  <a:pt x="3606439" y="1461005"/>
                  <a:pt x="3450564" y="1473247"/>
                </a:cubicBezTo>
                <a:cubicBezTo>
                  <a:pt x="3294689" y="1485489"/>
                  <a:pt x="3047803" y="1443534"/>
                  <a:pt x="2686698" y="1473247"/>
                </a:cubicBezTo>
                <a:cubicBezTo>
                  <a:pt x="2325593" y="1502960"/>
                  <a:pt x="2378357" y="1479112"/>
                  <a:pt x="2238915" y="1473247"/>
                </a:cubicBezTo>
                <a:cubicBezTo>
                  <a:pt x="2099473" y="1467382"/>
                  <a:pt x="1994239" y="1462106"/>
                  <a:pt x="1896493" y="1473247"/>
                </a:cubicBezTo>
                <a:cubicBezTo>
                  <a:pt x="1798747" y="1484388"/>
                  <a:pt x="1605231" y="1466509"/>
                  <a:pt x="1448710" y="1473247"/>
                </a:cubicBezTo>
                <a:cubicBezTo>
                  <a:pt x="1292189" y="1479985"/>
                  <a:pt x="997653" y="1469935"/>
                  <a:pt x="684845" y="1473247"/>
                </a:cubicBezTo>
                <a:cubicBezTo>
                  <a:pt x="372037" y="1476559"/>
                  <a:pt x="149225" y="1486004"/>
                  <a:pt x="0" y="1473247"/>
                </a:cubicBezTo>
                <a:cubicBezTo>
                  <a:pt x="-14567" y="1349963"/>
                  <a:pt x="6317" y="1135463"/>
                  <a:pt x="0" y="1026362"/>
                </a:cubicBezTo>
                <a:cubicBezTo>
                  <a:pt x="-6317" y="917262"/>
                  <a:pt x="-7270" y="674490"/>
                  <a:pt x="0" y="579477"/>
                </a:cubicBezTo>
                <a:cubicBezTo>
                  <a:pt x="7270" y="484465"/>
                  <a:pt x="-2304" y="1950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Глубокое обучение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D38EF1-DEEE-4736-8687-CCE88BE8A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4611" cy="3684588"/>
          </a:xfrm>
          <a:solidFill>
            <a:srgbClr val="18806E"/>
          </a:solidFill>
        </p:spPr>
        <p:txBody>
          <a:bodyPr anchor="t" anchorCtr="0"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Автоматическое извлечение признаков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Высокая точность на сложных данных</a:t>
            </a:r>
          </a:p>
          <a:p>
            <a:r>
              <a:rPr lang="ru-RU" dirty="0">
                <a:solidFill>
                  <a:schemeClr val="bg1"/>
                </a:solidFill>
              </a:rPr>
              <a:t>Устойчивость к шуму и вариациям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Эффективность в условиях "</a:t>
            </a:r>
            <a:r>
              <a:rPr lang="ru-RU" dirty="0" err="1">
                <a:solidFill>
                  <a:schemeClr val="bg1"/>
                </a:solidFill>
              </a:rPr>
              <a:t>неразмеченности</a:t>
            </a:r>
            <a:r>
              <a:rPr lang="ru-RU" dirty="0">
                <a:solidFill>
                  <a:schemeClr val="bg1"/>
                </a:solidFill>
              </a:rPr>
              <a:t>" данных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Масштабируемость и универсальность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264DA7-DCED-466D-82BF-F9F043023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505075"/>
            <a:ext cx="5160961" cy="3684588"/>
          </a:xfrm>
          <a:solidFill>
            <a:schemeClr val="bg1"/>
          </a:solidFill>
        </p:spPr>
        <p:txBody>
          <a:bodyPr anchor="t">
            <a:normAutofit fontScale="92500" lnSpcReduction="20000"/>
          </a:bodyPr>
          <a:lstStyle/>
          <a:p>
            <a:r>
              <a:rPr lang="ru-RU" dirty="0">
                <a:solidFill>
                  <a:srgbClr val="0A3830"/>
                </a:solidFill>
              </a:rPr>
              <a:t>Требовательность к данным</a:t>
            </a:r>
          </a:p>
          <a:p>
            <a:r>
              <a:rPr lang="ru-RU" dirty="0">
                <a:solidFill>
                  <a:srgbClr val="0A3830"/>
                </a:solidFill>
              </a:rPr>
              <a:t>Вычислительная сложность</a:t>
            </a:r>
          </a:p>
          <a:p>
            <a:r>
              <a:rPr lang="ru-RU" dirty="0">
                <a:solidFill>
                  <a:srgbClr val="0A3830"/>
                </a:solidFill>
              </a:rPr>
              <a:t>Низкая интерпретируемость</a:t>
            </a:r>
          </a:p>
          <a:p>
            <a:r>
              <a:rPr lang="ru-RU" dirty="0">
                <a:solidFill>
                  <a:srgbClr val="0A3830"/>
                </a:solidFill>
              </a:rPr>
              <a:t>Сложность разработки</a:t>
            </a:r>
          </a:p>
          <a:p>
            <a:r>
              <a:rPr lang="ru-RU" dirty="0">
                <a:solidFill>
                  <a:srgbClr val="0A3830"/>
                </a:solidFill>
              </a:rPr>
              <a:t>Проблемы переобучения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C65BEA1-0AA2-45F8-9B86-2DA0BE42EF52}"/>
              </a:ext>
            </a:extLst>
          </p:cNvPr>
          <p:cNvSpPr/>
          <p:nvPr/>
        </p:nvSpPr>
        <p:spPr>
          <a:xfrm>
            <a:off x="836612" y="1903863"/>
            <a:ext cx="5157787" cy="416256"/>
          </a:xfrm>
          <a:custGeom>
            <a:avLst/>
            <a:gdLst>
              <a:gd name="connsiteX0" fmla="*/ 0 w 5157787"/>
              <a:gd name="connsiteY0" fmla="*/ 69377 h 416256"/>
              <a:gd name="connsiteX1" fmla="*/ 69377 w 5157787"/>
              <a:gd name="connsiteY1" fmla="*/ 0 h 416256"/>
              <a:gd name="connsiteX2" fmla="*/ 696756 w 5157787"/>
              <a:gd name="connsiteY2" fmla="*/ 0 h 416256"/>
              <a:gd name="connsiteX3" fmla="*/ 1223755 w 5157787"/>
              <a:gd name="connsiteY3" fmla="*/ 0 h 416256"/>
              <a:gd name="connsiteX4" fmla="*/ 1901324 w 5157787"/>
              <a:gd name="connsiteY4" fmla="*/ 0 h 416256"/>
              <a:gd name="connsiteX5" fmla="*/ 2428323 w 5157787"/>
              <a:gd name="connsiteY5" fmla="*/ 0 h 416256"/>
              <a:gd name="connsiteX6" fmla="*/ 3105892 w 5157787"/>
              <a:gd name="connsiteY6" fmla="*/ 0 h 416256"/>
              <a:gd name="connsiteX7" fmla="*/ 3582700 w 5157787"/>
              <a:gd name="connsiteY7" fmla="*/ 0 h 416256"/>
              <a:gd name="connsiteX8" fmla="*/ 4260270 w 5157787"/>
              <a:gd name="connsiteY8" fmla="*/ 0 h 416256"/>
              <a:gd name="connsiteX9" fmla="*/ 5088410 w 5157787"/>
              <a:gd name="connsiteY9" fmla="*/ 0 h 416256"/>
              <a:gd name="connsiteX10" fmla="*/ 5157787 w 5157787"/>
              <a:gd name="connsiteY10" fmla="*/ 69377 h 416256"/>
              <a:gd name="connsiteX11" fmla="*/ 5157787 w 5157787"/>
              <a:gd name="connsiteY11" fmla="*/ 346879 h 416256"/>
              <a:gd name="connsiteX12" fmla="*/ 5088410 w 5157787"/>
              <a:gd name="connsiteY12" fmla="*/ 416256 h 416256"/>
              <a:gd name="connsiteX13" fmla="*/ 4561412 w 5157787"/>
              <a:gd name="connsiteY13" fmla="*/ 416256 h 416256"/>
              <a:gd name="connsiteX14" fmla="*/ 3984223 w 5157787"/>
              <a:gd name="connsiteY14" fmla="*/ 416256 h 416256"/>
              <a:gd name="connsiteX15" fmla="*/ 3356844 w 5157787"/>
              <a:gd name="connsiteY15" fmla="*/ 416256 h 416256"/>
              <a:gd name="connsiteX16" fmla="*/ 2829845 w 5157787"/>
              <a:gd name="connsiteY16" fmla="*/ 416256 h 416256"/>
              <a:gd name="connsiteX17" fmla="*/ 2102085 w 5157787"/>
              <a:gd name="connsiteY17" fmla="*/ 416256 h 416256"/>
              <a:gd name="connsiteX18" fmla="*/ 1474706 w 5157787"/>
              <a:gd name="connsiteY18" fmla="*/ 416256 h 416256"/>
              <a:gd name="connsiteX19" fmla="*/ 746946 w 5157787"/>
              <a:gd name="connsiteY19" fmla="*/ 416256 h 416256"/>
              <a:gd name="connsiteX20" fmla="*/ 69377 w 5157787"/>
              <a:gd name="connsiteY20" fmla="*/ 416256 h 416256"/>
              <a:gd name="connsiteX21" fmla="*/ 0 w 5157787"/>
              <a:gd name="connsiteY21" fmla="*/ 346879 h 416256"/>
              <a:gd name="connsiteX22" fmla="*/ 0 w 5157787"/>
              <a:gd name="connsiteY22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157787" h="416256" fill="none" extrusionOk="0">
                <a:moveTo>
                  <a:pt x="0" y="69377"/>
                </a:moveTo>
                <a:cubicBezTo>
                  <a:pt x="-3836" y="30844"/>
                  <a:pt x="37561" y="5596"/>
                  <a:pt x="69377" y="0"/>
                </a:cubicBezTo>
                <a:cubicBezTo>
                  <a:pt x="244485" y="26515"/>
                  <a:pt x="518289" y="6645"/>
                  <a:pt x="696756" y="0"/>
                </a:cubicBezTo>
                <a:cubicBezTo>
                  <a:pt x="875223" y="-6645"/>
                  <a:pt x="1088959" y="12747"/>
                  <a:pt x="1223755" y="0"/>
                </a:cubicBezTo>
                <a:cubicBezTo>
                  <a:pt x="1358551" y="-12747"/>
                  <a:pt x="1675966" y="-13215"/>
                  <a:pt x="1901324" y="0"/>
                </a:cubicBezTo>
                <a:cubicBezTo>
                  <a:pt x="2126682" y="13215"/>
                  <a:pt x="2246010" y="-21447"/>
                  <a:pt x="2428323" y="0"/>
                </a:cubicBezTo>
                <a:cubicBezTo>
                  <a:pt x="2610636" y="21447"/>
                  <a:pt x="2865959" y="1520"/>
                  <a:pt x="3105892" y="0"/>
                </a:cubicBezTo>
                <a:cubicBezTo>
                  <a:pt x="3345825" y="-1520"/>
                  <a:pt x="3459638" y="-16712"/>
                  <a:pt x="3582700" y="0"/>
                </a:cubicBezTo>
                <a:cubicBezTo>
                  <a:pt x="3705762" y="16712"/>
                  <a:pt x="4072981" y="-26549"/>
                  <a:pt x="4260270" y="0"/>
                </a:cubicBezTo>
                <a:cubicBezTo>
                  <a:pt x="4447559" y="26549"/>
                  <a:pt x="4753266" y="-36189"/>
                  <a:pt x="5088410" y="0"/>
                </a:cubicBezTo>
                <a:cubicBezTo>
                  <a:pt x="5124354" y="1330"/>
                  <a:pt x="5158727" y="33608"/>
                  <a:pt x="5157787" y="69377"/>
                </a:cubicBezTo>
                <a:cubicBezTo>
                  <a:pt x="5144676" y="205520"/>
                  <a:pt x="5144245" y="245615"/>
                  <a:pt x="5157787" y="346879"/>
                </a:cubicBezTo>
                <a:cubicBezTo>
                  <a:pt x="5159756" y="384674"/>
                  <a:pt x="5126273" y="419396"/>
                  <a:pt x="5088410" y="416256"/>
                </a:cubicBezTo>
                <a:cubicBezTo>
                  <a:pt x="4851756" y="402826"/>
                  <a:pt x="4723952" y="426093"/>
                  <a:pt x="4561412" y="416256"/>
                </a:cubicBezTo>
                <a:cubicBezTo>
                  <a:pt x="4398872" y="406419"/>
                  <a:pt x="4166478" y="404396"/>
                  <a:pt x="3984223" y="416256"/>
                </a:cubicBezTo>
                <a:cubicBezTo>
                  <a:pt x="3801968" y="428116"/>
                  <a:pt x="3591489" y="437936"/>
                  <a:pt x="3356844" y="416256"/>
                </a:cubicBezTo>
                <a:cubicBezTo>
                  <a:pt x="3122199" y="394576"/>
                  <a:pt x="2965402" y="442392"/>
                  <a:pt x="2829845" y="416256"/>
                </a:cubicBezTo>
                <a:cubicBezTo>
                  <a:pt x="2694288" y="390120"/>
                  <a:pt x="2333123" y="431565"/>
                  <a:pt x="2102085" y="416256"/>
                </a:cubicBezTo>
                <a:cubicBezTo>
                  <a:pt x="1871047" y="400947"/>
                  <a:pt x="1678639" y="444521"/>
                  <a:pt x="1474706" y="416256"/>
                </a:cubicBezTo>
                <a:cubicBezTo>
                  <a:pt x="1270773" y="387991"/>
                  <a:pt x="1032812" y="433465"/>
                  <a:pt x="746946" y="416256"/>
                </a:cubicBezTo>
                <a:cubicBezTo>
                  <a:pt x="461080" y="399047"/>
                  <a:pt x="309598" y="415343"/>
                  <a:pt x="69377" y="416256"/>
                </a:cubicBezTo>
                <a:cubicBezTo>
                  <a:pt x="29127" y="423338"/>
                  <a:pt x="4556" y="377522"/>
                  <a:pt x="0" y="346879"/>
                </a:cubicBezTo>
                <a:cubicBezTo>
                  <a:pt x="-13129" y="226545"/>
                  <a:pt x="-1205" y="195211"/>
                  <a:pt x="0" y="69377"/>
                </a:cubicBezTo>
                <a:close/>
              </a:path>
              <a:path w="5157787" h="416256" stroke="0" extrusionOk="0">
                <a:moveTo>
                  <a:pt x="0" y="69377"/>
                </a:moveTo>
                <a:cubicBezTo>
                  <a:pt x="-5850" y="27453"/>
                  <a:pt x="22999" y="3026"/>
                  <a:pt x="69377" y="0"/>
                </a:cubicBezTo>
                <a:cubicBezTo>
                  <a:pt x="300728" y="-6877"/>
                  <a:pt x="539316" y="-20823"/>
                  <a:pt x="797137" y="0"/>
                </a:cubicBezTo>
                <a:cubicBezTo>
                  <a:pt x="1054958" y="20823"/>
                  <a:pt x="1116286" y="24824"/>
                  <a:pt x="1374326" y="0"/>
                </a:cubicBezTo>
                <a:cubicBezTo>
                  <a:pt x="1632366" y="-24824"/>
                  <a:pt x="1734911" y="17205"/>
                  <a:pt x="1901324" y="0"/>
                </a:cubicBezTo>
                <a:cubicBezTo>
                  <a:pt x="2067737" y="-17205"/>
                  <a:pt x="2400038" y="7301"/>
                  <a:pt x="2578894" y="0"/>
                </a:cubicBezTo>
                <a:cubicBezTo>
                  <a:pt x="2757750" y="-7301"/>
                  <a:pt x="3023675" y="15096"/>
                  <a:pt x="3156082" y="0"/>
                </a:cubicBezTo>
                <a:cubicBezTo>
                  <a:pt x="3288489" y="-15096"/>
                  <a:pt x="3586397" y="26779"/>
                  <a:pt x="3883842" y="0"/>
                </a:cubicBezTo>
                <a:cubicBezTo>
                  <a:pt x="4181287" y="-26779"/>
                  <a:pt x="4271908" y="-11336"/>
                  <a:pt x="4410841" y="0"/>
                </a:cubicBezTo>
                <a:cubicBezTo>
                  <a:pt x="4549774" y="11336"/>
                  <a:pt x="4817454" y="29002"/>
                  <a:pt x="5088410" y="0"/>
                </a:cubicBezTo>
                <a:cubicBezTo>
                  <a:pt x="5131837" y="1229"/>
                  <a:pt x="5155019" y="30613"/>
                  <a:pt x="5157787" y="69377"/>
                </a:cubicBezTo>
                <a:cubicBezTo>
                  <a:pt x="5155762" y="147845"/>
                  <a:pt x="5147936" y="275750"/>
                  <a:pt x="5157787" y="346879"/>
                </a:cubicBezTo>
                <a:cubicBezTo>
                  <a:pt x="5163289" y="379758"/>
                  <a:pt x="5131462" y="413202"/>
                  <a:pt x="5088410" y="416256"/>
                </a:cubicBezTo>
                <a:cubicBezTo>
                  <a:pt x="4828923" y="388627"/>
                  <a:pt x="4654891" y="424438"/>
                  <a:pt x="4461031" y="416256"/>
                </a:cubicBezTo>
                <a:cubicBezTo>
                  <a:pt x="4267171" y="408074"/>
                  <a:pt x="4185333" y="400476"/>
                  <a:pt x="3934032" y="416256"/>
                </a:cubicBezTo>
                <a:cubicBezTo>
                  <a:pt x="3682731" y="432036"/>
                  <a:pt x="3438337" y="412606"/>
                  <a:pt x="3306653" y="416256"/>
                </a:cubicBezTo>
                <a:cubicBezTo>
                  <a:pt x="3174969" y="419906"/>
                  <a:pt x="2840801" y="385090"/>
                  <a:pt x="2578894" y="416256"/>
                </a:cubicBezTo>
                <a:cubicBezTo>
                  <a:pt x="2316987" y="447422"/>
                  <a:pt x="2250177" y="435993"/>
                  <a:pt x="1951514" y="416256"/>
                </a:cubicBezTo>
                <a:cubicBezTo>
                  <a:pt x="1652851" y="396519"/>
                  <a:pt x="1655220" y="426707"/>
                  <a:pt x="1474706" y="416256"/>
                </a:cubicBezTo>
                <a:cubicBezTo>
                  <a:pt x="1294192" y="405805"/>
                  <a:pt x="1150076" y="392963"/>
                  <a:pt x="947708" y="416256"/>
                </a:cubicBezTo>
                <a:cubicBezTo>
                  <a:pt x="745340" y="439549"/>
                  <a:pt x="416323" y="426682"/>
                  <a:pt x="69377" y="416256"/>
                </a:cubicBezTo>
                <a:cubicBezTo>
                  <a:pt x="39843" y="414398"/>
                  <a:pt x="435" y="389322"/>
                  <a:pt x="0" y="346879"/>
                </a:cubicBezTo>
                <a:cubicBezTo>
                  <a:pt x="-9035" y="217922"/>
                  <a:pt x="10705" y="145278"/>
                  <a:pt x="0" y="69377"/>
                </a:cubicBezTo>
                <a:close/>
              </a:path>
            </a:pathLst>
          </a:custGeom>
          <a:solidFill>
            <a:srgbClr val="18806E"/>
          </a:solidFill>
          <a:ln w="88900" cap="flat">
            <a:solidFill>
              <a:srgbClr val="18806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Преимущества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D4F45E-10A6-4F57-8CB4-97C51C974B79}"/>
              </a:ext>
            </a:extLst>
          </p:cNvPr>
          <p:cNvSpPr/>
          <p:nvPr/>
        </p:nvSpPr>
        <p:spPr>
          <a:xfrm>
            <a:off x="6197603" y="1903863"/>
            <a:ext cx="5157785" cy="416256"/>
          </a:xfrm>
          <a:custGeom>
            <a:avLst/>
            <a:gdLst>
              <a:gd name="connsiteX0" fmla="*/ 0 w 5157785"/>
              <a:gd name="connsiteY0" fmla="*/ 69377 h 416256"/>
              <a:gd name="connsiteX1" fmla="*/ 69377 w 5157785"/>
              <a:gd name="connsiteY1" fmla="*/ 0 h 416256"/>
              <a:gd name="connsiteX2" fmla="*/ 797136 w 5157785"/>
              <a:gd name="connsiteY2" fmla="*/ 0 h 416256"/>
              <a:gd name="connsiteX3" fmla="*/ 1424515 w 5157785"/>
              <a:gd name="connsiteY3" fmla="*/ 0 h 416256"/>
              <a:gd name="connsiteX4" fmla="*/ 1951514 w 5157785"/>
              <a:gd name="connsiteY4" fmla="*/ 0 h 416256"/>
              <a:gd name="connsiteX5" fmla="*/ 2629083 w 5157785"/>
              <a:gd name="connsiteY5" fmla="*/ 0 h 416256"/>
              <a:gd name="connsiteX6" fmla="*/ 3306652 w 5157785"/>
              <a:gd name="connsiteY6" fmla="*/ 0 h 416256"/>
              <a:gd name="connsiteX7" fmla="*/ 3934031 w 5157785"/>
              <a:gd name="connsiteY7" fmla="*/ 0 h 416256"/>
              <a:gd name="connsiteX8" fmla="*/ 5088408 w 5157785"/>
              <a:gd name="connsiteY8" fmla="*/ 0 h 416256"/>
              <a:gd name="connsiteX9" fmla="*/ 5157785 w 5157785"/>
              <a:gd name="connsiteY9" fmla="*/ 69377 h 416256"/>
              <a:gd name="connsiteX10" fmla="*/ 5157785 w 5157785"/>
              <a:gd name="connsiteY10" fmla="*/ 346879 h 416256"/>
              <a:gd name="connsiteX11" fmla="*/ 5088408 w 5157785"/>
              <a:gd name="connsiteY11" fmla="*/ 416256 h 416256"/>
              <a:gd name="connsiteX12" fmla="*/ 4511219 w 5157785"/>
              <a:gd name="connsiteY12" fmla="*/ 416256 h 416256"/>
              <a:gd name="connsiteX13" fmla="*/ 3984221 w 5157785"/>
              <a:gd name="connsiteY13" fmla="*/ 416256 h 416256"/>
              <a:gd name="connsiteX14" fmla="*/ 3457223 w 5157785"/>
              <a:gd name="connsiteY14" fmla="*/ 416256 h 416256"/>
              <a:gd name="connsiteX15" fmla="*/ 2880034 w 5157785"/>
              <a:gd name="connsiteY15" fmla="*/ 416256 h 416256"/>
              <a:gd name="connsiteX16" fmla="*/ 2302846 w 5157785"/>
              <a:gd name="connsiteY16" fmla="*/ 416256 h 416256"/>
              <a:gd name="connsiteX17" fmla="*/ 1675467 w 5157785"/>
              <a:gd name="connsiteY17" fmla="*/ 416256 h 416256"/>
              <a:gd name="connsiteX18" fmla="*/ 1048088 w 5157785"/>
              <a:gd name="connsiteY18" fmla="*/ 416256 h 416256"/>
              <a:gd name="connsiteX19" fmla="*/ 69377 w 5157785"/>
              <a:gd name="connsiteY19" fmla="*/ 416256 h 416256"/>
              <a:gd name="connsiteX20" fmla="*/ 0 w 5157785"/>
              <a:gd name="connsiteY20" fmla="*/ 346879 h 416256"/>
              <a:gd name="connsiteX21" fmla="*/ 0 w 5157785"/>
              <a:gd name="connsiteY21" fmla="*/ 69377 h 41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57785" h="416256" fill="none" extrusionOk="0">
                <a:moveTo>
                  <a:pt x="0" y="69377"/>
                </a:moveTo>
                <a:cubicBezTo>
                  <a:pt x="3613" y="39181"/>
                  <a:pt x="33420" y="1998"/>
                  <a:pt x="69377" y="0"/>
                </a:cubicBezTo>
                <a:cubicBezTo>
                  <a:pt x="217383" y="-1751"/>
                  <a:pt x="494012" y="-11665"/>
                  <a:pt x="797136" y="0"/>
                </a:cubicBezTo>
                <a:cubicBezTo>
                  <a:pt x="1100260" y="11665"/>
                  <a:pt x="1227670" y="-10393"/>
                  <a:pt x="1424515" y="0"/>
                </a:cubicBezTo>
                <a:cubicBezTo>
                  <a:pt x="1621360" y="10393"/>
                  <a:pt x="1707029" y="-3525"/>
                  <a:pt x="1951514" y="0"/>
                </a:cubicBezTo>
                <a:cubicBezTo>
                  <a:pt x="2195999" y="3525"/>
                  <a:pt x="2387914" y="-31702"/>
                  <a:pt x="2629083" y="0"/>
                </a:cubicBezTo>
                <a:cubicBezTo>
                  <a:pt x="2870252" y="31702"/>
                  <a:pt x="2987303" y="5773"/>
                  <a:pt x="3306652" y="0"/>
                </a:cubicBezTo>
                <a:cubicBezTo>
                  <a:pt x="3626001" y="-5773"/>
                  <a:pt x="3798525" y="20536"/>
                  <a:pt x="3934031" y="0"/>
                </a:cubicBezTo>
                <a:cubicBezTo>
                  <a:pt x="4069537" y="-20536"/>
                  <a:pt x="4661552" y="50111"/>
                  <a:pt x="5088408" y="0"/>
                </a:cubicBezTo>
                <a:cubicBezTo>
                  <a:pt x="5124110" y="688"/>
                  <a:pt x="5149976" y="34336"/>
                  <a:pt x="5157785" y="69377"/>
                </a:cubicBezTo>
                <a:cubicBezTo>
                  <a:pt x="5159424" y="177643"/>
                  <a:pt x="5150117" y="219902"/>
                  <a:pt x="5157785" y="346879"/>
                </a:cubicBezTo>
                <a:cubicBezTo>
                  <a:pt x="5156914" y="382621"/>
                  <a:pt x="5128277" y="418611"/>
                  <a:pt x="5088408" y="416256"/>
                </a:cubicBezTo>
                <a:cubicBezTo>
                  <a:pt x="4950597" y="443500"/>
                  <a:pt x="4701510" y="419818"/>
                  <a:pt x="4511219" y="416256"/>
                </a:cubicBezTo>
                <a:cubicBezTo>
                  <a:pt x="4320928" y="412694"/>
                  <a:pt x="4177294" y="404380"/>
                  <a:pt x="3984221" y="416256"/>
                </a:cubicBezTo>
                <a:cubicBezTo>
                  <a:pt x="3791148" y="428132"/>
                  <a:pt x="3600127" y="423600"/>
                  <a:pt x="3457223" y="416256"/>
                </a:cubicBezTo>
                <a:cubicBezTo>
                  <a:pt x="3314319" y="408912"/>
                  <a:pt x="3011868" y="392388"/>
                  <a:pt x="2880034" y="416256"/>
                </a:cubicBezTo>
                <a:cubicBezTo>
                  <a:pt x="2748200" y="440124"/>
                  <a:pt x="2506669" y="411473"/>
                  <a:pt x="2302846" y="416256"/>
                </a:cubicBezTo>
                <a:cubicBezTo>
                  <a:pt x="2099023" y="421039"/>
                  <a:pt x="1883476" y="430970"/>
                  <a:pt x="1675467" y="416256"/>
                </a:cubicBezTo>
                <a:cubicBezTo>
                  <a:pt x="1467458" y="401542"/>
                  <a:pt x="1294799" y="429128"/>
                  <a:pt x="1048088" y="416256"/>
                </a:cubicBezTo>
                <a:cubicBezTo>
                  <a:pt x="801377" y="403384"/>
                  <a:pt x="317100" y="406883"/>
                  <a:pt x="69377" y="416256"/>
                </a:cubicBezTo>
                <a:cubicBezTo>
                  <a:pt x="34263" y="407274"/>
                  <a:pt x="-2728" y="384273"/>
                  <a:pt x="0" y="346879"/>
                </a:cubicBezTo>
                <a:cubicBezTo>
                  <a:pt x="3851" y="277969"/>
                  <a:pt x="8107" y="192816"/>
                  <a:pt x="0" y="69377"/>
                </a:cubicBezTo>
                <a:close/>
              </a:path>
              <a:path w="5157785" h="416256" stroke="0" extrusionOk="0">
                <a:moveTo>
                  <a:pt x="0" y="69377"/>
                </a:moveTo>
                <a:cubicBezTo>
                  <a:pt x="559" y="32732"/>
                  <a:pt x="35621" y="-5487"/>
                  <a:pt x="69377" y="0"/>
                </a:cubicBezTo>
                <a:cubicBezTo>
                  <a:pt x="326875" y="-35777"/>
                  <a:pt x="527889" y="-19769"/>
                  <a:pt x="797136" y="0"/>
                </a:cubicBezTo>
                <a:cubicBezTo>
                  <a:pt x="1066383" y="19769"/>
                  <a:pt x="1221449" y="-26158"/>
                  <a:pt x="1374325" y="0"/>
                </a:cubicBezTo>
                <a:cubicBezTo>
                  <a:pt x="1527201" y="26158"/>
                  <a:pt x="1784183" y="-7451"/>
                  <a:pt x="1901323" y="0"/>
                </a:cubicBezTo>
                <a:cubicBezTo>
                  <a:pt x="2018463" y="7451"/>
                  <a:pt x="2260633" y="7731"/>
                  <a:pt x="2428322" y="0"/>
                </a:cubicBezTo>
                <a:cubicBezTo>
                  <a:pt x="2596011" y="-7731"/>
                  <a:pt x="2813759" y="-17177"/>
                  <a:pt x="2955320" y="0"/>
                </a:cubicBezTo>
                <a:cubicBezTo>
                  <a:pt x="3096881" y="17177"/>
                  <a:pt x="3443092" y="-31759"/>
                  <a:pt x="3632889" y="0"/>
                </a:cubicBezTo>
                <a:cubicBezTo>
                  <a:pt x="3822686" y="31759"/>
                  <a:pt x="3942341" y="-6978"/>
                  <a:pt x="4159887" y="0"/>
                </a:cubicBezTo>
                <a:cubicBezTo>
                  <a:pt x="4377433" y="6978"/>
                  <a:pt x="4635355" y="-23062"/>
                  <a:pt x="5088408" y="0"/>
                </a:cubicBezTo>
                <a:cubicBezTo>
                  <a:pt x="5122869" y="-2478"/>
                  <a:pt x="5158975" y="25845"/>
                  <a:pt x="5157785" y="69377"/>
                </a:cubicBezTo>
                <a:cubicBezTo>
                  <a:pt x="5146045" y="189467"/>
                  <a:pt x="5170653" y="234787"/>
                  <a:pt x="5157785" y="346879"/>
                </a:cubicBezTo>
                <a:cubicBezTo>
                  <a:pt x="5161894" y="384235"/>
                  <a:pt x="5123925" y="411163"/>
                  <a:pt x="5088408" y="416256"/>
                </a:cubicBezTo>
                <a:cubicBezTo>
                  <a:pt x="4820339" y="447421"/>
                  <a:pt x="4623932" y="429386"/>
                  <a:pt x="4410839" y="416256"/>
                </a:cubicBezTo>
                <a:cubicBezTo>
                  <a:pt x="4197746" y="403126"/>
                  <a:pt x="3920642" y="392262"/>
                  <a:pt x="3783460" y="416256"/>
                </a:cubicBezTo>
                <a:cubicBezTo>
                  <a:pt x="3646278" y="440250"/>
                  <a:pt x="3406822" y="422533"/>
                  <a:pt x="3256462" y="416256"/>
                </a:cubicBezTo>
                <a:cubicBezTo>
                  <a:pt x="3106102" y="409979"/>
                  <a:pt x="2733855" y="435992"/>
                  <a:pt x="2578893" y="416256"/>
                </a:cubicBezTo>
                <a:cubicBezTo>
                  <a:pt x="2423931" y="396520"/>
                  <a:pt x="2254811" y="433891"/>
                  <a:pt x="2001704" y="416256"/>
                </a:cubicBezTo>
                <a:cubicBezTo>
                  <a:pt x="1748597" y="398621"/>
                  <a:pt x="1481355" y="404150"/>
                  <a:pt x="1324135" y="416256"/>
                </a:cubicBezTo>
                <a:cubicBezTo>
                  <a:pt x="1166915" y="428362"/>
                  <a:pt x="943022" y="403904"/>
                  <a:pt x="847327" y="416256"/>
                </a:cubicBezTo>
                <a:cubicBezTo>
                  <a:pt x="751632" y="428608"/>
                  <a:pt x="254434" y="384655"/>
                  <a:pt x="69377" y="416256"/>
                </a:cubicBezTo>
                <a:cubicBezTo>
                  <a:pt x="32840" y="414346"/>
                  <a:pt x="-1791" y="384662"/>
                  <a:pt x="0" y="346879"/>
                </a:cubicBezTo>
                <a:cubicBezTo>
                  <a:pt x="-13148" y="284846"/>
                  <a:pt x="-8192" y="155191"/>
                  <a:pt x="0" y="69377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A3830"/>
                </a:solidFill>
              </a:rPr>
              <a:t>Недостатки</a:t>
            </a:r>
          </a:p>
        </p:txBody>
      </p:sp>
    </p:spTree>
    <p:extLst>
      <p:ext uri="{BB962C8B-B14F-4D97-AF65-F5344CB8AC3E}">
        <p14:creationId xmlns:p14="http://schemas.microsoft.com/office/powerpoint/2010/main" val="258874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E6BA-377A-432C-B7A2-457D5854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25" y="540000"/>
            <a:ext cx="6154277" cy="1260000"/>
          </a:xfrm>
          <a:custGeom>
            <a:avLst/>
            <a:gdLst>
              <a:gd name="connsiteX0" fmla="*/ 0 w 6154277"/>
              <a:gd name="connsiteY0" fmla="*/ 0 h 1260000"/>
              <a:gd name="connsiteX1" fmla="*/ 806894 w 6154277"/>
              <a:gd name="connsiteY1" fmla="*/ 0 h 1260000"/>
              <a:gd name="connsiteX2" fmla="*/ 1552245 w 6154277"/>
              <a:gd name="connsiteY2" fmla="*/ 0 h 1260000"/>
              <a:gd name="connsiteX3" fmla="*/ 2236054 w 6154277"/>
              <a:gd name="connsiteY3" fmla="*/ 0 h 1260000"/>
              <a:gd name="connsiteX4" fmla="*/ 2919863 w 6154277"/>
              <a:gd name="connsiteY4" fmla="*/ 0 h 1260000"/>
              <a:gd name="connsiteX5" fmla="*/ 3726757 w 6154277"/>
              <a:gd name="connsiteY5" fmla="*/ 0 h 1260000"/>
              <a:gd name="connsiteX6" fmla="*/ 4472108 w 6154277"/>
              <a:gd name="connsiteY6" fmla="*/ 0 h 1260000"/>
              <a:gd name="connsiteX7" fmla="*/ 4971288 w 6154277"/>
              <a:gd name="connsiteY7" fmla="*/ 0 h 1260000"/>
              <a:gd name="connsiteX8" fmla="*/ 6154277 w 6154277"/>
              <a:gd name="connsiteY8" fmla="*/ 0 h 1260000"/>
              <a:gd name="connsiteX9" fmla="*/ 6154277 w 6154277"/>
              <a:gd name="connsiteY9" fmla="*/ 655200 h 1260000"/>
              <a:gd name="connsiteX10" fmla="*/ 6154277 w 6154277"/>
              <a:gd name="connsiteY10" fmla="*/ 1260000 h 1260000"/>
              <a:gd name="connsiteX11" fmla="*/ 5593554 w 6154277"/>
              <a:gd name="connsiteY11" fmla="*/ 1260000 h 1260000"/>
              <a:gd name="connsiteX12" fmla="*/ 4786660 w 6154277"/>
              <a:gd name="connsiteY12" fmla="*/ 1260000 h 1260000"/>
              <a:gd name="connsiteX13" fmla="*/ 4164394 w 6154277"/>
              <a:gd name="connsiteY13" fmla="*/ 1260000 h 1260000"/>
              <a:gd name="connsiteX14" fmla="*/ 3357500 w 6154277"/>
              <a:gd name="connsiteY14" fmla="*/ 1260000 h 1260000"/>
              <a:gd name="connsiteX15" fmla="*/ 2796777 w 6154277"/>
              <a:gd name="connsiteY15" fmla="*/ 1260000 h 1260000"/>
              <a:gd name="connsiteX16" fmla="*/ 2297597 w 6154277"/>
              <a:gd name="connsiteY16" fmla="*/ 1260000 h 1260000"/>
              <a:gd name="connsiteX17" fmla="*/ 1798417 w 6154277"/>
              <a:gd name="connsiteY17" fmla="*/ 1260000 h 1260000"/>
              <a:gd name="connsiteX18" fmla="*/ 1053065 w 6154277"/>
              <a:gd name="connsiteY18" fmla="*/ 1260000 h 1260000"/>
              <a:gd name="connsiteX19" fmla="*/ 0 w 6154277"/>
              <a:gd name="connsiteY19" fmla="*/ 1260000 h 1260000"/>
              <a:gd name="connsiteX20" fmla="*/ 0 w 6154277"/>
              <a:gd name="connsiteY20" fmla="*/ 630000 h 1260000"/>
              <a:gd name="connsiteX21" fmla="*/ 0 w 6154277"/>
              <a:gd name="connsiteY21" fmla="*/ 0 h 1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54277" h="1260000" fill="none" extrusionOk="0">
                <a:moveTo>
                  <a:pt x="0" y="0"/>
                </a:moveTo>
                <a:cubicBezTo>
                  <a:pt x="375400" y="23272"/>
                  <a:pt x="486416" y="6341"/>
                  <a:pt x="806894" y="0"/>
                </a:cubicBezTo>
                <a:cubicBezTo>
                  <a:pt x="1127372" y="-6341"/>
                  <a:pt x="1184245" y="3118"/>
                  <a:pt x="1552245" y="0"/>
                </a:cubicBezTo>
                <a:cubicBezTo>
                  <a:pt x="1920245" y="-3118"/>
                  <a:pt x="1901238" y="8734"/>
                  <a:pt x="2236054" y="0"/>
                </a:cubicBezTo>
                <a:cubicBezTo>
                  <a:pt x="2570870" y="-8734"/>
                  <a:pt x="2618441" y="15459"/>
                  <a:pt x="2919863" y="0"/>
                </a:cubicBezTo>
                <a:cubicBezTo>
                  <a:pt x="3221285" y="-15459"/>
                  <a:pt x="3537654" y="-20891"/>
                  <a:pt x="3726757" y="0"/>
                </a:cubicBezTo>
                <a:cubicBezTo>
                  <a:pt x="3915860" y="20891"/>
                  <a:pt x="4237810" y="27583"/>
                  <a:pt x="4472108" y="0"/>
                </a:cubicBezTo>
                <a:cubicBezTo>
                  <a:pt x="4706406" y="-27583"/>
                  <a:pt x="4862931" y="7514"/>
                  <a:pt x="4971288" y="0"/>
                </a:cubicBezTo>
                <a:cubicBezTo>
                  <a:pt x="5079645" y="-7514"/>
                  <a:pt x="5888660" y="702"/>
                  <a:pt x="6154277" y="0"/>
                </a:cubicBezTo>
                <a:cubicBezTo>
                  <a:pt x="6179855" y="260571"/>
                  <a:pt x="6171739" y="518794"/>
                  <a:pt x="6154277" y="655200"/>
                </a:cubicBezTo>
                <a:cubicBezTo>
                  <a:pt x="6136815" y="791606"/>
                  <a:pt x="6144568" y="1099874"/>
                  <a:pt x="6154277" y="1260000"/>
                </a:cubicBezTo>
                <a:cubicBezTo>
                  <a:pt x="5922129" y="1249107"/>
                  <a:pt x="5770738" y="1283829"/>
                  <a:pt x="5593554" y="1260000"/>
                </a:cubicBezTo>
                <a:cubicBezTo>
                  <a:pt x="5416370" y="1236171"/>
                  <a:pt x="5033640" y="1251420"/>
                  <a:pt x="4786660" y="1260000"/>
                </a:cubicBezTo>
                <a:cubicBezTo>
                  <a:pt x="4539680" y="1268580"/>
                  <a:pt x="4436121" y="1273854"/>
                  <a:pt x="4164394" y="1260000"/>
                </a:cubicBezTo>
                <a:cubicBezTo>
                  <a:pt x="3892667" y="1246146"/>
                  <a:pt x="3553968" y="1239222"/>
                  <a:pt x="3357500" y="1260000"/>
                </a:cubicBezTo>
                <a:cubicBezTo>
                  <a:pt x="3161032" y="1280778"/>
                  <a:pt x="3036805" y="1268882"/>
                  <a:pt x="2796777" y="1260000"/>
                </a:cubicBezTo>
                <a:cubicBezTo>
                  <a:pt x="2556749" y="1251118"/>
                  <a:pt x="2486878" y="1257790"/>
                  <a:pt x="2297597" y="1260000"/>
                </a:cubicBezTo>
                <a:cubicBezTo>
                  <a:pt x="2108316" y="1262210"/>
                  <a:pt x="2042885" y="1266787"/>
                  <a:pt x="1798417" y="1260000"/>
                </a:cubicBezTo>
                <a:cubicBezTo>
                  <a:pt x="1553949" y="1253213"/>
                  <a:pt x="1340554" y="1261192"/>
                  <a:pt x="1053065" y="1260000"/>
                </a:cubicBezTo>
                <a:cubicBezTo>
                  <a:pt x="765576" y="1258808"/>
                  <a:pt x="473274" y="1261195"/>
                  <a:pt x="0" y="1260000"/>
                </a:cubicBezTo>
                <a:cubicBezTo>
                  <a:pt x="16739" y="1113017"/>
                  <a:pt x="8079" y="846198"/>
                  <a:pt x="0" y="630000"/>
                </a:cubicBezTo>
                <a:cubicBezTo>
                  <a:pt x="-8079" y="413802"/>
                  <a:pt x="-13039" y="181113"/>
                  <a:pt x="0" y="0"/>
                </a:cubicBezTo>
                <a:close/>
              </a:path>
              <a:path w="6154277" h="1260000" stroke="0" extrusionOk="0">
                <a:moveTo>
                  <a:pt x="0" y="0"/>
                </a:moveTo>
                <a:cubicBezTo>
                  <a:pt x="285312" y="22925"/>
                  <a:pt x="321290" y="-3003"/>
                  <a:pt x="622266" y="0"/>
                </a:cubicBezTo>
                <a:cubicBezTo>
                  <a:pt x="923242" y="3003"/>
                  <a:pt x="872029" y="13802"/>
                  <a:pt x="1121446" y="0"/>
                </a:cubicBezTo>
                <a:cubicBezTo>
                  <a:pt x="1370863" y="-13802"/>
                  <a:pt x="1636741" y="-5739"/>
                  <a:pt x="1928340" y="0"/>
                </a:cubicBezTo>
                <a:cubicBezTo>
                  <a:pt x="2219939" y="5739"/>
                  <a:pt x="2347122" y="17951"/>
                  <a:pt x="2550606" y="0"/>
                </a:cubicBezTo>
                <a:cubicBezTo>
                  <a:pt x="2754090" y="-17951"/>
                  <a:pt x="2908602" y="17212"/>
                  <a:pt x="3172872" y="0"/>
                </a:cubicBezTo>
                <a:cubicBezTo>
                  <a:pt x="3437142" y="-17212"/>
                  <a:pt x="3635959" y="22725"/>
                  <a:pt x="3979766" y="0"/>
                </a:cubicBezTo>
                <a:cubicBezTo>
                  <a:pt x="4323573" y="-22725"/>
                  <a:pt x="4347987" y="-22981"/>
                  <a:pt x="4540489" y="0"/>
                </a:cubicBezTo>
                <a:cubicBezTo>
                  <a:pt x="4732991" y="22981"/>
                  <a:pt x="5173311" y="40073"/>
                  <a:pt x="5347383" y="0"/>
                </a:cubicBezTo>
                <a:cubicBezTo>
                  <a:pt x="5521455" y="-40073"/>
                  <a:pt x="5892342" y="3920"/>
                  <a:pt x="6154277" y="0"/>
                </a:cubicBezTo>
                <a:cubicBezTo>
                  <a:pt x="6135436" y="263038"/>
                  <a:pt x="6138974" y="409513"/>
                  <a:pt x="6154277" y="630000"/>
                </a:cubicBezTo>
                <a:cubicBezTo>
                  <a:pt x="6169580" y="850487"/>
                  <a:pt x="6182246" y="1063182"/>
                  <a:pt x="6154277" y="1260000"/>
                </a:cubicBezTo>
                <a:cubicBezTo>
                  <a:pt x="5849941" y="1273486"/>
                  <a:pt x="5718124" y="1233023"/>
                  <a:pt x="5408926" y="1260000"/>
                </a:cubicBezTo>
                <a:cubicBezTo>
                  <a:pt x="5099728" y="1286977"/>
                  <a:pt x="4970641" y="1262521"/>
                  <a:pt x="4602032" y="1260000"/>
                </a:cubicBezTo>
                <a:cubicBezTo>
                  <a:pt x="4233423" y="1257479"/>
                  <a:pt x="4040249" y="1270281"/>
                  <a:pt x="3795137" y="1260000"/>
                </a:cubicBezTo>
                <a:cubicBezTo>
                  <a:pt x="3550026" y="1249719"/>
                  <a:pt x="3397829" y="1259964"/>
                  <a:pt x="3234414" y="1260000"/>
                </a:cubicBezTo>
                <a:cubicBezTo>
                  <a:pt x="3070999" y="1260036"/>
                  <a:pt x="2782154" y="1278136"/>
                  <a:pt x="2550606" y="1260000"/>
                </a:cubicBezTo>
                <a:cubicBezTo>
                  <a:pt x="2319058" y="1241864"/>
                  <a:pt x="2046837" y="1224664"/>
                  <a:pt x="1743712" y="1260000"/>
                </a:cubicBezTo>
                <a:cubicBezTo>
                  <a:pt x="1440587" y="1295336"/>
                  <a:pt x="1227534" y="1279689"/>
                  <a:pt x="1059903" y="1260000"/>
                </a:cubicBezTo>
                <a:cubicBezTo>
                  <a:pt x="892272" y="1240311"/>
                  <a:pt x="346304" y="1231113"/>
                  <a:pt x="0" y="1260000"/>
                </a:cubicBezTo>
                <a:cubicBezTo>
                  <a:pt x="-21137" y="1057051"/>
                  <a:pt x="-7874" y="884694"/>
                  <a:pt x="0" y="655200"/>
                </a:cubicBezTo>
                <a:cubicBezTo>
                  <a:pt x="7874" y="425706"/>
                  <a:pt x="1712" y="32561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0"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0A3830"/>
                </a:solidFill>
              </a:rPr>
              <a:t>Флагманы отрасли в области промышленного машинного зрения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7D1E2-B1FA-44B2-99C1-604E8FD5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23" y="2011677"/>
            <a:ext cx="6154279" cy="4306322"/>
          </a:xfrm>
          <a:solidFill>
            <a:srgbClr val="18806E"/>
          </a:solidFill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sz="3600" dirty="0">
                <a:solidFill>
                  <a:schemeClr val="bg1"/>
                </a:solidFill>
              </a:rPr>
              <a:t>Промышленное машинное зрение:</a:t>
            </a:r>
            <a:endParaRPr lang="en-US" sz="3600" dirty="0">
              <a:solidFill>
                <a:schemeClr val="bg1"/>
              </a:solidFill>
            </a:endParaRPr>
          </a:p>
          <a:p>
            <a:pPr algn="just"/>
            <a:r>
              <a:rPr lang="en-US" sz="3600" dirty="0">
                <a:solidFill>
                  <a:schemeClr val="bg1"/>
                </a:solidFill>
              </a:rPr>
              <a:t>Cognex</a:t>
            </a:r>
          </a:p>
          <a:p>
            <a:pPr algn="just"/>
            <a:r>
              <a:rPr lang="en-US" sz="3600" dirty="0">
                <a:solidFill>
                  <a:schemeClr val="bg1"/>
                </a:solidFill>
              </a:rPr>
              <a:t>Basler AG</a:t>
            </a:r>
          </a:p>
          <a:p>
            <a:pPr algn="just"/>
            <a:r>
              <a:rPr lang="en-US" sz="3600" dirty="0" err="1">
                <a:solidFill>
                  <a:schemeClr val="bg1"/>
                </a:solidFill>
              </a:rPr>
              <a:t>Megvii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CA888F-D5C0-45D1-A70C-9C9B6C98A7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" r="154"/>
          <a:stretch/>
        </p:blipFill>
        <p:spPr>
          <a:xfrm>
            <a:off x="7686675" y="483703"/>
            <a:ext cx="3106408" cy="1744981"/>
          </a:xfrm>
          <a:prstGeom prst="rect">
            <a:avLst/>
          </a:prstGeom>
        </p:spPr>
      </p:pic>
      <p:pic>
        <p:nvPicPr>
          <p:cNvPr id="8" name="Picture 12" descr="Megvii">
            <a:extLst>
              <a:ext uri="{FF2B5EF4-FFF2-40B4-BE49-F238E27FC236}">
                <a16:creationId xmlns:a16="http://schemas.microsoft.com/office/drawing/2014/main" id="{AE035D6A-2D4A-4D51-8770-4D2209E22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" r="-1"/>
          <a:stretch/>
        </p:blipFill>
        <p:spPr bwMode="auto">
          <a:xfrm>
            <a:off x="7686675" y="4551276"/>
            <a:ext cx="3106408" cy="189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Megvii - Wikipedia">
            <a:extLst>
              <a:ext uri="{FF2B5EF4-FFF2-40B4-BE49-F238E27FC236}">
                <a16:creationId xmlns:a16="http://schemas.microsoft.com/office/drawing/2014/main" id="{82583349-3290-4892-819F-2AD56590A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675" y="6103403"/>
            <a:ext cx="1024684" cy="34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5F2118-C8A6-497C-81B7-E622AECC4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2015550"/>
            <a:ext cx="813785" cy="2131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FA84F9-344E-4820-B1D4-1C32178CBF8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b="1600"/>
          <a:stretch/>
        </p:blipFill>
        <p:spPr>
          <a:xfrm>
            <a:off x="7977511" y="2405396"/>
            <a:ext cx="2524736" cy="187049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8" descr="Basler - Edge AI and Vision Alliance">
            <a:extLst>
              <a:ext uri="{FF2B5EF4-FFF2-40B4-BE49-F238E27FC236}">
                <a16:creationId xmlns:a16="http://schemas.microsoft.com/office/drawing/2014/main" id="{C82B778D-C3CF-4E9A-BB72-1C60A7E69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675" y="3868998"/>
            <a:ext cx="813785" cy="40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04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E6BA-377A-432C-B7A2-457D5854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25" y="540000"/>
            <a:ext cx="6154277" cy="1260000"/>
          </a:xfrm>
          <a:custGeom>
            <a:avLst/>
            <a:gdLst>
              <a:gd name="connsiteX0" fmla="*/ 0 w 6154277"/>
              <a:gd name="connsiteY0" fmla="*/ 0 h 1260000"/>
              <a:gd name="connsiteX1" fmla="*/ 806894 w 6154277"/>
              <a:gd name="connsiteY1" fmla="*/ 0 h 1260000"/>
              <a:gd name="connsiteX2" fmla="*/ 1552245 w 6154277"/>
              <a:gd name="connsiteY2" fmla="*/ 0 h 1260000"/>
              <a:gd name="connsiteX3" fmla="*/ 2236054 w 6154277"/>
              <a:gd name="connsiteY3" fmla="*/ 0 h 1260000"/>
              <a:gd name="connsiteX4" fmla="*/ 2919863 w 6154277"/>
              <a:gd name="connsiteY4" fmla="*/ 0 h 1260000"/>
              <a:gd name="connsiteX5" fmla="*/ 3726757 w 6154277"/>
              <a:gd name="connsiteY5" fmla="*/ 0 h 1260000"/>
              <a:gd name="connsiteX6" fmla="*/ 4472108 w 6154277"/>
              <a:gd name="connsiteY6" fmla="*/ 0 h 1260000"/>
              <a:gd name="connsiteX7" fmla="*/ 4971288 w 6154277"/>
              <a:gd name="connsiteY7" fmla="*/ 0 h 1260000"/>
              <a:gd name="connsiteX8" fmla="*/ 6154277 w 6154277"/>
              <a:gd name="connsiteY8" fmla="*/ 0 h 1260000"/>
              <a:gd name="connsiteX9" fmla="*/ 6154277 w 6154277"/>
              <a:gd name="connsiteY9" fmla="*/ 655200 h 1260000"/>
              <a:gd name="connsiteX10" fmla="*/ 6154277 w 6154277"/>
              <a:gd name="connsiteY10" fmla="*/ 1260000 h 1260000"/>
              <a:gd name="connsiteX11" fmla="*/ 5593554 w 6154277"/>
              <a:gd name="connsiteY11" fmla="*/ 1260000 h 1260000"/>
              <a:gd name="connsiteX12" fmla="*/ 4786660 w 6154277"/>
              <a:gd name="connsiteY12" fmla="*/ 1260000 h 1260000"/>
              <a:gd name="connsiteX13" fmla="*/ 4164394 w 6154277"/>
              <a:gd name="connsiteY13" fmla="*/ 1260000 h 1260000"/>
              <a:gd name="connsiteX14" fmla="*/ 3357500 w 6154277"/>
              <a:gd name="connsiteY14" fmla="*/ 1260000 h 1260000"/>
              <a:gd name="connsiteX15" fmla="*/ 2796777 w 6154277"/>
              <a:gd name="connsiteY15" fmla="*/ 1260000 h 1260000"/>
              <a:gd name="connsiteX16" fmla="*/ 2297597 w 6154277"/>
              <a:gd name="connsiteY16" fmla="*/ 1260000 h 1260000"/>
              <a:gd name="connsiteX17" fmla="*/ 1798417 w 6154277"/>
              <a:gd name="connsiteY17" fmla="*/ 1260000 h 1260000"/>
              <a:gd name="connsiteX18" fmla="*/ 1053065 w 6154277"/>
              <a:gd name="connsiteY18" fmla="*/ 1260000 h 1260000"/>
              <a:gd name="connsiteX19" fmla="*/ 0 w 6154277"/>
              <a:gd name="connsiteY19" fmla="*/ 1260000 h 1260000"/>
              <a:gd name="connsiteX20" fmla="*/ 0 w 6154277"/>
              <a:gd name="connsiteY20" fmla="*/ 630000 h 1260000"/>
              <a:gd name="connsiteX21" fmla="*/ 0 w 6154277"/>
              <a:gd name="connsiteY21" fmla="*/ 0 h 1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54277" h="1260000" fill="none" extrusionOk="0">
                <a:moveTo>
                  <a:pt x="0" y="0"/>
                </a:moveTo>
                <a:cubicBezTo>
                  <a:pt x="375400" y="23272"/>
                  <a:pt x="486416" y="6341"/>
                  <a:pt x="806894" y="0"/>
                </a:cubicBezTo>
                <a:cubicBezTo>
                  <a:pt x="1127372" y="-6341"/>
                  <a:pt x="1184245" y="3118"/>
                  <a:pt x="1552245" y="0"/>
                </a:cubicBezTo>
                <a:cubicBezTo>
                  <a:pt x="1920245" y="-3118"/>
                  <a:pt x="1901238" y="8734"/>
                  <a:pt x="2236054" y="0"/>
                </a:cubicBezTo>
                <a:cubicBezTo>
                  <a:pt x="2570870" y="-8734"/>
                  <a:pt x="2618441" y="15459"/>
                  <a:pt x="2919863" y="0"/>
                </a:cubicBezTo>
                <a:cubicBezTo>
                  <a:pt x="3221285" y="-15459"/>
                  <a:pt x="3537654" y="-20891"/>
                  <a:pt x="3726757" y="0"/>
                </a:cubicBezTo>
                <a:cubicBezTo>
                  <a:pt x="3915860" y="20891"/>
                  <a:pt x="4237810" y="27583"/>
                  <a:pt x="4472108" y="0"/>
                </a:cubicBezTo>
                <a:cubicBezTo>
                  <a:pt x="4706406" y="-27583"/>
                  <a:pt x="4862931" y="7514"/>
                  <a:pt x="4971288" y="0"/>
                </a:cubicBezTo>
                <a:cubicBezTo>
                  <a:pt x="5079645" y="-7514"/>
                  <a:pt x="5888660" y="702"/>
                  <a:pt x="6154277" y="0"/>
                </a:cubicBezTo>
                <a:cubicBezTo>
                  <a:pt x="6179855" y="260571"/>
                  <a:pt x="6171739" y="518794"/>
                  <a:pt x="6154277" y="655200"/>
                </a:cubicBezTo>
                <a:cubicBezTo>
                  <a:pt x="6136815" y="791606"/>
                  <a:pt x="6144568" y="1099874"/>
                  <a:pt x="6154277" y="1260000"/>
                </a:cubicBezTo>
                <a:cubicBezTo>
                  <a:pt x="5922129" y="1249107"/>
                  <a:pt x="5770738" y="1283829"/>
                  <a:pt x="5593554" y="1260000"/>
                </a:cubicBezTo>
                <a:cubicBezTo>
                  <a:pt x="5416370" y="1236171"/>
                  <a:pt x="5033640" y="1251420"/>
                  <a:pt x="4786660" y="1260000"/>
                </a:cubicBezTo>
                <a:cubicBezTo>
                  <a:pt x="4539680" y="1268580"/>
                  <a:pt x="4436121" y="1273854"/>
                  <a:pt x="4164394" y="1260000"/>
                </a:cubicBezTo>
                <a:cubicBezTo>
                  <a:pt x="3892667" y="1246146"/>
                  <a:pt x="3553968" y="1239222"/>
                  <a:pt x="3357500" y="1260000"/>
                </a:cubicBezTo>
                <a:cubicBezTo>
                  <a:pt x="3161032" y="1280778"/>
                  <a:pt x="3036805" y="1268882"/>
                  <a:pt x="2796777" y="1260000"/>
                </a:cubicBezTo>
                <a:cubicBezTo>
                  <a:pt x="2556749" y="1251118"/>
                  <a:pt x="2486878" y="1257790"/>
                  <a:pt x="2297597" y="1260000"/>
                </a:cubicBezTo>
                <a:cubicBezTo>
                  <a:pt x="2108316" y="1262210"/>
                  <a:pt x="2042885" y="1266787"/>
                  <a:pt x="1798417" y="1260000"/>
                </a:cubicBezTo>
                <a:cubicBezTo>
                  <a:pt x="1553949" y="1253213"/>
                  <a:pt x="1340554" y="1261192"/>
                  <a:pt x="1053065" y="1260000"/>
                </a:cubicBezTo>
                <a:cubicBezTo>
                  <a:pt x="765576" y="1258808"/>
                  <a:pt x="473274" y="1261195"/>
                  <a:pt x="0" y="1260000"/>
                </a:cubicBezTo>
                <a:cubicBezTo>
                  <a:pt x="16739" y="1113017"/>
                  <a:pt x="8079" y="846198"/>
                  <a:pt x="0" y="630000"/>
                </a:cubicBezTo>
                <a:cubicBezTo>
                  <a:pt x="-8079" y="413802"/>
                  <a:pt x="-13039" y="181113"/>
                  <a:pt x="0" y="0"/>
                </a:cubicBezTo>
                <a:close/>
              </a:path>
              <a:path w="6154277" h="1260000" stroke="0" extrusionOk="0">
                <a:moveTo>
                  <a:pt x="0" y="0"/>
                </a:moveTo>
                <a:cubicBezTo>
                  <a:pt x="285312" y="22925"/>
                  <a:pt x="321290" y="-3003"/>
                  <a:pt x="622266" y="0"/>
                </a:cubicBezTo>
                <a:cubicBezTo>
                  <a:pt x="923242" y="3003"/>
                  <a:pt x="872029" y="13802"/>
                  <a:pt x="1121446" y="0"/>
                </a:cubicBezTo>
                <a:cubicBezTo>
                  <a:pt x="1370863" y="-13802"/>
                  <a:pt x="1636741" y="-5739"/>
                  <a:pt x="1928340" y="0"/>
                </a:cubicBezTo>
                <a:cubicBezTo>
                  <a:pt x="2219939" y="5739"/>
                  <a:pt x="2347122" y="17951"/>
                  <a:pt x="2550606" y="0"/>
                </a:cubicBezTo>
                <a:cubicBezTo>
                  <a:pt x="2754090" y="-17951"/>
                  <a:pt x="2908602" y="17212"/>
                  <a:pt x="3172872" y="0"/>
                </a:cubicBezTo>
                <a:cubicBezTo>
                  <a:pt x="3437142" y="-17212"/>
                  <a:pt x="3635959" y="22725"/>
                  <a:pt x="3979766" y="0"/>
                </a:cubicBezTo>
                <a:cubicBezTo>
                  <a:pt x="4323573" y="-22725"/>
                  <a:pt x="4347987" y="-22981"/>
                  <a:pt x="4540489" y="0"/>
                </a:cubicBezTo>
                <a:cubicBezTo>
                  <a:pt x="4732991" y="22981"/>
                  <a:pt x="5173311" y="40073"/>
                  <a:pt x="5347383" y="0"/>
                </a:cubicBezTo>
                <a:cubicBezTo>
                  <a:pt x="5521455" y="-40073"/>
                  <a:pt x="5892342" y="3920"/>
                  <a:pt x="6154277" y="0"/>
                </a:cubicBezTo>
                <a:cubicBezTo>
                  <a:pt x="6135436" y="263038"/>
                  <a:pt x="6138974" y="409513"/>
                  <a:pt x="6154277" y="630000"/>
                </a:cubicBezTo>
                <a:cubicBezTo>
                  <a:pt x="6169580" y="850487"/>
                  <a:pt x="6182246" y="1063182"/>
                  <a:pt x="6154277" y="1260000"/>
                </a:cubicBezTo>
                <a:cubicBezTo>
                  <a:pt x="5849941" y="1273486"/>
                  <a:pt x="5718124" y="1233023"/>
                  <a:pt x="5408926" y="1260000"/>
                </a:cubicBezTo>
                <a:cubicBezTo>
                  <a:pt x="5099728" y="1286977"/>
                  <a:pt x="4970641" y="1262521"/>
                  <a:pt x="4602032" y="1260000"/>
                </a:cubicBezTo>
                <a:cubicBezTo>
                  <a:pt x="4233423" y="1257479"/>
                  <a:pt x="4040249" y="1270281"/>
                  <a:pt x="3795137" y="1260000"/>
                </a:cubicBezTo>
                <a:cubicBezTo>
                  <a:pt x="3550026" y="1249719"/>
                  <a:pt x="3397829" y="1259964"/>
                  <a:pt x="3234414" y="1260000"/>
                </a:cubicBezTo>
                <a:cubicBezTo>
                  <a:pt x="3070999" y="1260036"/>
                  <a:pt x="2782154" y="1278136"/>
                  <a:pt x="2550606" y="1260000"/>
                </a:cubicBezTo>
                <a:cubicBezTo>
                  <a:pt x="2319058" y="1241864"/>
                  <a:pt x="2046837" y="1224664"/>
                  <a:pt x="1743712" y="1260000"/>
                </a:cubicBezTo>
                <a:cubicBezTo>
                  <a:pt x="1440587" y="1295336"/>
                  <a:pt x="1227534" y="1279689"/>
                  <a:pt x="1059903" y="1260000"/>
                </a:cubicBezTo>
                <a:cubicBezTo>
                  <a:pt x="892272" y="1240311"/>
                  <a:pt x="346304" y="1231113"/>
                  <a:pt x="0" y="1260000"/>
                </a:cubicBezTo>
                <a:cubicBezTo>
                  <a:pt x="-21137" y="1057051"/>
                  <a:pt x="-7874" y="884694"/>
                  <a:pt x="0" y="655200"/>
                </a:cubicBezTo>
                <a:cubicBezTo>
                  <a:pt x="7874" y="425706"/>
                  <a:pt x="1712" y="32561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0">
            <a:normAutofit/>
          </a:bodyPr>
          <a:lstStyle/>
          <a:p>
            <a:pPr algn="ctr"/>
            <a:r>
              <a:rPr lang="ru-RU" sz="4000" b="1" dirty="0">
                <a:solidFill>
                  <a:srgbClr val="0A3830"/>
                </a:solidFill>
              </a:rPr>
              <a:t>Облако, </a:t>
            </a:r>
            <a:r>
              <a:rPr lang="en-US" sz="4000" b="1" dirty="0">
                <a:solidFill>
                  <a:srgbClr val="0A3830"/>
                </a:solidFill>
              </a:rPr>
              <a:t>API </a:t>
            </a:r>
            <a:r>
              <a:rPr lang="ru-RU" sz="4000" b="1" dirty="0">
                <a:solidFill>
                  <a:srgbClr val="0A3830"/>
                </a:solidFill>
              </a:rPr>
              <a:t>и платформы (</a:t>
            </a:r>
            <a:r>
              <a:rPr lang="en-US" sz="4000" b="1" dirty="0">
                <a:solidFill>
                  <a:srgbClr val="0A3830"/>
                </a:solidFill>
              </a:rPr>
              <a:t>vision as a service):</a:t>
            </a:r>
            <a:endParaRPr lang="ru-RU" sz="4000" b="1" dirty="0">
              <a:solidFill>
                <a:srgbClr val="0A383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7D1E2-B1FA-44B2-99C1-604E8FD5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23" y="2011677"/>
            <a:ext cx="6154279" cy="4306322"/>
          </a:xfrm>
          <a:solidFill>
            <a:srgbClr val="18806E"/>
          </a:solidFill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1"/>
                </a:solidFill>
              </a:rPr>
              <a:t>Microsoft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(Azure Computer Vision, Cognitive Services)</a:t>
            </a:r>
            <a:endParaRPr lang="ru-RU" sz="3600" dirty="0">
              <a:solidFill>
                <a:schemeClr val="bg1"/>
              </a:solidFill>
            </a:endParaRPr>
          </a:p>
          <a:p>
            <a:pPr algn="just"/>
            <a:r>
              <a:rPr lang="en-US" sz="3600" dirty="0">
                <a:solidFill>
                  <a:schemeClr val="bg1"/>
                </a:solidFill>
              </a:rPr>
              <a:t>Google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(Cloud Vision, Vertex AI</a:t>
            </a:r>
            <a:r>
              <a:rPr lang="ru-RU" sz="36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en-US" sz="3600" dirty="0">
                <a:solidFill>
                  <a:schemeClr val="bg1"/>
                </a:solidFill>
              </a:rPr>
              <a:t>Amazon (AWS </a:t>
            </a:r>
            <a:r>
              <a:rPr lang="en-US" sz="3600" dirty="0" err="1">
                <a:solidFill>
                  <a:schemeClr val="bg1"/>
                </a:solidFill>
              </a:rPr>
              <a:t>Rekognition</a:t>
            </a:r>
            <a:r>
              <a:rPr lang="en-US" sz="36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6" name="Picture 22" descr="Nomad Uses Native Support for AWS Rekognition Segment Detection">
            <a:extLst>
              <a:ext uri="{FF2B5EF4-FFF2-40B4-BE49-F238E27FC236}">
                <a16:creationId xmlns:a16="http://schemas.microsoft.com/office/drawing/2014/main" id="{28731628-B44F-4AB0-9A61-C1B17959A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2" b="14261"/>
          <a:stretch/>
        </p:blipFill>
        <p:spPr bwMode="auto">
          <a:xfrm>
            <a:off x="7611655" y="787336"/>
            <a:ext cx="3620866" cy="151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4" descr="Google: Vision API - Spiralking">
            <a:extLst>
              <a:ext uri="{FF2B5EF4-FFF2-40B4-BE49-F238E27FC236}">
                <a16:creationId xmlns:a16="http://schemas.microsoft.com/office/drawing/2014/main" id="{74869AD0-3673-49EE-997D-C8B881D5A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1" b="14826"/>
          <a:stretch/>
        </p:blipFill>
        <p:spPr bwMode="auto">
          <a:xfrm>
            <a:off x="7611655" y="2556488"/>
            <a:ext cx="3608018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0" descr="Working with Azure Computer Vision APIs to read from Image Invoice/bills">
            <a:extLst>
              <a:ext uri="{FF2B5EF4-FFF2-40B4-BE49-F238E27FC236}">
                <a16:creationId xmlns:a16="http://schemas.microsoft.com/office/drawing/2014/main" id="{B00A2E13-516A-41B0-B50C-DBB9D219B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11655" y="4441574"/>
            <a:ext cx="3608018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7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640393-B6B5-4ACF-957C-A7D4D0FCD7A5}"/>
              </a:ext>
            </a:extLst>
          </p:cNvPr>
          <p:cNvSpPr/>
          <p:nvPr/>
        </p:nvSpPr>
        <p:spPr>
          <a:xfrm>
            <a:off x="904164" y="2012192"/>
            <a:ext cx="5062296" cy="4845808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800" b="1" dirty="0">
                <a:solidFill>
                  <a:schemeClr val="bg1"/>
                </a:solidFill>
              </a:rPr>
              <a:t>Книги и учебники: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Математические ресурсы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Ресурсы о компьютерном зрении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О генеративном искусственном интеллекте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Прикладная литература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Общая литература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ECB85B2-A519-4792-9C3D-C35B20D5E6D7}"/>
              </a:ext>
            </a:extLst>
          </p:cNvPr>
          <p:cNvSpPr txBox="1">
            <a:spLocks/>
          </p:cNvSpPr>
          <p:nvPr/>
        </p:nvSpPr>
        <p:spPr>
          <a:xfrm>
            <a:off x="904164" y="245660"/>
            <a:ext cx="10536072" cy="1473247"/>
          </a:xfrm>
          <a:custGeom>
            <a:avLst/>
            <a:gdLst>
              <a:gd name="connsiteX0" fmla="*/ 0 w 10536072"/>
              <a:gd name="connsiteY0" fmla="*/ 0 h 1473247"/>
              <a:gd name="connsiteX1" fmla="*/ 342422 w 10536072"/>
              <a:gd name="connsiteY1" fmla="*/ 0 h 1473247"/>
              <a:gd name="connsiteX2" fmla="*/ 1211648 w 10536072"/>
              <a:gd name="connsiteY2" fmla="*/ 0 h 1473247"/>
              <a:gd name="connsiteX3" fmla="*/ 1870153 w 10536072"/>
              <a:gd name="connsiteY3" fmla="*/ 0 h 1473247"/>
              <a:gd name="connsiteX4" fmla="*/ 2212575 w 10536072"/>
              <a:gd name="connsiteY4" fmla="*/ 0 h 1473247"/>
              <a:gd name="connsiteX5" fmla="*/ 2871080 w 10536072"/>
              <a:gd name="connsiteY5" fmla="*/ 0 h 1473247"/>
              <a:gd name="connsiteX6" fmla="*/ 3740306 w 10536072"/>
              <a:gd name="connsiteY6" fmla="*/ 0 h 1473247"/>
              <a:gd name="connsiteX7" fmla="*/ 4293449 w 10536072"/>
              <a:gd name="connsiteY7" fmla="*/ 0 h 1473247"/>
              <a:gd name="connsiteX8" fmla="*/ 4846593 w 10536072"/>
              <a:gd name="connsiteY8" fmla="*/ 0 h 1473247"/>
              <a:gd name="connsiteX9" fmla="*/ 5505098 w 10536072"/>
              <a:gd name="connsiteY9" fmla="*/ 0 h 1473247"/>
              <a:gd name="connsiteX10" fmla="*/ 6268963 w 10536072"/>
              <a:gd name="connsiteY10" fmla="*/ 0 h 1473247"/>
              <a:gd name="connsiteX11" fmla="*/ 7032828 w 10536072"/>
              <a:gd name="connsiteY11" fmla="*/ 0 h 1473247"/>
              <a:gd name="connsiteX12" fmla="*/ 7796693 w 10536072"/>
              <a:gd name="connsiteY12" fmla="*/ 0 h 1473247"/>
              <a:gd name="connsiteX13" fmla="*/ 8665919 w 10536072"/>
              <a:gd name="connsiteY13" fmla="*/ 0 h 1473247"/>
              <a:gd name="connsiteX14" fmla="*/ 9324424 w 10536072"/>
              <a:gd name="connsiteY14" fmla="*/ 0 h 1473247"/>
              <a:gd name="connsiteX15" fmla="*/ 10536072 w 10536072"/>
              <a:gd name="connsiteY15" fmla="*/ 0 h 1473247"/>
              <a:gd name="connsiteX16" fmla="*/ 10536072 w 10536072"/>
              <a:gd name="connsiteY16" fmla="*/ 491082 h 1473247"/>
              <a:gd name="connsiteX17" fmla="*/ 10536072 w 10536072"/>
              <a:gd name="connsiteY17" fmla="*/ 1011630 h 1473247"/>
              <a:gd name="connsiteX18" fmla="*/ 10536072 w 10536072"/>
              <a:gd name="connsiteY18" fmla="*/ 1473247 h 1473247"/>
              <a:gd name="connsiteX19" fmla="*/ 9666846 w 10536072"/>
              <a:gd name="connsiteY19" fmla="*/ 1473247 h 1473247"/>
              <a:gd name="connsiteX20" fmla="*/ 9113702 w 10536072"/>
              <a:gd name="connsiteY20" fmla="*/ 1473247 h 1473247"/>
              <a:gd name="connsiteX21" fmla="*/ 8560559 w 10536072"/>
              <a:gd name="connsiteY21" fmla="*/ 1473247 h 1473247"/>
              <a:gd name="connsiteX22" fmla="*/ 8007415 w 10536072"/>
              <a:gd name="connsiteY22" fmla="*/ 1473247 h 1473247"/>
              <a:gd name="connsiteX23" fmla="*/ 7243550 w 10536072"/>
              <a:gd name="connsiteY23" fmla="*/ 1473247 h 1473247"/>
              <a:gd name="connsiteX24" fmla="*/ 6585045 w 10536072"/>
              <a:gd name="connsiteY24" fmla="*/ 1473247 h 1473247"/>
              <a:gd name="connsiteX25" fmla="*/ 6242623 w 10536072"/>
              <a:gd name="connsiteY25" fmla="*/ 1473247 h 1473247"/>
              <a:gd name="connsiteX26" fmla="*/ 5689479 w 10536072"/>
              <a:gd name="connsiteY26" fmla="*/ 1473247 h 1473247"/>
              <a:gd name="connsiteX27" fmla="*/ 4925614 w 10536072"/>
              <a:gd name="connsiteY27" fmla="*/ 1473247 h 1473247"/>
              <a:gd name="connsiteX28" fmla="*/ 4477831 w 10536072"/>
              <a:gd name="connsiteY28" fmla="*/ 1473247 h 1473247"/>
              <a:gd name="connsiteX29" fmla="*/ 3608605 w 10536072"/>
              <a:gd name="connsiteY29" fmla="*/ 1473247 h 1473247"/>
              <a:gd name="connsiteX30" fmla="*/ 2739379 w 10536072"/>
              <a:gd name="connsiteY30" fmla="*/ 1473247 h 1473247"/>
              <a:gd name="connsiteX31" fmla="*/ 2080874 w 10536072"/>
              <a:gd name="connsiteY31" fmla="*/ 1473247 h 1473247"/>
              <a:gd name="connsiteX32" fmla="*/ 1211648 w 10536072"/>
              <a:gd name="connsiteY32" fmla="*/ 1473247 h 1473247"/>
              <a:gd name="connsiteX33" fmla="*/ 0 w 10536072"/>
              <a:gd name="connsiteY33" fmla="*/ 1473247 h 1473247"/>
              <a:gd name="connsiteX34" fmla="*/ 0 w 10536072"/>
              <a:gd name="connsiteY34" fmla="*/ 967432 h 1473247"/>
              <a:gd name="connsiteX35" fmla="*/ 0 w 10536072"/>
              <a:gd name="connsiteY35" fmla="*/ 505815 h 1473247"/>
              <a:gd name="connsiteX36" fmla="*/ 0 w 10536072"/>
              <a:gd name="connsiteY36" fmla="*/ 0 h 14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36072" h="1473247" fill="none" extrusionOk="0">
                <a:moveTo>
                  <a:pt x="0" y="0"/>
                </a:moveTo>
                <a:cubicBezTo>
                  <a:pt x="170638" y="-3227"/>
                  <a:pt x="242755" y="-8478"/>
                  <a:pt x="342422" y="0"/>
                </a:cubicBezTo>
                <a:cubicBezTo>
                  <a:pt x="442089" y="8478"/>
                  <a:pt x="788844" y="-32598"/>
                  <a:pt x="1211648" y="0"/>
                </a:cubicBezTo>
                <a:cubicBezTo>
                  <a:pt x="1634452" y="32598"/>
                  <a:pt x="1545805" y="16754"/>
                  <a:pt x="1870153" y="0"/>
                </a:cubicBezTo>
                <a:cubicBezTo>
                  <a:pt x="2194502" y="-16754"/>
                  <a:pt x="2137829" y="-2132"/>
                  <a:pt x="2212575" y="0"/>
                </a:cubicBezTo>
                <a:cubicBezTo>
                  <a:pt x="2287321" y="2132"/>
                  <a:pt x="2661122" y="14575"/>
                  <a:pt x="2871080" y="0"/>
                </a:cubicBezTo>
                <a:cubicBezTo>
                  <a:pt x="3081038" y="-14575"/>
                  <a:pt x="3324059" y="-26478"/>
                  <a:pt x="3740306" y="0"/>
                </a:cubicBezTo>
                <a:cubicBezTo>
                  <a:pt x="4156553" y="26478"/>
                  <a:pt x="4042059" y="-21422"/>
                  <a:pt x="4293449" y="0"/>
                </a:cubicBezTo>
                <a:cubicBezTo>
                  <a:pt x="4544839" y="21422"/>
                  <a:pt x="4675378" y="-14390"/>
                  <a:pt x="4846593" y="0"/>
                </a:cubicBezTo>
                <a:cubicBezTo>
                  <a:pt x="5017808" y="14390"/>
                  <a:pt x="5278534" y="-14693"/>
                  <a:pt x="5505098" y="0"/>
                </a:cubicBezTo>
                <a:cubicBezTo>
                  <a:pt x="5731663" y="14693"/>
                  <a:pt x="6110631" y="21813"/>
                  <a:pt x="6268963" y="0"/>
                </a:cubicBezTo>
                <a:cubicBezTo>
                  <a:pt x="6427295" y="-21813"/>
                  <a:pt x="6752560" y="-19507"/>
                  <a:pt x="7032828" y="0"/>
                </a:cubicBezTo>
                <a:cubicBezTo>
                  <a:pt x="7313097" y="19507"/>
                  <a:pt x="7555463" y="-7915"/>
                  <a:pt x="7796693" y="0"/>
                </a:cubicBezTo>
                <a:cubicBezTo>
                  <a:pt x="8037924" y="7915"/>
                  <a:pt x="8482692" y="-24697"/>
                  <a:pt x="8665919" y="0"/>
                </a:cubicBezTo>
                <a:cubicBezTo>
                  <a:pt x="8849146" y="24697"/>
                  <a:pt x="9115048" y="18415"/>
                  <a:pt x="9324424" y="0"/>
                </a:cubicBezTo>
                <a:cubicBezTo>
                  <a:pt x="9533800" y="-18415"/>
                  <a:pt x="10189238" y="-2880"/>
                  <a:pt x="10536072" y="0"/>
                </a:cubicBezTo>
                <a:cubicBezTo>
                  <a:pt x="10528582" y="103442"/>
                  <a:pt x="10544072" y="302800"/>
                  <a:pt x="10536072" y="491082"/>
                </a:cubicBezTo>
                <a:cubicBezTo>
                  <a:pt x="10528072" y="679364"/>
                  <a:pt x="10518789" y="845093"/>
                  <a:pt x="10536072" y="1011630"/>
                </a:cubicBezTo>
                <a:cubicBezTo>
                  <a:pt x="10553355" y="1178167"/>
                  <a:pt x="10557230" y="1322951"/>
                  <a:pt x="10536072" y="1473247"/>
                </a:cubicBezTo>
                <a:cubicBezTo>
                  <a:pt x="10209976" y="1489033"/>
                  <a:pt x="9878422" y="1504300"/>
                  <a:pt x="9666846" y="1473247"/>
                </a:cubicBezTo>
                <a:cubicBezTo>
                  <a:pt x="9455270" y="1442194"/>
                  <a:pt x="9317495" y="1469565"/>
                  <a:pt x="9113702" y="1473247"/>
                </a:cubicBezTo>
                <a:cubicBezTo>
                  <a:pt x="8909909" y="1476929"/>
                  <a:pt x="8768355" y="1464148"/>
                  <a:pt x="8560559" y="1473247"/>
                </a:cubicBezTo>
                <a:cubicBezTo>
                  <a:pt x="8352763" y="1482346"/>
                  <a:pt x="8221728" y="1498460"/>
                  <a:pt x="8007415" y="1473247"/>
                </a:cubicBezTo>
                <a:cubicBezTo>
                  <a:pt x="7793102" y="1448034"/>
                  <a:pt x="7543911" y="1438200"/>
                  <a:pt x="7243550" y="1473247"/>
                </a:cubicBezTo>
                <a:cubicBezTo>
                  <a:pt x="6943190" y="1508294"/>
                  <a:pt x="6899696" y="1502806"/>
                  <a:pt x="6585045" y="1473247"/>
                </a:cubicBezTo>
                <a:cubicBezTo>
                  <a:pt x="6270395" y="1443688"/>
                  <a:pt x="6408534" y="1465362"/>
                  <a:pt x="6242623" y="1473247"/>
                </a:cubicBezTo>
                <a:cubicBezTo>
                  <a:pt x="6076712" y="1481132"/>
                  <a:pt x="5927077" y="1471371"/>
                  <a:pt x="5689479" y="1473247"/>
                </a:cubicBezTo>
                <a:cubicBezTo>
                  <a:pt x="5451881" y="1475123"/>
                  <a:pt x="5292564" y="1490901"/>
                  <a:pt x="4925614" y="1473247"/>
                </a:cubicBezTo>
                <a:cubicBezTo>
                  <a:pt x="4558664" y="1455593"/>
                  <a:pt x="4588090" y="1494698"/>
                  <a:pt x="4477831" y="1473247"/>
                </a:cubicBezTo>
                <a:cubicBezTo>
                  <a:pt x="4367572" y="1451796"/>
                  <a:pt x="3983650" y="1497048"/>
                  <a:pt x="3608605" y="1473247"/>
                </a:cubicBezTo>
                <a:cubicBezTo>
                  <a:pt x="3233560" y="1449446"/>
                  <a:pt x="2937559" y="1501024"/>
                  <a:pt x="2739379" y="1473247"/>
                </a:cubicBezTo>
                <a:cubicBezTo>
                  <a:pt x="2541199" y="1445470"/>
                  <a:pt x="2251189" y="1477357"/>
                  <a:pt x="2080874" y="1473247"/>
                </a:cubicBezTo>
                <a:cubicBezTo>
                  <a:pt x="1910560" y="1469137"/>
                  <a:pt x="1591616" y="1432296"/>
                  <a:pt x="1211648" y="1473247"/>
                </a:cubicBezTo>
                <a:cubicBezTo>
                  <a:pt x="831680" y="1514198"/>
                  <a:pt x="399468" y="1479806"/>
                  <a:pt x="0" y="1473247"/>
                </a:cubicBezTo>
                <a:cubicBezTo>
                  <a:pt x="-21588" y="1358984"/>
                  <a:pt x="-21609" y="1160994"/>
                  <a:pt x="0" y="967432"/>
                </a:cubicBezTo>
                <a:cubicBezTo>
                  <a:pt x="21609" y="773871"/>
                  <a:pt x="3189" y="641017"/>
                  <a:pt x="0" y="505815"/>
                </a:cubicBezTo>
                <a:cubicBezTo>
                  <a:pt x="-3189" y="370613"/>
                  <a:pt x="8086" y="229632"/>
                  <a:pt x="0" y="0"/>
                </a:cubicBezTo>
                <a:close/>
              </a:path>
              <a:path w="10536072" h="1473247" stroke="0" extrusionOk="0">
                <a:moveTo>
                  <a:pt x="0" y="0"/>
                </a:moveTo>
                <a:cubicBezTo>
                  <a:pt x="124834" y="11046"/>
                  <a:pt x="334746" y="-27317"/>
                  <a:pt x="553144" y="0"/>
                </a:cubicBezTo>
                <a:cubicBezTo>
                  <a:pt x="771542" y="27317"/>
                  <a:pt x="801337" y="15140"/>
                  <a:pt x="895566" y="0"/>
                </a:cubicBezTo>
                <a:cubicBezTo>
                  <a:pt x="989795" y="-15140"/>
                  <a:pt x="1332723" y="-19029"/>
                  <a:pt x="1764792" y="0"/>
                </a:cubicBezTo>
                <a:cubicBezTo>
                  <a:pt x="2196861" y="19029"/>
                  <a:pt x="2141091" y="-13523"/>
                  <a:pt x="2317936" y="0"/>
                </a:cubicBezTo>
                <a:cubicBezTo>
                  <a:pt x="2494781" y="13523"/>
                  <a:pt x="2751421" y="21117"/>
                  <a:pt x="2871080" y="0"/>
                </a:cubicBezTo>
                <a:cubicBezTo>
                  <a:pt x="2990739" y="-21117"/>
                  <a:pt x="3425096" y="-41438"/>
                  <a:pt x="3740306" y="0"/>
                </a:cubicBezTo>
                <a:cubicBezTo>
                  <a:pt x="4055516" y="41438"/>
                  <a:pt x="4012862" y="9677"/>
                  <a:pt x="4188089" y="0"/>
                </a:cubicBezTo>
                <a:cubicBezTo>
                  <a:pt x="4363316" y="-9677"/>
                  <a:pt x="4702184" y="31897"/>
                  <a:pt x="5057315" y="0"/>
                </a:cubicBezTo>
                <a:cubicBezTo>
                  <a:pt x="5412446" y="-31897"/>
                  <a:pt x="5719646" y="30807"/>
                  <a:pt x="5926541" y="0"/>
                </a:cubicBezTo>
                <a:cubicBezTo>
                  <a:pt x="6133436" y="-30807"/>
                  <a:pt x="6381779" y="6989"/>
                  <a:pt x="6585045" y="0"/>
                </a:cubicBezTo>
                <a:cubicBezTo>
                  <a:pt x="6788311" y="-6989"/>
                  <a:pt x="7075550" y="21499"/>
                  <a:pt x="7454271" y="0"/>
                </a:cubicBezTo>
                <a:cubicBezTo>
                  <a:pt x="7832992" y="-21499"/>
                  <a:pt x="7814013" y="-439"/>
                  <a:pt x="8007415" y="0"/>
                </a:cubicBezTo>
                <a:cubicBezTo>
                  <a:pt x="8200817" y="439"/>
                  <a:pt x="8352463" y="-9370"/>
                  <a:pt x="8560559" y="0"/>
                </a:cubicBezTo>
                <a:cubicBezTo>
                  <a:pt x="8768655" y="9370"/>
                  <a:pt x="8985443" y="14713"/>
                  <a:pt x="9324424" y="0"/>
                </a:cubicBezTo>
                <a:cubicBezTo>
                  <a:pt x="9663405" y="-14713"/>
                  <a:pt x="9736203" y="6165"/>
                  <a:pt x="9877568" y="0"/>
                </a:cubicBezTo>
                <a:cubicBezTo>
                  <a:pt x="10018933" y="-6165"/>
                  <a:pt x="10230349" y="19429"/>
                  <a:pt x="10536072" y="0"/>
                </a:cubicBezTo>
                <a:cubicBezTo>
                  <a:pt x="10555212" y="192766"/>
                  <a:pt x="10521319" y="401317"/>
                  <a:pt x="10536072" y="520547"/>
                </a:cubicBezTo>
                <a:cubicBezTo>
                  <a:pt x="10550825" y="639777"/>
                  <a:pt x="10530484" y="924566"/>
                  <a:pt x="10536072" y="1026362"/>
                </a:cubicBezTo>
                <a:cubicBezTo>
                  <a:pt x="10541660" y="1128158"/>
                  <a:pt x="10552389" y="1261865"/>
                  <a:pt x="10536072" y="1473247"/>
                </a:cubicBezTo>
                <a:cubicBezTo>
                  <a:pt x="10396614" y="1489586"/>
                  <a:pt x="10354707" y="1468263"/>
                  <a:pt x="10193650" y="1473247"/>
                </a:cubicBezTo>
                <a:cubicBezTo>
                  <a:pt x="10032593" y="1478231"/>
                  <a:pt x="9526605" y="1449167"/>
                  <a:pt x="9324424" y="1473247"/>
                </a:cubicBezTo>
                <a:cubicBezTo>
                  <a:pt x="9122243" y="1497327"/>
                  <a:pt x="8898880" y="1456803"/>
                  <a:pt x="8665919" y="1473247"/>
                </a:cubicBezTo>
                <a:cubicBezTo>
                  <a:pt x="8432959" y="1489691"/>
                  <a:pt x="8360567" y="1469714"/>
                  <a:pt x="8218136" y="1473247"/>
                </a:cubicBezTo>
                <a:cubicBezTo>
                  <a:pt x="8075705" y="1476780"/>
                  <a:pt x="7703160" y="1464634"/>
                  <a:pt x="7559632" y="1473247"/>
                </a:cubicBezTo>
                <a:cubicBezTo>
                  <a:pt x="7416104" y="1481860"/>
                  <a:pt x="7300958" y="1477192"/>
                  <a:pt x="7217209" y="1473247"/>
                </a:cubicBezTo>
                <a:cubicBezTo>
                  <a:pt x="7133460" y="1469302"/>
                  <a:pt x="6971626" y="1465062"/>
                  <a:pt x="6874787" y="1473247"/>
                </a:cubicBezTo>
                <a:cubicBezTo>
                  <a:pt x="6777948" y="1481432"/>
                  <a:pt x="6456213" y="1448579"/>
                  <a:pt x="6216282" y="1473247"/>
                </a:cubicBezTo>
                <a:cubicBezTo>
                  <a:pt x="5976352" y="1497915"/>
                  <a:pt x="5957714" y="1465901"/>
                  <a:pt x="5768499" y="1473247"/>
                </a:cubicBezTo>
                <a:cubicBezTo>
                  <a:pt x="5579284" y="1480593"/>
                  <a:pt x="5185837" y="1475207"/>
                  <a:pt x="5004634" y="1473247"/>
                </a:cubicBezTo>
                <a:cubicBezTo>
                  <a:pt x="4823432" y="1471287"/>
                  <a:pt x="4694247" y="1465003"/>
                  <a:pt x="4556851" y="1473247"/>
                </a:cubicBezTo>
                <a:cubicBezTo>
                  <a:pt x="4419455" y="1481491"/>
                  <a:pt x="3961624" y="1437488"/>
                  <a:pt x="3792986" y="1473247"/>
                </a:cubicBezTo>
                <a:cubicBezTo>
                  <a:pt x="3624349" y="1509006"/>
                  <a:pt x="3606439" y="1461005"/>
                  <a:pt x="3450564" y="1473247"/>
                </a:cubicBezTo>
                <a:cubicBezTo>
                  <a:pt x="3294689" y="1485489"/>
                  <a:pt x="3047803" y="1443534"/>
                  <a:pt x="2686698" y="1473247"/>
                </a:cubicBezTo>
                <a:cubicBezTo>
                  <a:pt x="2325593" y="1502960"/>
                  <a:pt x="2378357" y="1479112"/>
                  <a:pt x="2238915" y="1473247"/>
                </a:cubicBezTo>
                <a:cubicBezTo>
                  <a:pt x="2099473" y="1467382"/>
                  <a:pt x="1994239" y="1462106"/>
                  <a:pt x="1896493" y="1473247"/>
                </a:cubicBezTo>
                <a:cubicBezTo>
                  <a:pt x="1798747" y="1484388"/>
                  <a:pt x="1605231" y="1466509"/>
                  <a:pt x="1448710" y="1473247"/>
                </a:cubicBezTo>
                <a:cubicBezTo>
                  <a:pt x="1292189" y="1479985"/>
                  <a:pt x="997653" y="1469935"/>
                  <a:pt x="684845" y="1473247"/>
                </a:cubicBezTo>
                <a:cubicBezTo>
                  <a:pt x="372037" y="1476559"/>
                  <a:pt x="149225" y="1486004"/>
                  <a:pt x="0" y="1473247"/>
                </a:cubicBezTo>
                <a:cubicBezTo>
                  <a:pt x="-14567" y="1349963"/>
                  <a:pt x="6317" y="1135463"/>
                  <a:pt x="0" y="1026362"/>
                </a:cubicBezTo>
                <a:cubicBezTo>
                  <a:pt x="-6317" y="917262"/>
                  <a:pt x="-7270" y="674490"/>
                  <a:pt x="0" y="579477"/>
                </a:cubicBezTo>
                <a:cubicBezTo>
                  <a:pt x="7270" y="484465"/>
                  <a:pt x="-2304" y="1950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solidFill>
                  <a:srgbClr val="0A3830"/>
                </a:solidFill>
              </a:rPr>
              <a:t>Список литературы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A5E278-1EBD-42B1-AB2D-50D346530C65}"/>
              </a:ext>
            </a:extLst>
          </p:cNvPr>
          <p:cNvSpPr/>
          <p:nvPr/>
        </p:nvSpPr>
        <p:spPr>
          <a:xfrm>
            <a:off x="6225542" y="2012192"/>
            <a:ext cx="5288278" cy="4845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800" b="1" dirty="0">
                <a:solidFill>
                  <a:srgbClr val="0A3830"/>
                </a:solidFill>
              </a:rPr>
              <a:t>Статьи: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Обзоры об обнаружении дефектов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Обзоры о генеративном искусственном интеллектом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Обзоры о </a:t>
            </a:r>
            <a:r>
              <a:rPr lang="ru-RU" sz="2800" dirty="0" err="1">
                <a:solidFill>
                  <a:srgbClr val="0A3830"/>
                </a:solidFill>
              </a:rPr>
              <a:t>сверточных</a:t>
            </a:r>
            <a:r>
              <a:rPr lang="ru-RU" sz="2800" dirty="0">
                <a:solidFill>
                  <a:srgbClr val="0A3830"/>
                </a:solidFill>
              </a:rPr>
              <a:t> нейронных сетях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Фундаментальные статьи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Статьи об </a:t>
            </a:r>
            <a:r>
              <a:rPr lang="ru-RU" sz="2800" dirty="0" err="1">
                <a:solidFill>
                  <a:srgbClr val="0A3830"/>
                </a:solidFill>
              </a:rPr>
              <a:t>автоэнкодерах</a:t>
            </a:r>
            <a:endParaRPr lang="ru-RU" sz="2800" dirty="0">
              <a:solidFill>
                <a:srgbClr val="0A383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3830"/>
                </a:solidFill>
              </a:rPr>
              <a:t>Другие статьи</a:t>
            </a:r>
          </a:p>
          <a:p>
            <a:pPr algn="ctr"/>
            <a:endParaRPr lang="ru-RU" sz="2800" dirty="0">
              <a:solidFill>
                <a:srgbClr val="0A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40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AB51B-9DFC-4813-B606-52F3EE60E8C3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Книги и учебники</a:t>
            </a:r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10D1AE-9DE6-4FB3-A246-F107943AC2A7}"/>
              </a:ext>
            </a:extLst>
          </p:cNvPr>
          <p:cNvSpPr/>
          <p:nvPr/>
        </p:nvSpPr>
        <p:spPr>
          <a:xfrm>
            <a:off x="838199" y="2558033"/>
            <a:ext cx="10515599" cy="1282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Bishop, C.M. Deep Learning: Foundations and Concepts / C.M. Bishop, H. Bishop. — Cham : Springer, 2023. — 649 p. — ISBN 978-3-031-45467-7. — DOI: 10.1007/978-3-031-45468-4.</a:t>
            </a:r>
            <a:endParaRPr lang="ru-RU" sz="1800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</a:rPr>
              <a:t>Гудфеллоу Я.,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Бенджио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 И.,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Курвилль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 А. Глубокое обучение / пер. с англ. А. А.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Слинкина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– 2-е изд.,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испр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– М. : ДМК Пресс, 2018. – 652 с.: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цв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ил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4A77BC4-95AA-4620-A248-693EC4CC7DCE}"/>
              </a:ext>
            </a:extLst>
          </p:cNvPr>
          <p:cNvSpPr/>
          <p:nvPr/>
        </p:nvSpPr>
        <p:spPr>
          <a:xfrm>
            <a:off x="838200" y="4803475"/>
            <a:ext cx="10515598" cy="1533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Szeliski</a:t>
            </a:r>
            <a:r>
              <a:rPr lang="en-US" sz="1800" dirty="0">
                <a:solidFill>
                  <a:schemeClr val="tx1"/>
                </a:solidFill>
              </a:rPr>
              <a:t> R. Computer Vision: Algorithms and Applications [Electronic resource]. — 2nd ed. — 2021. — Final draft, September 30, 2021. — URL: https://szeliski.org/Book (date of access: 05.01.2023).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Xiao, C. Mastering Computer Vision with </a:t>
            </a:r>
            <a:r>
              <a:rPr lang="en-US" sz="1800" dirty="0" err="1">
                <a:solidFill>
                  <a:schemeClr val="tx1"/>
                </a:solidFill>
              </a:rPr>
              <a:t>PyTorch</a:t>
            </a:r>
            <a:r>
              <a:rPr lang="en-US" sz="1800" dirty="0">
                <a:solidFill>
                  <a:schemeClr val="tx1"/>
                </a:solidFill>
              </a:rPr>
              <a:t> and Machine Learning [</a:t>
            </a:r>
            <a:r>
              <a:rPr lang="ru-RU" sz="1800" dirty="0">
                <a:solidFill>
                  <a:schemeClr val="tx1"/>
                </a:solidFill>
              </a:rPr>
              <a:t>Электронный ресурс] / </a:t>
            </a:r>
            <a:r>
              <a:rPr lang="en-US" sz="1800" dirty="0">
                <a:solidFill>
                  <a:schemeClr val="tx1"/>
                </a:solidFill>
              </a:rPr>
              <a:t>C. Xiao. — Bristol : IOP Publishing, 2024. — </a:t>
            </a:r>
            <a:r>
              <a:rPr lang="ru-RU" sz="1800" dirty="0">
                <a:solidFill>
                  <a:schemeClr val="tx1"/>
                </a:solidFill>
              </a:rPr>
              <a:t>Режим доступа: </a:t>
            </a:r>
            <a:r>
              <a:rPr lang="en-US" sz="1800" dirty="0">
                <a:solidFill>
                  <a:schemeClr val="tx1"/>
                </a:solidFill>
              </a:rPr>
              <a:t>https://doi.org/10.1088/978-0-7503-6244-3. — </a:t>
            </a:r>
            <a:r>
              <a:rPr lang="ru-RU" sz="1800" dirty="0">
                <a:solidFill>
                  <a:schemeClr val="tx1"/>
                </a:solidFill>
              </a:rPr>
              <a:t>Дата доступа: 02.12.2024.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4711591-7EAD-4141-AF58-5712BA274C25}"/>
              </a:ext>
            </a:extLst>
          </p:cNvPr>
          <p:cNvSpPr/>
          <p:nvPr/>
        </p:nvSpPr>
        <p:spPr>
          <a:xfrm>
            <a:off x="838200" y="2086369"/>
            <a:ext cx="4542503" cy="3539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Книги математической направленности: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4B41FC6-531D-4D6F-94AC-6C5004195311}"/>
              </a:ext>
            </a:extLst>
          </p:cNvPr>
          <p:cNvSpPr/>
          <p:nvPr/>
        </p:nvSpPr>
        <p:spPr>
          <a:xfrm>
            <a:off x="838200" y="4354111"/>
            <a:ext cx="4542503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О компьютерном зрении:</a:t>
            </a:r>
          </a:p>
        </p:txBody>
      </p:sp>
    </p:spTree>
    <p:extLst>
      <p:ext uri="{BB962C8B-B14F-4D97-AF65-F5344CB8AC3E}">
        <p14:creationId xmlns:p14="http://schemas.microsoft.com/office/powerpoint/2010/main" val="132639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10D1AE-9DE6-4FB3-A246-F107943AC2A7}"/>
              </a:ext>
            </a:extLst>
          </p:cNvPr>
          <p:cNvSpPr/>
          <p:nvPr/>
        </p:nvSpPr>
        <p:spPr>
          <a:xfrm>
            <a:off x="838200" y="828161"/>
            <a:ext cx="10515600" cy="1691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Tomczak, J.M. Deep Generative Modeling / J.M. Tomczak. — 2nd ed. — Cham : Springer, 2024. — 313 p. — ISBN 978-3-031-64086-5. — DOI: 10.1007/978-3-031-64087-2.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Generative Artificial Intelligence (AI) Approaches for Industrial Applications / N.R. </a:t>
            </a:r>
            <a:r>
              <a:rPr lang="en-US" sz="1800" dirty="0" err="1">
                <a:solidFill>
                  <a:schemeClr val="tx1"/>
                </a:solidFill>
              </a:rPr>
              <a:t>Vajjhala</a:t>
            </a:r>
            <a:r>
              <a:rPr lang="en-US" sz="1800" dirty="0">
                <a:solidFill>
                  <a:schemeClr val="tx1"/>
                </a:solidFill>
              </a:rPr>
              <a:t> [</a:t>
            </a:r>
            <a:r>
              <a:rPr lang="ru-RU" sz="1800" dirty="0">
                <a:solidFill>
                  <a:schemeClr val="tx1"/>
                </a:solidFill>
              </a:rPr>
              <a:t>и др.]; под ред. </a:t>
            </a:r>
            <a:r>
              <a:rPr lang="en-US" sz="1800" dirty="0">
                <a:solidFill>
                  <a:schemeClr val="tx1"/>
                </a:solidFill>
              </a:rPr>
              <a:t>N.R. </a:t>
            </a:r>
            <a:r>
              <a:rPr lang="en-US" sz="1800" dirty="0" err="1">
                <a:solidFill>
                  <a:schemeClr val="tx1"/>
                </a:solidFill>
              </a:rPr>
              <a:t>Vajjhala</a:t>
            </a:r>
            <a:r>
              <a:rPr lang="en-US" sz="1800" dirty="0">
                <a:solidFill>
                  <a:schemeClr val="tx1"/>
                </a:solidFill>
              </a:rPr>
              <a:t>, S.S. Roy, B. </a:t>
            </a:r>
            <a:r>
              <a:rPr lang="en-US" sz="1800" dirty="0" err="1">
                <a:solidFill>
                  <a:schemeClr val="tx1"/>
                </a:solidFill>
              </a:rPr>
              <a:t>Tasci</a:t>
            </a:r>
            <a:r>
              <a:rPr lang="en-US" sz="1800" dirty="0">
                <a:solidFill>
                  <a:schemeClr val="tx1"/>
                </a:solidFill>
              </a:rPr>
              <a:t>, M.E.H. Chowdhury. — Cham : Springer, 2025. — 342 p. — (Information Systems Engineering and Management). — ISBN 978-3-031-76709-8. — DOI: 10.1007/978-3-031-76710-4.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4A77BC4-95AA-4620-A248-693EC4CC7DCE}"/>
              </a:ext>
            </a:extLst>
          </p:cNvPr>
          <p:cNvSpPr/>
          <p:nvPr/>
        </p:nvSpPr>
        <p:spPr>
          <a:xfrm>
            <a:off x="838199" y="3291017"/>
            <a:ext cx="10515601" cy="1533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Prosise</a:t>
            </a:r>
            <a:r>
              <a:rPr lang="en-US" sz="1800" dirty="0">
                <a:solidFill>
                  <a:schemeClr val="tx1"/>
                </a:solidFill>
              </a:rPr>
              <a:t>, J. </a:t>
            </a:r>
            <a:r>
              <a:rPr lang="ru-RU" sz="1800" dirty="0">
                <a:solidFill>
                  <a:schemeClr val="tx1"/>
                </a:solidFill>
              </a:rPr>
              <a:t>Прикладное машинное обучение и искусственный интеллект для инженеров / </a:t>
            </a:r>
            <a:r>
              <a:rPr lang="en-US" sz="1800" dirty="0">
                <a:solidFill>
                  <a:schemeClr val="tx1"/>
                </a:solidFill>
              </a:rPr>
              <a:t>J. </a:t>
            </a:r>
            <a:r>
              <a:rPr lang="en-US" sz="1800" dirty="0" err="1">
                <a:solidFill>
                  <a:schemeClr val="tx1"/>
                </a:solidFill>
              </a:rPr>
              <a:t>Prosise</a:t>
            </a:r>
            <a:r>
              <a:rPr lang="en-US" sz="1800" dirty="0">
                <a:solidFill>
                  <a:schemeClr val="tx1"/>
                </a:solidFill>
              </a:rPr>
              <a:t>; </a:t>
            </a:r>
            <a:r>
              <a:rPr lang="ru-RU" sz="1800" dirty="0">
                <a:solidFill>
                  <a:schemeClr val="tx1"/>
                </a:solidFill>
              </a:rPr>
              <a:t>пер. с англ. — Астана : АЛИСТ, 2024. — 432 с. — </a:t>
            </a:r>
            <a:r>
              <a:rPr lang="en-US" sz="1800" dirty="0">
                <a:solidFill>
                  <a:schemeClr val="tx1"/>
                </a:solidFill>
              </a:rPr>
              <a:t>ISBN 978-601-09-5051-1.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Godoy D. V. Deep Learning with </a:t>
            </a:r>
            <a:r>
              <a:rPr lang="en-US" sz="1800" dirty="0" err="1">
                <a:solidFill>
                  <a:schemeClr val="tx1"/>
                </a:solidFill>
              </a:rPr>
              <a:t>PyTorch</a:t>
            </a:r>
            <a:r>
              <a:rPr lang="en-US" sz="1800" dirty="0">
                <a:solidFill>
                  <a:schemeClr val="tx1"/>
                </a:solidFill>
              </a:rPr>
              <a:t> Step-by-Step: A Beginner's Guide. — First ed. — 2022. — URL: http://leanpub.com/pytorch. — Revision v1.1 (2021-12-15); First published: May 2021.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25A51F4-2836-43E5-8629-72295A36C599}"/>
              </a:ext>
            </a:extLst>
          </p:cNvPr>
          <p:cNvSpPr/>
          <p:nvPr/>
        </p:nvSpPr>
        <p:spPr>
          <a:xfrm>
            <a:off x="838199" y="5605554"/>
            <a:ext cx="10515601" cy="840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Николенко, С. Глубокое обучение / С. Николенко, А. </a:t>
            </a:r>
            <a:r>
              <a:rPr lang="ru-RU" sz="1800" dirty="0" err="1">
                <a:solidFill>
                  <a:schemeClr val="tx1"/>
                </a:solidFill>
              </a:rPr>
              <a:t>Кадурин</a:t>
            </a:r>
            <a:r>
              <a:rPr lang="ru-RU" sz="1800" dirty="0">
                <a:solidFill>
                  <a:schemeClr val="tx1"/>
                </a:solidFill>
              </a:rPr>
              <a:t>, Е. Архангельская. — СПб. : Питер, 2018. — 480 с. — (Серия «Библиотека программиста»). — ISBN 978-5-496-02536-2.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09D3D74-C5E6-4E09-A06D-105B58921072}"/>
              </a:ext>
            </a:extLst>
          </p:cNvPr>
          <p:cNvSpPr/>
          <p:nvPr/>
        </p:nvSpPr>
        <p:spPr>
          <a:xfrm>
            <a:off x="838199" y="319547"/>
            <a:ext cx="5100486" cy="36837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rgbClr val="0A3830"/>
                </a:solidFill>
              </a:rPr>
              <a:t>О генеративном искусственном интеллекте: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B3590CA-ABC4-45B5-BB72-96DECE30C0AC}"/>
              </a:ext>
            </a:extLst>
          </p:cNvPr>
          <p:cNvSpPr/>
          <p:nvPr/>
        </p:nvSpPr>
        <p:spPr>
          <a:xfrm>
            <a:off x="838199" y="2844815"/>
            <a:ext cx="5100486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rgbClr val="0A3830"/>
                </a:solidFill>
              </a:rPr>
              <a:t>Прикладные книги: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8009487-5BC4-403B-8A8B-473F97937671}"/>
              </a:ext>
            </a:extLst>
          </p:cNvPr>
          <p:cNvSpPr/>
          <p:nvPr/>
        </p:nvSpPr>
        <p:spPr>
          <a:xfrm>
            <a:off x="838199" y="5149771"/>
            <a:ext cx="5100486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rgbClr val="0A3830"/>
                </a:solidFill>
              </a:rPr>
              <a:t>Более общая литература:</a:t>
            </a:r>
          </a:p>
        </p:txBody>
      </p:sp>
    </p:spTree>
    <p:extLst>
      <p:ext uri="{BB962C8B-B14F-4D97-AF65-F5344CB8AC3E}">
        <p14:creationId xmlns:p14="http://schemas.microsoft.com/office/powerpoint/2010/main" val="212379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A0B5C-A676-4713-92D5-64293D42F6A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A3830"/>
                </a:solidFill>
              </a:rPr>
              <a:t>Обзорные статьи</a:t>
            </a:r>
            <a:r>
              <a:rPr lang="en-US" sz="3600" b="1" dirty="0">
                <a:solidFill>
                  <a:srgbClr val="0A3830"/>
                </a:solidFill>
              </a:rPr>
              <a:t>, </a:t>
            </a:r>
            <a:r>
              <a:rPr lang="ru-RU" sz="3600" b="1" dirty="0">
                <a:solidFill>
                  <a:srgbClr val="0A3830"/>
                </a:solidFill>
              </a:rPr>
              <a:t>посвященные обнаружению дефектов: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CE4A6-CDCE-4F3E-948A-65A0C6334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solidFill>
            <a:schemeClr val="bg1"/>
          </a:solidFill>
        </p:spPr>
        <p:txBody>
          <a:bodyPr anchor="ctr"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Chandola</a:t>
            </a:r>
            <a:r>
              <a:rPr lang="en-US" sz="1600" dirty="0"/>
              <a:t>, V. Anomaly Detection: A Survey / V. </a:t>
            </a:r>
            <a:r>
              <a:rPr lang="en-US" sz="1600" dirty="0" err="1"/>
              <a:t>Chandola</a:t>
            </a:r>
            <a:r>
              <a:rPr lang="en-US" sz="1600" dirty="0"/>
              <a:t>, A. Banerjee, V. Kumar // ACM Computing Surveys. — 2009. — Vol. 41, № 3. — P. 1–58. — DOI: </a:t>
            </a:r>
            <a:r>
              <a:rPr lang="en-US" sz="1600" dirty="0">
                <a:hlinkClick r:id="rId2"/>
              </a:rPr>
              <a:t>https://doi.org/10.1145/1541880.1541882</a:t>
            </a:r>
            <a:r>
              <a:rPr lang="en-US" sz="1600" dirty="0"/>
              <a:t>.</a:t>
            </a:r>
            <a:endParaRPr lang="ru-RU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Czimmerman</a:t>
            </a:r>
            <a:r>
              <a:rPr lang="en-US" sz="1600" dirty="0"/>
              <a:t>, T. Visual-Based Defect Detection and Classification Approaches for Industrial Applications—A SURVEY / T. </a:t>
            </a:r>
            <a:r>
              <a:rPr lang="en-US" sz="1600" dirty="0" err="1"/>
              <a:t>Czimmerman</a:t>
            </a:r>
            <a:r>
              <a:rPr lang="en-US" sz="1600" dirty="0"/>
              <a:t> [et al.] // Sensors. — 2020. — Vol. 20, № 5. — DOI: </a:t>
            </a:r>
            <a:r>
              <a:rPr lang="en-US" sz="1600" dirty="0">
                <a:hlinkClick r:id="rId3"/>
              </a:rPr>
              <a:t>https://doi.org/10.3390/s20051459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He, Z. Deep Regression Neural Network for Industrial Surface Defect Detection / Z. He, Q. Liu // IEEE Access. — 2020. — Vol. 8. — P. 35633–35642. — DOI: </a:t>
            </a:r>
            <a:r>
              <a:rPr lang="en-US" sz="1600" dirty="0">
                <a:hlinkClick r:id="rId4"/>
              </a:rPr>
              <a:t>https://doi.org/10.1109/ACCESS.2020.2975030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Bhatt, P.M. Image-Based Surface Defect Detection Using Deep Learning: A Review [</a:t>
            </a:r>
            <a:r>
              <a:rPr lang="ru-RU" sz="1600" dirty="0"/>
              <a:t>Электронный ресурс] / </a:t>
            </a:r>
            <a:r>
              <a:rPr lang="en-US" sz="1600" dirty="0"/>
              <a:t>P.M. Bhatt, R. </a:t>
            </a:r>
            <a:r>
              <a:rPr lang="en-US" sz="1600" dirty="0" err="1"/>
              <a:t>Malhan</a:t>
            </a:r>
            <a:r>
              <a:rPr lang="en-US" sz="1600" dirty="0"/>
              <a:t>, P. Rajendran, B. Shah [</a:t>
            </a:r>
            <a:r>
              <a:rPr lang="ru-RU" sz="1600" dirty="0"/>
              <a:t>и др.] // </a:t>
            </a:r>
            <a:r>
              <a:rPr lang="en-US" sz="1600" dirty="0"/>
              <a:t>Journal of Computing and Information Science in Engineering. – 2021. – Vol. 21, № 4. – P. 1–23. – </a:t>
            </a:r>
            <a:r>
              <a:rPr lang="ru-RU" sz="1600" dirty="0"/>
              <a:t>Режим доступа: </a:t>
            </a:r>
            <a:r>
              <a:rPr lang="en-US" sz="1600" dirty="0"/>
              <a:t>https://asmedigitalcollection.asme.org/computingengineering/article/21/4/1/1092812/Image-based-Surface-Defect-Detection-Using-Deep. – </a:t>
            </a:r>
            <a:r>
              <a:rPr lang="ru-RU" sz="1600" dirty="0"/>
              <a:t>Дата доступа: </a:t>
            </a:r>
            <a:r>
              <a:rPr lang="en-US" sz="1600" dirty="0"/>
              <a:t>18</a:t>
            </a:r>
            <a:r>
              <a:rPr lang="ru-RU" sz="1600" dirty="0"/>
              <a:t>.</a:t>
            </a:r>
            <a:r>
              <a:rPr lang="en-US" sz="1600" dirty="0"/>
              <a:t>10</a:t>
            </a:r>
            <a:r>
              <a:rPr lang="ru-RU" sz="1600" dirty="0"/>
              <a:t>.202</a:t>
            </a:r>
            <a:r>
              <a:rPr lang="en-US" sz="1600" dirty="0"/>
              <a:t>5</a:t>
            </a:r>
            <a:r>
              <a:rPr lang="ru-RU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Saberironaghi</a:t>
            </a:r>
            <a:r>
              <a:rPr lang="en-US" sz="1600" dirty="0"/>
              <a:t>, A. Defect Detection Methods for Industrial Products Using Deep Learning Techniques: A Review / A. </a:t>
            </a:r>
            <a:r>
              <a:rPr lang="en-US" sz="1600" dirty="0" err="1"/>
              <a:t>Saberironaghi</a:t>
            </a:r>
            <a:r>
              <a:rPr lang="en-US" sz="1600" dirty="0"/>
              <a:t>, J. Ren, M. El-</a:t>
            </a:r>
            <a:r>
              <a:rPr lang="en-US" sz="1600" dirty="0" err="1"/>
              <a:t>Gindy</a:t>
            </a:r>
            <a:r>
              <a:rPr lang="en-US" sz="1600" dirty="0"/>
              <a:t> // Algorithms. — 2023. — Vol. 16, № 2. — P. 95. — DOI: </a:t>
            </a:r>
            <a:r>
              <a:rPr lang="en-US" sz="1600" dirty="0">
                <a:hlinkClick r:id="rId5"/>
              </a:rPr>
              <a:t>https://doi.org/10.3390/a16020095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Hütten</a:t>
            </a:r>
            <a:r>
              <a:rPr lang="en-US" sz="1600" dirty="0"/>
              <a:t>, N. Deep Learning for Automated Visual Inspection in Manufacturing and Maintenance: A Survey of Open-Access Papers [</a:t>
            </a:r>
            <a:r>
              <a:rPr lang="ru-RU" sz="1600" dirty="0"/>
              <a:t>Электронный ресурс] / </a:t>
            </a:r>
            <a:r>
              <a:rPr lang="en-US" sz="1600" dirty="0"/>
              <a:t>N. </a:t>
            </a:r>
            <a:r>
              <a:rPr lang="en-US" sz="1600" dirty="0" err="1"/>
              <a:t>Hütten</a:t>
            </a:r>
            <a:r>
              <a:rPr lang="en-US" sz="1600" dirty="0"/>
              <a:t>, M.A. Gomes, F. </a:t>
            </a:r>
            <a:r>
              <a:rPr lang="en-US" sz="1600" dirty="0" err="1"/>
              <a:t>Hölken</a:t>
            </a:r>
            <a:r>
              <a:rPr lang="en-US" sz="1600" dirty="0"/>
              <a:t>, K. </a:t>
            </a:r>
            <a:r>
              <a:rPr lang="en-US" sz="1600" dirty="0" err="1"/>
              <a:t>Andricevic</a:t>
            </a:r>
            <a:r>
              <a:rPr lang="en-US" sz="1600" dirty="0"/>
              <a:t>, R. </a:t>
            </a:r>
            <a:r>
              <a:rPr lang="en-US" sz="1600" dirty="0" err="1"/>
              <a:t>Meyes</a:t>
            </a:r>
            <a:r>
              <a:rPr lang="en-US" sz="1600" dirty="0"/>
              <a:t>, T. </a:t>
            </a:r>
            <a:r>
              <a:rPr lang="en-US" sz="1600" dirty="0" err="1"/>
              <a:t>Meisen</a:t>
            </a:r>
            <a:r>
              <a:rPr lang="en-US" sz="1600" dirty="0"/>
              <a:t> // Applied Sciences. – 2023. – Vol. 13, № 5. – P. 3000. – </a:t>
            </a:r>
            <a:r>
              <a:rPr lang="ru-RU" sz="1600" dirty="0"/>
              <a:t>Режим доступа: </a:t>
            </a:r>
            <a:r>
              <a:rPr lang="en-US" sz="1600" dirty="0"/>
              <a:t>https://www.mdpi.com/2076-3417/13/5/3000. – </a:t>
            </a:r>
            <a:r>
              <a:rPr lang="ru-RU" sz="1600" dirty="0"/>
              <a:t>Дата доступа: </a:t>
            </a:r>
            <a:r>
              <a:rPr lang="en-US" sz="1600" dirty="0"/>
              <a:t>18</a:t>
            </a:r>
            <a:r>
              <a:rPr lang="ru-RU" sz="1600" dirty="0"/>
              <a:t>.</a:t>
            </a:r>
            <a:r>
              <a:rPr lang="en-US" sz="1600" dirty="0"/>
              <a:t>10</a:t>
            </a:r>
            <a:r>
              <a:rPr lang="ru-RU" sz="1600" dirty="0"/>
              <a:t>.202</a:t>
            </a:r>
            <a:r>
              <a:rPr lang="en-US" sz="1600" dirty="0"/>
              <a:t>5</a:t>
            </a:r>
            <a:r>
              <a:rPr lang="ru-RU" sz="1600" dirty="0"/>
              <a:t>.</a:t>
            </a:r>
            <a:endParaRPr lang="en-US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Liu, J. Deep Industrial Image Anomaly Detection: A Survey / J. Liu [et al.] // Machine Intelligence Research. — 2024. — Vol. 21, № 1. — P. 104–135. — DOI: </a:t>
            </a:r>
            <a:r>
              <a:rPr lang="en-US" sz="1600" dirty="0">
                <a:hlinkClick r:id="rId6"/>
              </a:rPr>
              <a:t>https://doi.org/10.1007/s11633-023-1459-z</a:t>
            </a:r>
            <a:r>
              <a:rPr lang="en-US" sz="1600" dirty="0"/>
              <a:t>.</a:t>
            </a:r>
            <a:endParaRPr lang="ru-RU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Li, Z. A survey of deep learning for industrial visual anomaly detection / Z. Li [et al.] // Artificial Intelligence Review. — 2025. — Vol. 58. — P. 279. — DOI: </a:t>
            </a:r>
            <a:r>
              <a:rPr lang="en-US" sz="1600" dirty="0">
                <a:hlinkClick r:id="rId7"/>
              </a:rPr>
              <a:t>https://doi.org/10.1007/s10462-025-11287-7</a:t>
            </a:r>
            <a:r>
              <a:rPr lang="en-US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2688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75FBB-B385-439F-AC4A-44008E560D83}"/>
              </a:ext>
            </a:extLst>
          </p:cNvPr>
          <p:cNvSpPr txBox="1"/>
          <p:nvPr/>
        </p:nvSpPr>
        <p:spPr>
          <a:xfrm>
            <a:off x="501445" y="993615"/>
            <a:ext cx="11189109" cy="646331"/>
          </a:xfrm>
          <a:custGeom>
            <a:avLst/>
            <a:gdLst>
              <a:gd name="connsiteX0" fmla="*/ 0 w 11189109"/>
              <a:gd name="connsiteY0" fmla="*/ 0 h 646331"/>
              <a:gd name="connsiteX1" fmla="*/ 475537 w 11189109"/>
              <a:gd name="connsiteY1" fmla="*/ 0 h 646331"/>
              <a:gd name="connsiteX2" fmla="*/ 1174856 w 11189109"/>
              <a:gd name="connsiteY2" fmla="*/ 0 h 646331"/>
              <a:gd name="connsiteX3" fmla="*/ 1986067 w 11189109"/>
              <a:gd name="connsiteY3" fmla="*/ 0 h 646331"/>
              <a:gd name="connsiteX4" fmla="*/ 2349713 w 11189109"/>
              <a:gd name="connsiteY4" fmla="*/ 0 h 646331"/>
              <a:gd name="connsiteX5" fmla="*/ 2713359 w 11189109"/>
              <a:gd name="connsiteY5" fmla="*/ 0 h 646331"/>
              <a:gd name="connsiteX6" fmla="*/ 3636460 w 11189109"/>
              <a:gd name="connsiteY6" fmla="*/ 0 h 646331"/>
              <a:gd name="connsiteX7" fmla="*/ 4335780 w 11189109"/>
              <a:gd name="connsiteY7" fmla="*/ 0 h 646331"/>
              <a:gd name="connsiteX8" fmla="*/ 4699426 w 11189109"/>
              <a:gd name="connsiteY8" fmla="*/ 0 h 646331"/>
              <a:gd name="connsiteX9" fmla="*/ 5398745 w 11189109"/>
              <a:gd name="connsiteY9" fmla="*/ 0 h 646331"/>
              <a:gd name="connsiteX10" fmla="*/ 6321847 w 11189109"/>
              <a:gd name="connsiteY10" fmla="*/ 0 h 646331"/>
              <a:gd name="connsiteX11" fmla="*/ 6909275 w 11189109"/>
              <a:gd name="connsiteY11" fmla="*/ 0 h 646331"/>
              <a:gd name="connsiteX12" fmla="*/ 7496703 w 11189109"/>
              <a:gd name="connsiteY12" fmla="*/ 0 h 646331"/>
              <a:gd name="connsiteX13" fmla="*/ 8196022 w 11189109"/>
              <a:gd name="connsiteY13" fmla="*/ 0 h 646331"/>
              <a:gd name="connsiteX14" fmla="*/ 9007233 w 11189109"/>
              <a:gd name="connsiteY14" fmla="*/ 0 h 646331"/>
              <a:gd name="connsiteX15" fmla="*/ 9818443 w 11189109"/>
              <a:gd name="connsiteY15" fmla="*/ 0 h 646331"/>
              <a:gd name="connsiteX16" fmla="*/ 11189109 w 11189109"/>
              <a:gd name="connsiteY16" fmla="*/ 0 h 646331"/>
              <a:gd name="connsiteX17" fmla="*/ 11189109 w 11189109"/>
              <a:gd name="connsiteY17" fmla="*/ 646331 h 646331"/>
              <a:gd name="connsiteX18" fmla="*/ 10713572 w 11189109"/>
              <a:gd name="connsiteY18" fmla="*/ 646331 h 646331"/>
              <a:gd name="connsiteX19" fmla="*/ 9790470 w 11189109"/>
              <a:gd name="connsiteY19" fmla="*/ 646331 h 646331"/>
              <a:gd name="connsiteX20" fmla="*/ 9091151 w 11189109"/>
              <a:gd name="connsiteY20" fmla="*/ 646331 h 646331"/>
              <a:gd name="connsiteX21" fmla="*/ 8727505 w 11189109"/>
              <a:gd name="connsiteY21" fmla="*/ 646331 h 646331"/>
              <a:gd name="connsiteX22" fmla="*/ 8028186 w 11189109"/>
              <a:gd name="connsiteY22" fmla="*/ 646331 h 646331"/>
              <a:gd name="connsiteX23" fmla="*/ 7440757 w 11189109"/>
              <a:gd name="connsiteY23" fmla="*/ 646331 h 646331"/>
              <a:gd name="connsiteX24" fmla="*/ 6853329 w 11189109"/>
              <a:gd name="connsiteY24" fmla="*/ 646331 h 646331"/>
              <a:gd name="connsiteX25" fmla="*/ 6265901 w 11189109"/>
              <a:gd name="connsiteY25" fmla="*/ 646331 h 646331"/>
              <a:gd name="connsiteX26" fmla="*/ 5678473 w 11189109"/>
              <a:gd name="connsiteY26" fmla="*/ 646331 h 646331"/>
              <a:gd name="connsiteX27" fmla="*/ 4867262 w 11189109"/>
              <a:gd name="connsiteY27" fmla="*/ 646331 h 646331"/>
              <a:gd name="connsiteX28" fmla="*/ 4167943 w 11189109"/>
              <a:gd name="connsiteY28" fmla="*/ 646331 h 646331"/>
              <a:gd name="connsiteX29" fmla="*/ 3804297 w 11189109"/>
              <a:gd name="connsiteY29" fmla="*/ 646331 h 646331"/>
              <a:gd name="connsiteX30" fmla="*/ 3216869 w 11189109"/>
              <a:gd name="connsiteY30" fmla="*/ 646331 h 646331"/>
              <a:gd name="connsiteX31" fmla="*/ 2405658 w 11189109"/>
              <a:gd name="connsiteY31" fmla="*/ 646331 h 646331"/>
              <a:gd name="connsiteX32" fmla="*/ 1930121 w 11189109"/>
              <a:gd name="connsiteY32" fmla="*/ 646331 h 646331"/>
              <a:gd name="connsiteX33" fmla="*/ 1007020 w 11189109"/>
              <a:gd name="connsiteY33" fmla="*/ 646331 h 646331"/>
              <a:gd name="connsiteX34" fmla="*/ 0 w 11189109"/>
              <a:gd name="connsiteY34" fmla="*/ 646331 h 646331"/>
              <a:gd name="connsiteX35" fmla="*/ 0 w 11189109"/>
              <a:gd name="connsiteY35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189109" h="646331" fill="none" extrusionOk="0">
                <a:moveTo>
                  <a:pt x="0" y="0"/>
                </a:moveTo>
                <a:cubicBezTo>
                  <a:pt x="113617" y="225"/>
                  <a:pt x="258678" y="-7030"/>
                  <a:pt x="475537" y="0"/>
                </a:cubicBezTo>
                <a:cubicBezTo>
                  <a:pt x="692396" y="7030"/>
                  <a:pt x="999422" y="-21279"/>
                  <a:pt x="1174856" y="0"/>
                </a:cubicBezTo>
                <a:cubicBezTo>
                  <a:pt x="1350290" y="21279"/>
                  <a:pt x="1628543" y="-38865"/>
                  <a:pt x="1986067" y="0"/>
                </a:cubicBezTo>
                <a:cubicBezTo>
                  <a:pt x="2343591" y="38865"/>
                  <a:pt x="2244213" y="-14947"/>
                  <a:pt x="2349713" y="0"/>
                </a:cubicBezTo>
                <a:cubicBezTo>
                  <a:pt x="2455213" y="14947"/>
                  <a:pt x="2621393" y="-13526"/>
                  <a:pt x="2713359" y="0"/>
                </a:cubicBezTo>
                <a:cubicBezTo>
                  <a:pt x="2805325" y="13526"/>
                  <a:pt x="3332092" y="-40317"/>
                  <a:pt x="3636460" y="0"/>
                </a:cubicBezTo>
                <a:cubicBezTo>
                  <a:pt x="3940828" y="40317"/>
                  <a:pt x="4072088" y="-14057"/>
                  <a:pt x="4335780" y="0"/>
                </a:cubicBezTo>
                <a:cubicBezTo>
                  <a:pt x="4599472" y="14057"/>
                  <a:pt x="4585376" y="-6710"/>
                  <a:pt x="4699426" y="0"/>
                </a:cubicBezTo>
                <a:cubicBezTo>
                  <a:pt x="4813476" y="6710"/>
                  <a:pt x="5190217" y="29804"/>
                  <a:pt x="5398745" y="0"/>
                </a:cubicBezTo>
                <a:cubicBezTo>
                  <a:pt x="5607273" y="-29804"/>
                  <a:pt x="5917271" y="34712"/>
                  <a:pt x="6321847" y="0"/>
                </a:cubicBezTo>
                <a:cubicBezTo>
                  <a:pt x="6726423" y="-34712"/>
                  <a:pt x="6654013" y="13578"/>
                  <a:pt x="6909275" y="0"/>
                </a:cubicBezTo>
                <a:cubicBezTo>
                  <a:pt x="7164537" y="-13578"/>
                  <a:pt x="7315830" y="-27395"/>
                  <a:pt x="7496703" y="0"/>
                </a:cubicBezTo>
                <a:cubicBezTo>
                  <a:pt x="7677576" y="27395"/>
                  <a:pt x="7897268" y="2155"/>
                  <a:pt x="8196022" y="0"/>
                </a:cubicBezTo>
                <a:cubicBezTo>
                  <a:pt x="8494776" y="-2155"/>
                  <a:pt x="8722354" y="-30754"/>
                  <a:pt x="9007233" y="0"/>
                </a:cubicBezTo>
                <a:cubicBezTo>
                  <a:pt x="9292112" y="30754"/>
                  <a:pt x="9469709" y="-34520"/>
                  <a:pt x="9818443" y="0"/>
                </a:cubicBezTo>
                <a:cubicBezTo>
                  <a:pt x="10167177" y="34520"/>
                  <a:pt x="10840888" y="-37188"/>
                  <a:pt x="11189109" y="0"/>
                </a:cubicBezTo>
                <a:cubicBezTo>
                  <a:pt x="11203433" y="296460"/>
                  <a:pt x="11165989" y="486854"/>
                  <a:pt x="11189109" y="646331"/>
                </a:cubicBezTo>
                <a:cubicBezTo>
                  <a:pt x="10978165" y="646584"/>
                  <a:pt x="10858106" y="648414"/>
                  <a:pt x="10713572" y="646331"/>
                </a:cubicBezTo>
                <a:cubicBezTo>
                  <a:pt x="10569038" y="644248"/>
                  <a:pt x="10170546" y="609083"/>
                  <a:pt x="9790470" y="646331"/>
                </a:cubicBezTo>
                <a:cubicBezTo>
                  <a:pt x="9410394" y="683579"/>
                  <a:pt x="9349279" y="664244"/>
                  <a:pt x="9091151" y="646331"/>
                </a:cubicBezTo>
                <a:cubicBezTo>
                  <a:pt x="8833023" y="628418"/>
                  <a:pt x="8811228" y="644846"/>
                  <a:pt x="8727505" y="646331"/>
                </a:cubicBezTo>
                <a:cubicBezTo>
                  <a:pt x="8643782" y="647816"/>
                  <a:pt x="8172169" y="662876"/>
                  <a:pt x="8028186" y="646331"/>
                </a:cubicBezTo>
                <a:cubicBezTo>
                  <a:pt x="7884203" y="629786"/>
                  <a:pt x="7640678" y="664872"/>
                  <a:pt x="7440757" y="646331"/>
                </a:cubicBezTo>
                <a:cubicBezTo>
                  <a:pt x="7240836" y="627790"/>
                  <a:pt x="6977612" y="640252"/>
                  <a:pt x="6853329" y="646331"/>
                </a:cubicBezTo>
                <a:cubicBezTo>
                  <a:pt x="6729046" y="652410"/>
                  <a:pt x="6389319" y="630755"/>
                  <a:pt x="6265901" y="646331"/>
                </a:cubicBezTo>
                <a:cubicBezTo>
                  <a:pt x="6142483" y="661907"/>
                  <a:pt x="5953925" y="631432"/>
                  <a:pt x="5678473" y="646331"/>
                </a:cubicBezTo>
                <a:cubicBezTo>
                  <a:pt x="5403021" y="661230"/>
                  <a:pt x="5079909" y="637501"/>
                  <a:pt x="4867262" y="646331"/>
                </a:cubicBezTo>
                <a:cubicBezTo>
                  <a:pt x="4654615" y="655161"/>
                  <a:pt x="4427065" y="677258"/>
                  <a:pt x="4167943" y="646331"/>
                </a:cubicBezTo>
                <a:cubicBezTo>
                  <a:pt x="3908821" y="615404"/>
                  <a:pt x="3882557" y="635872"/>
                  <a:pt x="3804297" y="646331"/>
                </a:cubicBezTo>
                <a:cubicBezTo>
                  <a:pt x="3726037" y="656790"/>
                  <a:pt x="3380377" y="638812"/>
                  <a:pt x="3216869" y="646331"/>
                </a:cubicBezTo>
                <a:cubicBezTo>
                  <a:pt x="3053361" y="653850"/>
                  <a:pt x="2685036" y="630484"/>
                  <a:pt x="2405658" y="646331"/>
                </a:cubicBezTo>
                <a:cubicBezTo>
                  <a:pt x="2126280" y="662178"/>
                  <a:pt x="2031107" y="642275"/>
                  <a:pt x="1930121" y="646331"/>
                </a:cubicBezTo>
                <a:cubicBezTo>
                  <a:pt x="1829135" y="650387"/>
                  <a:pt x="1350372" y="646121"/>
                  <a:pt x="1007020" y="646331"/>
                </a:cubicBezTo>
                <a:cubicBezTo>
                  <a:pt x="663668" y="646541"/>
                  <a:pt x="371269" y="681396"/>
                  <a:pt x="0" y="646331"/>
                </a:cubicBezTo>
                <a:cubicBezTo>
                  <a:pt x="-20127" y="469620"/>
                  <a:pt x="-12141" y="143814"/>
                  <a:pt x="0" y="0"/>
                </a:cubicBezTo>
                <a:close/>
              </a:path>
              <a:path w="11189109" h="646331" stroke="0" extrusionOk="0">
                <a:moveTo>
                  <a:pt x="0" y="0"/>
                </a:moveTo>
                <a:cubicBezTo>
                  <a:pt x="161979" y="-10174"/>
                  <a:pt x="325146" y="-20242"/>
                  <a:pt x="587428" y="0"/>
                </a:cubicBezTo>
                <a:cubicBezTo>
                  <a:pt x="849710" y="20242"/>
                  <a:pt x="791362" y="6222"/>
                  <a:pt x="951074" y="0"/>
                </a:cubicBezTo>
                <a:cubicBezTo>
                  <a:pt x="1110786" y="-6222"/>
                  <a:pt x="1527072" y="22040"/>
                  <a:pt x="1874176" y="0"/>
                </a:cubicBezTo>
                <a:cubicBezTo>
                  <a:pt x="2221280" y="-22040"/>
                  <a:pt x="2286199" y="27995"/>
                  <a:pt x="2461604" y="0"/>
                </a:cubicBezTo>
                <a:cubicBezTo>
                  <a:pt x="2637009" y="-27995"/>
                  <a:pt x="2883465" y="6200"/>
                  <a:pt x="3049032" y="0"/>
                </a:cubicBezTo>
                <a:cubicBezTo>
                  <a:pt x="3214599" y="-6200"/>
                  <a:pt x="3633393" y="-16647"/>
                  <a:pt x="3972134" y="0"/>
                </a:cubicBezTo>
                <a:cubicBezTo>
                  <a:pt x="4310875" y="16647"/>
                  <a:pt x="4339132" y="-9202"/>
                  <a:pt x="4447671" y="0"/>
                </a:cubicBezTo>
                <a:cubicBezTo>
                  <a:pt x="4556210" y="9202"/>
                  <a:pt x="5169866" y="31106"/>
                  <a:pt x="5370772" y="0"/>
                </a:cubicBezTo>
                <a:cubicBezTo>
                  <a:pt x="5571678" y="-31106"/>
                  <a:pt x="5952768" y="-42616"/>
                  <a:pt x="6293874" y="0"/>
                </a:cubicBezTo>
                <a:cubicBezTo>
                  <a:pt x="6634980" y="42616"/>
                  <a:pt x="6660862" y="25175"/>
                  <a:pt x="6993193" y="0"/>
                </a:cubicBezTo>
                <a:cubicBezTo>
                  <a:pt x="7325524" y="-25175"/>
                  <a:pt x="7558889" y="39404"/>
                  <a:pt x="7916295" y="0"/>
                </a:cubicBezTo>
                <a:cubicBezTo>
                  <a:pt x="8273701" y="-39404"/>
                  <a:pt x="8339421" y="14417"/>
                  <a:pt x="8503723" y="0"/>
                </a:cubicBezTo>
                <a:cubicBezTo>
                  <a:pt x="8668025" y="-14417"/>
                  <a:pt x="8946755" y="21649"/>
                  <a:pt x="9091151" y="0"/>
                </a:cubicBezTo>
                <a:cubicBezTo>
                  <a:pt x="9235547" y="-21649"/>
                  <a:pt x="9736465" y="461"/>
                  <a:pt x="9902361" y="0"/>
                </a:cubicBezTo>
                <a:cubicBezTo>
                  <a:pt x="10068257" y="-461"/>
                  <a:pt x="10308731" y="14469"/>
                  <a:pt x="10489790" y="0"/>
                </a:cubicBezTo>
                <a:cubicBezTo>
                  <a:pt x="10670849" y="-14469"/>
                  <a:pt x="11043461" y="-34517"/>
                  <a:pt x="11189109" y="0"/>
                </a:cubicBezTo>
                <a:cubicBezTo>
                  <a:pt x="11184457" y="236843"/>
                  <a:pt x="11168760" y="502642"/>
                  <a:pt x="11189109" y="646331"/>
                </a:cubicBezTo>
                <a:cubicBezTo>
                  <a:pt x="10950803" y="685268"/>
                  <a:pt x="10673660" y="616619"/>
                  <a:pt x="10377899" y="646331"/>
                </a:cubicBezTo>
                <a:cubicBezTo>
                  <a:pt x="10082138" y="676044"/>
                  <a:pt x="10098545" y="653374"/>
                  <a:pt x="10014253" y="646331"/>
                </a:cubicBezTo>
                <a:cubicBezTo>
                  <a:pt x="9929961" y="639288"/>
                  <a:pt x="9757622" y="639136"/>
                  <a:pt x="9538715" y="646331"/>
                </a:cubicBezTo>
                <a:cubicBezTo>
                  <a:pt x="9319808" y="653526"/>
                  <a:pt x="9043569" y="601301"/>
                  <a:pt x="8615614" y="646331"/>
                </a:cubicBezTo>
                <a:cubicBezTo>
                  <a:pt x="8187659" y="691361"/>
                  <a:pt x="8078980" y="659333"/>
                  <a:pt x="7916295" y="646331"/>
                </a:cubicBezTo>
                <a:cubicBezTo>
                  <a:pt x="7753610" y="633329"/>
                  <a:pt x="7583983" y="636535"/>
                  <a:pt x="7440757" y="646331"/>
                </a:cubicBezTo>
                <a:cubicBezTo>
                  <a:pt x="7297531" y="656127"/>
                  <a:pt x="6918311" y="633598"/>
                  <a:pt x="6741438" y="646331"/>
                </a:cubicBezTo>
                <a:cubicBezTo>
                  <a:pt x="6564565" y="659064"/>
                  <a:pt x="6517935" y="631847"/>
                  <a:pt x="6377792" y="646331"/>
                </a:cubicBezTo>
                <a:cubicBezTo>
                  <a:pt x="6237649" y="660815"/>
                  <a:pt x="6187327" y="655841"/>
                  <a:pt x="6014146" y="646331"/>
                </a:cubicBezTo>
                <a:cubicBezTo>
                  <a:pt x="5840965" y="636821"/>
                  <a:pt x="5505913" y="641891"/>
                  <a:pt x="5314827" y="646331"/>
                </a:cubicBezTo>
                <a:cubicBezTo>
                  <a:pt x="5123741" y="650771"/>
                  <a:pt x="5032852" y="628590"/>
                  <a:pt x="4839290" y="646331"/>
                </a:cubicBezTo>
                <a:cubicBezTo>
                  <a:pt x="4645728" y="664072"/>
                  <a:pt x="4322179" y="672391"/>
                  <a:pt x="4028079" y="646331"/>
                </a:cubicBezTo>
                <a:cubicBezTo>
                  <a:pt x="3733979" y="620271"/>
                  <a:pt x="3690425" y="625571"/>
                  <a:pt x="3552542" y="646331"/>
                </a:cubicBezTo>
                <a:cubicBezTo>
                  <a:pt x="3414659" y="667091"/>
                  <a:pt x="2927998" y="659298"/>
                  <a:pt x="2741332" y="646331"/>
                </a:cubicBezTo>
                <a:cubicBezTo>
                  <a:pt x="2554666" y="633365"/>
                  <a:pt x="2456138" y="630417"/>
                  <a:pt x="2377686" y="646331"/>
                </a:cubicBezTo>
                <a:cubicBezTo>
                  <a:pt x="2299234" y="662245"/>
                  <a:pt x="1923640" y="640984"/>
                  <a:pt x="1566475" y="646331"/>
                </a:cubicBezTo>
                <a:cubicBezTo>
                  <a:pt x="1209310" y="651678"/>
                  <a:pt x="1270593" y="635296"/>
                  <a:pt x="1090938" y="646331"/>
                </a:cubicBezTo>
                <a:cubicBezTo>
                  <a:pt x="911283" y="657366"/>
                  <a:pt x="884090" y="646493"/>
                  <a:pt x="727292" y="646331"/>
                </a:cubicBezTo>
                <a:cubicBezTo>
                  <a:pt x="570494" y="646169"/>
                  <a:pt x="149079" y="680554"/>
                  <a:pt x="0" y="646331"/>
                </a:cubicBezTo>
                <a:cubicBezTo>
                  <a:pt x="4672" y="494701"/>
                  <a:pt x="16956" y="1717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Обзоры о генеративном искусственном интеллекте: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B76ED-BD6A-48E6-ACCD-1DED44C58550}"/>
              </a:ext>
            </a:extLst>
          </p:cNvPr>
          <p:cNvSpPr txBox="1"/>
          <p:nvPr/>
        </p:nvSpPr>
        <p:spPr>
          <a:xfrm>
            <a:off x="501443" y="1774055"/>
            <a:ext cx="11189109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He, X. A Survey of Defect Detection Applications Based on Generative Adversarial Networks / X. He [et al.] // IEEE Access. — 2022. — Vol. 10. — DOI: 10.1109/ACCESS.2022.317227.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He, Y. A Survey on Surface Defect Inspection Based on Generative Models in Manufacturing / Y. He, S. Li, X. Wen, J. Xu // Applied Sciences. — 2024. — Vol. 14, № 15. — P. 6774. — DOI: </a:t>
            </a:r>
            <a:r>
              <a:rPr lang="en-US" dirty="0">
                <a:hlinkClick r:id="rId2"/>
              </a:rPr>
              <a:t>https://doi.org/10.3390/app14156774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B1039-1FD5-4D0F-8138-96411C9BA3E6}"/>
              </a:ext>
            </a:extLst>
          </p:cNvPr>
          <p:cNvSpPr txBox="1"/>
          <p:nvPr/>
        </p:nvSpPr>
        <p:spPr>
          <a:xfrm>
            <a:off x="501444" y="4010506"/>
            <a:ext cx="11189108" cy="646331"/>
          </a:xfrm>
          <a:custGeom>
            <a:avLst/>
            <a:gdLst>
              <a:gd name="connsiteX0" fmla="*/ 0 w 11189108"/>
              <a:gd name="connsiteY0" fmla="*/ 0 h 646331"/>
              <a:gd name="connsiteX1" fmla="*/ 475537 w 11189108"/>
              <a:gd name="connsiteY1" fmla="*/ 0 h 646331"/>
              <a:gd name="connsiteX2" fmla="*/ 1174856 w 11189108"/>
              <a:gd name="connsiteY2" fmla="*/ 0 h 646331"/>
              <a:gd name="connsiteX3" fmla="*/ 1986067 w 11189108"/>
              <a:gd name="connsiteY3" fmla="*/ 0 h 646331"/>
              <a:gd name="connsiteX4" fmla="*/ 2349713 w 11189108"/>
              <a:gd name="connsiteY4" fmla="*/ 0 h 646331"/>
              <a:gd name="connsiteX5" fmla="*/ 2713359 w 11189108"/>
              <a:gd name="connsiteY5" fmla="*/ 0 h 646331"/>
              <a:gd name="connsiteX6" fmla="*/ 3636460 w 11189108"/>
              <a:gd name="connsiteY6" fmla="*/ 0 h 646331"/>
              <a:gd name="connsiteX7" fmla="*/ 4335779 w 11189108"/>
              <a:gd name="connsiteY7" fmla="*/ 0 h 646331"/>
              <a:gd name="connsiteX8" fmla="*/ 4699425 w 11189108"/>
              <a:gd name="connsiteY8" fmla="*/ 0 h 646331"/>
              <a:gd name="connsiteX9" fmla="*/ 5398745 w 11189108"/>
              <a:gd name="connsiteY9" fmla="*/ 0 h 646331"/>
              <a:gd name="connsiteX10" fmla="*/ 6321846 w 11189108"/>
              <a:gd name="connsiteY10" fmla="*/ 0 h 646331"/>
              <a:gd name="connsiteX11" fmla="*/ 6909274 w 11189108"/>
              <a:gd name="connsiteY11" fmla="*/ 0 h 646331"/>
              <a:gd name="connsiteX12" fmla="*/ 7496702 w 11189108"/>
              <a:gd name="connsiteY12" fmla="*/ 0 h 646331"/>
              <a:gd name="connsiteX13" fmla="*/ 8196022 w 11189108"/>
              <a:gd name="connsiteY13" fmla="*/ 0 h 646331"/>
              <a:gd name="connsiteX14" fmla="*/ 9007232 w 11189108"/>
              <a:gd name="connsiteY14" fmla="*/ 0 h 646331"/>
              <a:gd name="connsiteX15" fmla="*/ 9818442 w 11189108"/>
              <a:gd name="connsiteY15" fmla="*/ 0 h 646331"/>
              <a:gd name="connsiteX16" fmla="*/ 11189108 w 11189108"/>
              <a:gd name="connsiteY16" fmla="*/ 0 h 646331"/>
              <a:gd name="connsiteX17" fmla="*/ 11189108 w 11189108"/>
              <a:gd name="connsiteY17" fmla="*/ 646331 h 646331"/>
              <a:gd name="connsiteX18" fmla="*/ 10713571 w 11189108"/>
              <a:gd name="connsiteY18" fmla="*/ 646331 h 646331"/>
              <a:gd name="connsiteX19" fmla="*/ 9790470 w 11189108"/>
              <a:gd name="connsiteY19" fmla="*/ 646331 h 646331"/>
              <a:gd name="connsiteX20" fmla="*/ 9091150 w 11189108"/>
              <a:gd name="connsiteY20" fmla="*/ 646331 h 646331"/>
              <a:gd name="connsiteX21" fmla="*/ 8727504 w 11189108"/>
              <a:gd name="connsiteY21" fmla="*/ 646331 h 646331"/>
              <a:gd name="connsiteX22" fmla="*/ 8028185 w 11189108"/>
              <a:gd name="connsiteY22" fmla="*/ 646331 h 646331"/>
              <a:gd name="connsiteX23" fmla="*/ 7440757 w 11189108"/>
              <a:gd name="connsiteY23" fmla="*/ 646331 h 646331"/>
              <a:gd name="connsiteX24" fmla="*/ 6853329 w 11189108"/>
              <a:gd name="connsiteY24" fmla="*/ 646331 h 646331"/>
              <a:gd name="connsiteX25" fmla="*/ 6265900 w 11189108"/>
              <a:gd name="connsiteY25" fmla="*/ 646331 h 646331"/>
              <a:gd name="connsiteX26" fmla="*/ 5678472 w 11189108"/>
              <a:gd name="connsiteY26" fmla="*/ 646331 h 646331"/>
              <a:gd name="connsiteX27" fmla="*/ 4867262 w 11189108"/>
              <a:gd name="connsiteY27" fmla="*/ 646331 h 646331"/>
              <a:gd name="connsiteX28" fmla="*/ 4167943 w 11189108"/>
              <a:gd name="connsiteY28" fmla="*/ 646331 h 646331"/>
              <a:gd name="connsiteX29" fmla="*/ 3804297 w 11189108"/>
              <a:gd name="connsiteY29" fmla="*/ 646331 h 646331"/>
              <a:gd name="connsiteX30" fmla="*/ 3216869 w 11189108"/>
              <a:gd name="connsiteY30" fmla="*/ 646331 h 646331"/>
              <a:gd name="connsiteX31" fmla="*/ 2405658 w 11189108"/>
              <a:gd name="connsiteY31" fmla="*/ 646331 h 646331"/>
              <a:gd name="connsiteX32" fmla="*/ 1930121 w 11189108"/>
              <a:gd name="connsiteY32" fmla="*/ 646331 h 646331"/>
              <a:gd name="connsiteX33" fmla="*/ 1007020 w 11189108"/>
              <a:gd name="connsiteY33" fmla="*/ 646331 h 646331"/>
              <a:gd name="connsiteX34" fmla="*/ 0 w 11189108"/>
              <a:gd name="connsiteY34" fmla="*/ 646331 h 646331"/>
              <a:gd name="connsiteX35" fmla="*/ 0 w 11189108"/>
              <a:gd name="connsiteY35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189108" h="646331" fill="none" extrusionOk="0">
                <a:moveTo>
                  <a:pt x="0" y="0"/>
                </a:moveTo>
                <a:cubicBezTo>
                  <a:pt x="113617" y="225"/>
                  <a:pt x="258678" y="-7030"/>
                  <a:pt x="475537" y="0"/>
                </a:cubicBezTo>
                <a:cubicBezTo>
                  <a:pt x="692396" y="7030"/>
                  <a:pt x="999422" y="-21279"/>
                  <a:pt x="1174856" y="0"/>
                </a:cubicBezTo>
                <a:cubicBezTo>
                  <a:pt x="1350290" y="21279"/>
                  <a:pt x="1628543" y="-38865"/>
                  <a:pt x="1986067" y="0"/>
                </a:cubicBezTo>
                <a:cubicBezTo>
                  <a:pt x="2343591" y="38865"/>
                  <a:pt x="2244213" y="-14947"/>
                  <a:pt x="2349713" y="0"/>
                </a:cubicBezTo>
                <a:cubicBezTo>
                  <a:pt x="2455213" y="14947"/>
                  <a:pt x="2621393" y="-13526"/>
                  <a:pt x="2713359" y="0"/>
                </a:cubicBezTo>
                <a:cubicBezTo>
                  <a:pt x="2805325" y="13526"/>
                  <a:pt x="3332092" y="-40317"/>
                  <a:pt x="3636460" y="0"/>
                </a:cubicBezTo>
                <a:cubicBezTo>
                  <a:pt x="3940828" y="40317"/>
                  <a:pt x="4074239" y="-12478"/>
                  <a:pt x="4335779" y="0"/>
                </a:cubicBezTo>
                <a:cubicBezTo>
                  <a:pt x="4597319" y="12478"/>
                  <a:pt x="4585375" y="-6710"/>
                  <a:pt x="4699425" y="0"/>
                </a:cubicBezTo>
                <a:cubicBezTo>
                  <a:pt x="4813475" y="6710"/>
                  <a:pt x="5186262" y="24816"/>
                  <a:pt x="5398745" y="0"/>
                </a:cubicBezTo>
                <a:cubicBezTo>
                  <a:pt x="5611228" y="-24816"/>
                  <a:pt x="5917754" y="39050"/>
                  <a:pt x="6321846" y="0"/>
                </a:cubicBezTo>
                <a:cubicBezTo>
                  <a:pt x="6725938" y="-39050"/>
                  <a:pt x="6654012" y="13578"/>
                  <a:pt x="6909274" y="0"/>
                </a:cubicBezTo>
                <a:cubicBezTo>
                  <a:pt x="7164536" y="-13578"/>
                  <a:pt x="7315829" y="-27395"/>
                  <a:pt x="7496702" y="0"/>
                </a:cubicBezTo>
                <a:cubicBezTo>
                  <a:pt x="7677575" y="27395"/>
                  <a:pt x="7893060" y="874"/>
                  <a:pt x="8196022" y="0"/>
                </a:cubicBezTo>
                <a:cubicBezTo>
                  <a:pt x="8498984" y="-874"/>
                  <a:pt x="8722636" y="-27936"/>
                  <a:pt x="9007232" y="0"/>
                </a:cubicBezTo>
                <a:cubicBezTo>
                  <a:pt x="9291828" y="27936"/>
                  <a:pt x="9469708" y="-34520"/>
                  <a:pt x="9818442" y="0"/>
                </a:cubicBezTo>
                <a:cubicBezTo>
                  <a:pt x="10167176" y="34520"/>
                  <a:pt x="10840887" y="-37188"/>
                  <a:pt x="11189108" y="0"/>
                </a:cubicBezTo>
                <a:cubicBezTo>
                  <a:pt x="11203432" y="296460"/>
                  <a:pt x="11165988" y="486854"/>
                  <a:pt x="11189108" y="646331"/>
                </a:cubicBezTo>
                <a:cubicBezTo>
                  <a:pt x="10978164" y="646584"/>
                  <a:pt x="10858105" y="648414"/>
                  <a:pt x="10713571" y="646331"/>
                </a:cubicBezTo>
                <a:cubicBezTo>
                  <a:pt x="10569037" y="644248"/>
                  <a:pt x="10168057" y="607163"/>
                  <a:pt x="9790470" y="646331"/>
                </a:cubicBezTo>
                <a:cubicBezTo>
                  <a:pt x="9412883" y="685499"/>
                  <a:pt x="9354804" y="666278"/>
                  <a:pt x="9091150" y="646331"/>
                </a:cubicBezTo>
                <a:cubicBezTo>
                  <a:pt x="8827496" y="626384"/>
                  <a:pt x="8811227" y="644846"/>
                  <a:pt x="8727504" y="646331"/>
                </a:cubicBezTo>
                <a:cubicBezTo>
                  <a:pt x="8643781" y="647816"/>
                  <a:pt x="8172168" y="662876"/>
                  <a:pt x="8028185" y="646331"/>
                </a:cubicBezTo>
                <a:cubicBezTo>
                  <a:pt x="7884202" y="629786"/>
                  <a:pt x="7637599" y="658107"/>
                  <a:pt x="7440757" y="646331"/>
                </a:cubicBezTo>
                <a:cubicBezTo>
                  <a:pt x="7243915" y="634555"/>
                  <a:pt x="6977612" y="640252"/>
                  <a:pt x="6853329" y="646331"/>
                </a:cubicBezTo>
                <a:cubicBezTo>
                  <a:pt x="6729046" y="652410"/>
                  <a:pt x="6390831" y="633548"/>
                  <a:pt x="6265900" y="646331"/>
                </a:cubicBezTo>
                <a:cubicBezTo>
                  <a:pt x="6140969" y="659114"/>
                  <a:pt x="5953924" y="631432"/>
                  <a:pt x="5678472" y="646331"/>
                </a:cubicBezTo>
                <a:cubicBezTo>
                  <a:pt x="5403020" y="661230"/>
                  <a:pt x="5077854" y="633905"/>
                  <a:pt x="4867262" y="646331"/>
                </a:cubicBezTo>
                <a:cubicBezTo>
                  <a:pt x="4656670" y="658758"/>
                  <a:pt x="4427065" y="677258"/>
                  <a:pt x="4167943" y="646331"/>
                </a:cubicBezTo>
                <a:cubicBezTo>
                  <a:pt x="3908821" y="615404"/>
                  <a:pt x="3882557" y="635872"/>
                  <a:pt x="3804297" y="646331"/>
                </a:cubicBezTo>
                <a:cubicBezTo>
                  <a:pt x="3726037" y="656790"/>
                  <a:pt x="3380377" y="638812"/>
                  <a:pt x="3216869" y="646331"/>
                </a:cubicBezTo>
                <a:cubicBezTo>
                  <a:pt x="3053361" y="653850"/>
                  <a:pt x="2685036" y="630484"/>
                  <a:pt x="2405658" y="646331"/>
                </a:cubicBezTo>
                <a:cubicBezTo>
                  <a:pt x="2126280" y="662178"/>
                  <a:pt x="2031107" y="642275"/>
                  <a:pt x="1930121" y="646331"/>
                </a:cubicBezTo>
                <a:cubicBezTo>
                  <a:pt x="1829135" y="650387"/>
                  <a:pt x="1350372" y="646121"/>
                  <a:pt x="1007020" y="646331"/>
                </a:cubicBezTo>
                <a:cubicBezTo>
                  <a:pt x="663668" y="646541"/>
                  <a:pt x="371269" y="681396"/>
                  <a:pt x="0" y="646331"/>
                </a:cubicBezTo>
                <a:cubicBezTo>
                  <a:pt x="-20127" y="469620"/>
                  <a:pt x="-12141" y="143814"/>
                  <a:pt x="0" y="0"/>
                </a:cubicBezTo>
                <a:close/>
              </a:path>
              <a:path w="11189108" h="646331" stroke="0" extrusionOk="0">
                <a:moveTo>
                  <a:pt x="0" y="0"/>
                </a:moveTo>
                <a:cubicBezTo>
                  <a:pt x="161979" y="-10174"/>
                  <a:pt x="325146" y="-20242"/>
                  <a:pt x="587428" y="0"/>
                </a:cubicBezTo>
                <a:cubicBezTo>
                  <a:pt x="849710" y="20242"/>
                  <a:pt x="791362" y="6222"/>
                  <a:pt x="951074" y="0"/>
                </a:cubicBezTo>
                <a:cubicBezTo>
                  <a:pt x="1110786" y="-6222"/>
                  <a:pt x="1527072" y="22040"/>
                  <a:pt x="1874176" y="0"/>
                </a:cubicBezTo>
                <a:cubicBezTo>
                  <a:pt x="2221280" y="-22040"/>
                  <a:pt x="2286199" y="27995"/>
                  <a:pt x="2461604" y="0"/>
                </a:cubicBezTo>
                <a:cubicBezTo>
                  <a:pt x="2637009" y="-27995"/>
                  <a:pt x="2883465" y="6200"/>
                  <a:pt x="3049032" y="0"/>
                </a:cubicBezTo>
                <a:cubicBezTo>
                  <a:pt x="3214599" y="-6200"/>
                  <a:pt x="3636979" y="-13475"/>
                  <a:pt x="3972133" y="0"/>
                </a:cubicBezTo>
                <a:cubicBezTo>
                  <a:pt x="4307287" y="13475"/>
                  <a:pt x="4339131" y="-9202"/>
                  <a:pt x="4447670" y="0"/>
                </a:cubicBezTo>
                <a:cubicBezTo>
                  <a:pt x="4556209" y="9202"/>
                  <a:pt x="5166796" y="31065"/>
                  <a:pt x="5370772" y="0"/>
                </a:cubicBezTo>
                <a:cubicBezTo>
                  <a:pt x="5574748" y="-31065"/>
                  <a:pt x="5954193" y="-41724"/>
                  <a:pt x="6293873" y="0"/>
                </a:cubicBezTo>
                <a:cubicBezTo>
                  <a:pt x="6633553" y="41724"/>
                  <a:pt x="6657277" y="20319"/>
                  <a:pt x="6993193" y="0"/>
                </a:cubicBezTo>
                <a:cubicBezTo>
                  <a:pt x="7329109" y="-20319"/>
                  <a:pt x="7561670" y="40354"/>
                  <a:pt x="7916294" y="0"/>
                </a:cubicBezTo>
                <a:cubicBezTo>
                  <a:pt x="8270918" y="-40354"/>
                  <a:pt x="8339420" y="14417"/>
                  <a:pt x="8503722" y="0"/>
                </a:cubicBezTo>
                <a:cubicBezTo>
                  <a:pt x="8668024" y="-14417"/>
                  <a:pt x="8946754" y="21649"/>
                  <a:pt x="9091150" y="0"/>
                </a:cubicBezTo>
                <a:cubicBezTo>
                  <a:pt x="9235546" y="-21649"/>
                  <a:pt x="9734416" y="-1484"/>
                  <a:pt x="9902361" y="0"/>
                </a:cubicBezTo>
                <a:cubicBezTo>
                  <a:pt x="10070306" y="1484"/>
                  <a:pt x="10312956" y="21406"/>
                  <a:pt x="10489789" y="0"/>
                </a:cubicBezTo>
                <a:cubicBezTo>
                  <a:pt x="10666622" y="-21406"/>
                  <a:pt x="11043460" y="-34517"/>
                  <a:pt x="11189108" y="0"/>
                </a:cubicBezTo>
                <a:cubicBezTo>
                  <a:pt x="11184456" y="236843"/>
                  <a:pt x="11168759" y="502642"/>
                  <a:pt x="11189108" y="646331"/>
                </a:cubicBezTo>
                <a:cubicBezTo>
                  <a:pt x="10950802" y="685268"/>
                  <a:pt x="10673659" y="616619"/>
                  <a:pt x="10377898" y="646331"/>
                </a:cubicBezTo>
                <a:cubicBezTo>
                  <a:pt x="10082137" y="676044"/>
                  <a:pt x="10098544" y="653374"/>
                  <a:pt x="10014252" y="646331"/>
                </a:cubicBezTo>
                <a:cubicBezTo>
                  <a:pt x="9929960" y="639288"/>
                  <a:pt x="9755828" y="630292"/>
                  <a:pt x="9538715" y="646331"/>
                </a:cubicBezTo>
                <a:cubicBezTo>
                  <a:pt x="9321602" y="662370"/>
                  <a:pt x="9046771" y="601413"/>
                  <a:pt x="8615613" y="646331"/>
                </a:cubicBezTo>
                <a:cubicBezTo>
                  <a:pt x="8184455" y="691249"/>
                  <a:pt x="8078979" y="659333"/>
                  <a:pt x="7916294" y="646331"/>
                </a:cubicBezTo>
                <a:cubicBezTo>
                  <a:pt x="7753609" y="633329"/>
                  <a:pt x="7578344" y="628412"/>
                  <a:pt x="7440757" y="646331"/>
                </a:cubicBezTo>
                <a:cubicBezTo>
                  <a:pt x="7303170" y="664250"/>
                  <a:pt x="6918311" y="633598"/>
                  <a:pt x="6741438" y="646331"/>
                </a:cubicBezTo>
                <a:cubicBezTo>
                  <a:pt x="6564565" y="659064"/>
                  <a:pt x="6517935" y="631847"/>
                  <a:pt x="6377792" y="646331"/>
                </a:cubicBezTo>
                <a:cubicBezTo>
                  <a:pt x="6237649" y="660815"/>
                  <a:pt x="6187327" y="655841"/>
                  <a:pt x="6014146" y="646331"/>
                </a:cubicBezTo>
                <a:cubicBezTo>
                  <a:pt x="5840965" y="636821"/>
                  <a:pt x="5507411" y="644265"/>
                  <a:pt x="5314826" y="646331"/>
                </a:cubicBezTo>
                <a:cubicBezTo>
                  <a:pt x="5122241" y="648397"/>
                  <a:pt x="5032851" y="628590"/>
                  <a:pt x="4839289" y="646331"/>
                </a:cubicBezTo>
                <a:cubicBezTo>
                  <a:pt x="4645727" y="664072"/>
                  <a:pt x="4321572" y="668572"/>
                  <a:pt x="4028079" y="646331"/>
                </a:cubicBezTo>
                <a:cubicBezTo>
                  <a:pt x="3734586" y="624091"/>
                  <a:pt x="3690425" y="625571"/>
                  <a:pt x="3552542" y="646331"/>
                </a:cubicBezTo>
                <a:cubicBezTo>
                  <a:pt x="3414659" y="667091"/>
                  <a:pt x="2928409" y="662311"/>
                  <a:pt x="2741331" y="646331"/>
                </a:cubicBezTo>
                <a:cubicBezTo>
                  <a:pt x="2554253" y="630351"/>
                  <a:pt x="2456137" y="630417"/>
                  <a:pt x="2377685" y="646331"/>
                </a:cubicBezTo>
                <a:cubicBezTo>
                  <a:pt x="2299233" y="662245"/>
                  <a:pt x="1922740" y="637730"/>
                  <a:pt x="1566475" y="646331"/>
                </a:cubicBezTo>
                <a:cubicBezTo>
                  <a:pt x="1210210" y="654933"/>
                  <a:pt x="1270593" y="635296"/>
                  <a:pt x="1090938" y="646331"/>
                </a:cubicBezTo>
                <a:cubicBezTo>
                  <a:pt x="911283" y="657366"/>
                  <a:pt x="884090" y="646493"/>
                  <a:pt x="727292" y="646331"/>
                </a:cubicBezTo>
                <a:cubicBezTo>
                  <a:pt x="570494" y="646169"/>
                  <a:pt x="149079" y="680554"/>
                  <a:pt x="0" y="646331"/>
                </a:cubicBezTo>
                <a:cubicBezTo>
                  <a:pt x="4672" y="494701"/>
                  <a:pt x="16956" y="1717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Обзоры о </a:t>
            </a:r>
            <a:r>
              <a:rPr lang="ru-RU" sz="3600" b="1" dirty="0" err="1">
                <a:solidFill>
                  <a:srgbClr val="0A3830"/>
                </a:solidFill>
              </a:rPr>
              <a:t>сверточных</a:t>
            </a:r>
            <a:r>
              <a:rPr lang="ru-RU" sz="3600" b="1" dirty="0">
                <a:solidFill>
                  <a:srgbClr val="0A3830"/>
                </a:solidFill>
              </a:rPr>
              <a:t> нейронных сетях: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09996-BDB7-40AC-B143-1BA0F75266B4}"/>
              </a:ext>
            </a:extLst>
          </p:cNvPr>
          <p:cNvSpPr txBox="1"/>
          <p:nvPr/>
        </p:nvSpPr>
        <p:spPr>
          <a:xfrm>
            <a:off x="501442" y="4813659"/>
            <a:ext cx="1118911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Khan, A. A Survey of the Recent Architectures of Deep Convolutional Neural Networks [</a:t>
            </a:r>
            <a:r>
              <a:rPr lang="ru-RU" dirty="0"/>
              <a:t>Электронный ресурс] / </a:t>
            </a:r>
            <a:r>
              <a:rPr lang="en-US" dirty="0"/>
              <a:t>A. Khan, A. </a:t>
            </a:r>
            <a:r>
              <a:rPr lang="en-US" dirty="0" err="1"/>
              <a:t>Sohail</a:t>
            </a:r>
            <a:r>
              <a:rPr lang="en-US" dirty="0"/>
              <a:t>, U. </a:t>
            </a:r>
            <a:r>
              <a:rPr lang="en-US" dirty="0" err="1"/>
              <a:t>Zahoora</a:t>
            </a:r>
            <a:r>
              <a:rPr lang="en-US" dirty="0"/>
              <a:t>, A.S. Qureshi // Artificial Intelligence Review. – 2020. – Vol. 53, № 8. – P. 5455–5516. – </a:t>
            </a:r>
            <a:r>
              <a:rPr lang="ru-RU" dirty="0"/>
              <a:t>Режим доступа: </a:t>
            </a:r>
            <a:r>
              <a:rPr lang="en-US" dirty="0"/>
              <a:t>https://arxiv.org/abs/1901.06032. – </a:t>
            </a:r>
            <a:r>
              <a:rPr lang="ru-RU" dirty="0"/>
              <a:t>Дата доступа: </a:t>
            </a:r>
            <a:r>
              <a:rPr lang="en-US" dirty="0"/>
              <a:t>18</a:t>
            </a:r>
            <a:r>
              <a:rPr lang="ru-RU" dirty="0"/>
              <a:t>.</a:t>
            </a:r>
            <a:r>
              <a:rPr lang="en-US" dirty="0"/>
              <a:t>10</a:t>
            </a:r>
            <a:r>
              <a:rPr lang="ru-RU" dirty="0"/>
              <a:t>.202</a:t>
            </a:r>
            <a:r>
              <a:rPr lang="en-US" dirty="0"/>
              <a:t>5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262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9C410-CE84-4CB6-A1A8-4FB681453D4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Фундаментальные статьи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FED038-F0AC-4AE8-A136-79721510CD2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Simonyan</a:t>
            </a:r>
            <a:r>
              <a:rPr lang="en-US" sz="1800" dirty="0"/>
              <a:t> K., Zisserman A. Very Deep Convolutional Networks for Large-Scale Image Recognition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2015. — arXiv:1409.1556 [cs.CV]. — Version v6, last revised 10 Apr 2015. — URL: https://arxiv.org/abs/1409.1556. — DOI: 10.48550/arXiv.1409.1556.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Xu G., Wang X., Wu X., </a:t>
            </a:r>
            <a:r>
              <a:rPr lang="en-US" sz="1800" dirty="0" err="1"/>
              <a:t>Leng</a:t>
            </a:r>
            <a:r>
              <a:rPr lang="en-US" sz="1800" dirty="0"/>
              <a:t> X., Xu Y. Development of Skip Connection in Deep Neural Networks for Computer Vision and Medical Image Analysis: A Survey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2024. — arXiv:2405.01725 [</a:t>
            </a:r>
            <a:r>
              <a:rPr lang="en-US" sz="1800" dirty="0" err="1"/>
              <a:t>eess.IV</a:t>
            </a:r>
            <a:r>
              <a:rPr lang="en-US" sz="1800" dirty="0"/>
              <a:t>]. — Version v1, 02 May 2024. — URL: </a:t>
            </a:r>
            <a:r>
              <a:rPr lang="en-US" sz="1800" dirty="0">
                <a:hlinkClick r:id="rId2"/>
              </a:rPr>
              <a:t>https://arxiv.org/abs/2405.01725</a:t>
            </a:r>
            <a:r>
              <a:rPr lang="en-US" sz="1800" dirty="0"/>
              <a:t>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He K., Zhang X., Ren S., Sun J. Deep Residual Learning for Image Recognition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2015. — arXiv:1512.03385 [cs.CV]. — Version v1, 10 Dec 2015. — URL: https://arxiv.org/abs/1512.03385. — DOI: 10.48550/arXiv.1512.03385.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Kingma</a:t>
            </a:r>
            <a:r>
              <a:rPr lang="en-US" sz="1800" dirty="0"/>
              <a:t> D. P., Welling M. Auto-Encoding Variational Bayes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2022. — arXiv:1312.6114 [stat.ML]. — Version v11, last revised 10 Dec 2022; Originally submitted 20 Dec 2013. — URL: https://arxiv.org/abs/1312.6114.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6170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CFA95-7A10-41B6-8942-F3D5E49A0F89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Статьи об </a:t>
            </a:r>
            <a:r>
              <a:rPr lang="ru-RU" sz="5400" b="1" dirty="0" err="1">
                <a:solidFill>
                  <a:srgbClr val="0A3830"/>
                </a:solidFill>
              </a:rPr>
              <a:t>автоэнкодерах</a:t>
            </a:r>
            <a:r>
              <a:rPr lang="ru-RU" sz="5400" b="1" dirty="0">
                <a:solidFill>
                  <a:srgbClr val="0A3830"/>
                </a:solidFill>
              </a:rPr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0986A-FA8E-4FD5-941E-3FE6599518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Cui Y., Liu Z., Lian S. Patch-wise Auto-Encoder for Visual Anomaly Detection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2024. — arXiv:2308.00429 [cs.CV]. — Version v2, 14 Aug 2024. — URL: </a:t>
            </a:r>
            <a:r>
              <a:rPr lang="en-US" sz="1800" dirty="0">
                <a:hlinkClick r:id="rId2"/>
              </a:rPr>
              <a:t>https://arxiv.org/abs/2308.00429</a:t>
            </a:r>
            <a:r>
              <a:rPr lang="en-US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Kosko</a:t>
            </a:r>
            <a:r>
              <a:rPr lang="en-US" sz="1800" dirty="0"/>
              <a:t> B., Adigun O. Bidirectional Variational Autoencoders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2025. — arXiv:2505.16074 [</a:t>
            </a:r>
            <a:r>
              <a:rPr lang="en-US" sz="1800" dirty="0" err="1"/>
              <a:t>cs.LG</a:t>
            </a:r>
            <a:r>
              <a:rPr lang="en-US" sz="1800" dirty="0"/>
              <a:t>]. — Version v1, 21 May 2025. — URL: </a:t>
            </a:r>
            <a:r>
              <a:rPr lang="en-US" sz="1800" dirty="0">
                <a:hlinkClick r:id="rId3"/>
              </a:rPr>
              <a:t>https://arxiv.org/abs/2505.16074</a:t>
            </a:r>
            <a:r>
              <a:rPr lang="en-US" sz="1800" dirty="0"/>
              <a:t>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Walczyna</a:t>
            </a:r>
            <a:r>
              <a:rPr lang="en-US" sz="1800" dirty="0"/>
              <a:t> T., Jankowski D., Piotrowski Z. Enhancing Anomaly Detection Through Latent Space Manipulation in Autoencoders: A Comparative Analysis // Applied Sciences. — 2025. — Vol. 15, No. 1. — P. 286. — DOI: 10.3390/app15010286.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Chandra R., Grover S., Lee K., </a:t>
            </a:r>
            <a:r>
              <a:rPr lang="en-US" sz="1800" dirty="0" err="1"/>
              <a:t>Meshry</a:t>
            </a:r>
            <a:r>
              <a:rPr lang="en-US" sz="1800" dirty="0"/>
              <a:t> M., Taha A. Texture Synthesis with Recurrent Variational Auto-Encoder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2017. — arXiv:1712.08838 [cs.CV]. — URL: https://arxiv.org/abs/1712.08838 (date of access: 23.12.2017).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Doersch</a:t>
            </a:r>
            <a:r>
              <a:rPr lang="en-US" sz="1800" dirty="0"/>
              <a:t>, C. Tutorial on Variational Autoencoders [</a:t>
            </a:r>
            <a:r>
              <a:rPr lang="ru-RU" sz="1800" dirty="0"/>
              <a:t>Электронный ресурс] / </a:t>
            </a:r>
            <a:r>
              <a:rPr lang="en-US" sz="1800" dirty="0"/>
              <a:t>C. </a:t>
            </a:r>
            <a:r>
              <a:rPr lang="en-US" sz="1800" dirty="0" err="1"/>
              <a:t>Doersch</a:t>
            </a:r>
            <a:r>
              <a:rPr lang="en-US" sz="1800" dirty="0"/>
              <a:t>. — 2021. — </a:t>
            </a:r>
            <a:r>
              <a:rPr lang="ru-RU" sz="1800" dirty="0"/>
              <a:t>Режим доступа: </a:t>
            </a:r>
            <a:r>
              <a:rPr lang="en-US" sz="1800" dirty="0"/>
              <a:t>https://arxiv.org/abs/1606.05030. — </a:t>
            </a:r>
            <a:r>
              <a:rPr lang="ru-RU" sz="1800" dirty="0"/>
              <a:t>Дата доступа: 02.12.2022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84120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C511C-6A96-473D-82D8-57747B9E78F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Другие статьи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6BCE3F-3AD0-4DFA-BD44-2500387072B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Staar</a:t>
            </a:r>
            <a:r>
              <a:rPr lang="en-US" dirty="0"/>
              <a:t>, B. Anomaly detection with convolutional neural networks for industrial surface inspection [</a:t>
            </a:r>
            <a:r>
              <a:rPr lang="ru-RU" dirty="0"/>
              <a:t>Электронный ресурс] / </a:t>
            </a:r>
            <a:r>
              <a:rPr lang="en-US" dirty="0"/>
              <a:t>B. </a:t>
            </a:r>
            <a:r>
              <a:rPr lang="en-US" dirty="0" err="1"/>
              <a:t>Staar</a:t>
            </a:r>
            <a:r>
              <a:rPr lang="en-US" dirty="0"/>
              <a:t>, M. </a:t>
            </a:r>
            <a:r>
              <a:rPr lang="en-US" dirty="0" err="1"/>
              <a:t>Lütjen</a:t>
            </a:r>
            <a:r>
              <a:rPr lang="en-US" dirty="0"/>
              <a:t>, M. Freitag // Procedia CIRP: </a:t>
            </a:r>
            <a:r>
              <a:rPr lang="ru-RU" dirty="0"/>
              <a:t>материалы 12</a:t>
            </a:r>
            <a:r>
              <a:rPr lang="en-US" dirty="0" err="1"/>
              <a:t>th</a:t>
            </a:r>
            <a:r>
              <a:rPr lang="en-US" dirty="0"/>
              <a:t> CIRP Conference on Intelligent Computation in Manufacturing Engineering, Gulf of Naples, Italy, 18–20 July 2018 </a:t>
            </a:r>
            <a:r>
              <a:rPr lang="ru-RU" dirty="0"/>
              <a:t>г. – 2018. – </a:t>
            </a:r>
            <a:r>
              <a:rPr lang="en-US" dirty="0"/>
              <a:t>Vol. 72. – P. 1408–1413. – </a:t>
            </a:r>
            <a:r>
              <a:rPr lang="ru-RU" dirty="0"/>
              <a:t>Режим доступа: </a:t>
            </a:r>
            <a:r>
              <a:rPr lang="en-US" dirty="0"/>
              <a:t>https://www.sciencedirect.com/science/article/pii/S2212827118303080. – </a:t>
            </a:r>
            <a:r>
              <a:rPr lang="ru-RU" dirty="0"/>
              <a:t>Дата доступа: 25.09.2023.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Yang, Y. A High-Performance Deep Learning Algorithm for the Automated Optical Inspection of Laser Welding [</a:t>
            </a:r>
            <a:r>
              <a:rPr lang="ru-RU" dirty="0"/>
              <a:t>Электронный ресурс] / </a:t>
            </a:r>
            <a:r>
              <a:rPr lang="en-US" dirty="0"/>
              <a:t>Y. Yang, L. Pan, J. Ma, R. Yang [</a:t>
            </a:r>
            <a:r>
              <a:rPr lang="ru-RU" dirty="0"/>
              <a:t>и др.] // </a:t>
            </a:r>
            <a:r>
              <a:rPr lang="en-US" dirty="0"/>
              <a:t>Applied Sciences. – 2020. – Vol. 10, № 3. – P. 933. – </a:t>
            </a:r>
            <a:r>
              <a:rPr lang="ru-RU" dirty="0"/>
              <a:t>Режим доступа: </a:t>
            </a:r>
            <a:r>
              <a:rPr lang="en-US" dirty="0"/>
              <a:t>https://www.mdpi.com/2076-3417/10/3/933. – </a:t>
            </a:r>
            <a:r>
              <a:rPr lang="ru-RU" dirty="0"/>
              <a:t>Дата доступа: 25.09.2023.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Medel</a:t>
            </a:r>
            <a:r>
              <a:rPr lang="en-US" dirty="0"/>
              <a:t> J. R., Savakis A. Anomaly Detection in Video Using Predictive Convolutional Long Short-Term Memory Networks [Electronic resource] // </a:t>
            </a:r>
            <a:r>
              <a:rPr lang="en-US" dirty="0" err="1"/>
              <a:t>arXiv</a:t>
            </a:r>
            <a:r>
              <a:rPr lang="en-US" dirty="0"/>
              <a:t> preprint. — 2016. — arXiv:1612.00390 [cs.CV]. — Version v2, last revised 15 Dec 2016. — URL: https://arxiv.org/abs/1612.00390. — DOI: 10.48550/arXiv.1612.00390.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Kulkarni T. D., Whitney W., Kohli P., Tenenbaum J. B. Deep Convolutional Inverse Graphics Network [Electronic resource] // </a:t>
            </a:r>
            <a:r>
              <a:rPr lang="en-US" dirty="0" err="1"/>
              <a:t>arXiv</a:t>
            </a:r>
            <a:r>
              <a:rPr lang="en-US" dirty="0"/>
              <a:t> preprint. — 2015. — arXiv:1503.03167 [cs.CV]. — Version v4, last revised 22 Jun 2015. — URL: https://arxiv.org/abs/1503.03167. — DOI: 10.48550/arXiv.1503.03167.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Kowalczyk N., </a:t>
            </a:r>
            <a:r>
              <a:rPr lang="en-US" dirty="0" err="1"/>
              <a:t>Ruminski</a:t>
            </a:r>
            <a:r>
              <a:rPr lang="en-US" dirty="0"/>
              <a:t> J. Mask Detection and Classification in Thermal Face Images // IEEE Access. 2023. Vol. 11. P. 4349–4359. DOI: 10.1109/ACCESS.2023.3272214.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098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4075D-E76D-41EB-AED3-D731EC59C639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noFill/>
          <a:ln w="88900"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Спасибо за внимание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44F2674-479F-45BB-842E-0DD4CF0412C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76" y="2141537"/>
            <a:ext cx="6289848" cy="4351338"/>
          </a:xfrm>
          <a:custGeom>
            <a:avLst/>
            <a:gdLst>
              <a:gd name="connsiteX0" fmla="*/ 0 w 6289848"/>
              <a:gd name="connsiteY0" fmla="*/ 0 h 4351338"/>
              <a:gd name="connsiteX1" fmla="*/ 383109 w 6289848"/>
              <a:gd name="connsiteY1" fmla="*/ 0 h 4351338"/>
              <a:gd name="connsiteX2" fmla="*/ 766218 w 6289848"/>
              <a:gd name="connsiteY2" fmla="*/ 0 h 4351338"/>
              <a:gd name="connsiteX3" fmla="*/ 1149327 w 6289848"/>
              <a:gd name="connsiteY3" fmla="*/ 0 h 4351338"/>
              <a:gd name="connsiteX4" fmla="*/ 1846928 w 6289848"/>
              <a:gd name="connsiteY4" fmla="*/ 0 h 4351338"/>
              <a:gd name="connsiteX5" fmla="*/ 2418732 w 6289848"/>
              <a:gd name="connsiteY5" fmla="*/ 0 h 4351338"/>
              <a:gd name="connsiteX6" fmla="*/ 2801841 w 6289848"/>
              <a:gd name="connsiteY6" fmla="*/ 0 h 4351338"/>
              <a:gd name="connsiteX7" fmla="*/ 3373646 w 6289848"/>
              <a:gd name="connsiteY7" fmla="*/ 0 h 4351338"/>
              <a:gd name="connsiteX8" fmla="*/ 4071247 w 6289848"/>
              <a:gd name="connsiteY8" fmla="*/ 0 h 4351338"/>
              <a:gd name="connsiteX9" fmla="*/ 4580153 w 6289848"/>
              <a:gd name="connsiteY9" fmla="*/ 0 h 4351338"/>
              <a:gd name="connsiteX10" fmla="*/ 5089059 w 6289848"/>
              <a:gd name="connsiteY10" fmla="*/ 0 h 4351338"/>
              <a:gd name="connsiteX11" fmla="*/ 5660863 w 6289848"/>
              <a:gd name="connsiteY11" fmla="*/ 0 h 4351338"/>
              <a:gd name="connsiteX12" fmla="*/ 6289848 w 6289848"/>
              <a:gd name="connsiteY12" fmla="*/ 0 h 4351338"/>
              <a:gd name="connsiteX13" fmla="*/ 6289848 w 6289848"/>
              <a:gd name="connsiteY13" fmla="*/ 587431 h 4351338"/>
              <a:gd name="connsiteX14" fmla="*/ 6289848 w 6289848"/>
              <a:gd name="connsiteY14" fmla="*/ 1218375 h 4351338"/>
              <a:gd name="connsiteX15" fmla="*/ 6289848 w 6289848"/>
              <a:gd name="connsiteY15" fmla="*/ 1718779 h 4351338"/>
              <a:gd name="connsiteX16" fmla="*/ 6289848 w 6289848"/>
              <a:gd name="connsiteY16" fmla="*/ 2175669 h 4351338"/>
              <a:gd name="connsiteX17" fmla="*/ 6289848 w 6289848"/>
              <a:gd name="connsiteY17" fmla="*/ 2719586 h 4351338"/>
              <a:gd name="connsiteX18" fmla="*/ 6289848 w 6289848"/>
              <a:gd name="connsiteY18" fmla="*/ 3307017 h 4351338"/>
              <a:gd name="connsiteX19" fmla="*/ 6289848 w 6289848"/>
              <a:gd name="connsiteY19" fmla="*/ 4351338 h 4351338"/>
              <a:gd name="connsiteX20" fmla="*/ 5655145 w 6289848"/>
              <a:gd name="connsiteY20" fmla="*/ 4351338 h 4351338"/>
              <a:gd name="connsiteX21" fmla="*/ 5146239 w 6289848"/>
              <a:gd name="connsiteY21" fmla="*/ 4351338 h 4351338"/>
              <a:gd name="connsiteX22" fmla="*/ 4637333 w 6289848"/>
              <a:gd name="connsiteY22" fmla="*/ 4351338 h 4351338"/>
              <a:gd name="connsiteX23" fmla="*/ 4128428 w 6289848"/>
              <a:gd name="connsiteY23" fmla="*/ 4351338 h 4351338"/>
              <a:gd name="connsiteX24" fmla="*/ 3619522 w 6289848"/>
              <a:gd name="connsiteY24" fmla="*/ 4351338 h 4351338"/>
              <a:gd name="connsiteX25" fmla="*/ 2984819 w 6289848"/>
              <a:gd name="connsiteY25" fmla="*/ 4351338 h 4351338"/>
              <a:gd name="connsiteX26" fmla="*/ 2413014 w 6289848"/>
              <a:gd name="connsiteY26" fmla="*/ 4351338 h 4351338"/>
              <a:gd name="connsiteX27" fmla="*/ 2029905 w 6289848"/>
              <a:gd name="connsiteY27" fmla="*/ 4351338 h 4351338"/>
              <a:gd name="connsiteX28" fmla="*/ 1521000 w 6289848"/>
              <a:gd name="connsiteY28" fmla="*/ 4351338 h 4351338"/>
              <a:gd name="connsiteX29" fmla="*/ 886297 w 6289848"/>
              <a:gd name="connsiteY29" fmla="*/ 4351338 h 4351338"/>
              <a:gd name="connsiteX30" fmla="*/ 0 w 6289848"/>
              <a:gd name="connsiteY30" fmla="*/ 4351338 h 4351338"/>
              <a:gd name="connsiteX31" fmla="*/ 0 w 6289848"/>
              <a:gd name="connsiteY31" fmla="*/ 3720394 h 4351338"/>
              <a:gd name="connsiteX32" fmla="*/ 0 w 6289848"/>
              <a:gd name="connsiteY32" fmla="*/ 3307017 h 4351338"/>
              <a:gd name="connsiteX33" fmla="*/ 0 w 6289848"/>
              <a:gd name="connsiteY33" fmla="*/ 2676073 h 4351338"/>
              <a:gd name="connsiteX34" fmla="*/ 0 w 6289848"/>
              <a:gd name="connsiteY34" fmla="*/ 2262696 h 4351338"/>
              <a:gd name="connsiteX35" fmla="*/ 0 w 6289848"/>
              <a:gd name="connsiteY35" fmla="*/ 1718779 h 4351338"/>
              <a:gd name="connsiteX36" fmla="*/ 0 w 6289848"/>
              <a:gd name="connsiteY36" fmla="*/ 1261888 h 4351338"/>
              <a:gd name="connsiteX37" fmla="*/ 0 w 6289848"/>
              <a:gd name="connsiteY37" fmla="*/ 804998 h 4351338"/>
              <a:gd name="connsiteX38" fmla="*/ 0 w 6289848"/>
              <a:gd name="connsiteY38" fmla="*/ 0 h 4351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289848" h="4351338" fill="none" extrusionOk="0">
                <a:moveTo>
                  <a:pt x="0" y="0"/>
                </a:moveTo>
                <a:cubicBezTo>
                  <a:pt x="166330" y="-24812"/>
                  <a:pt x="236433" y="42941"/>
                  <a:pt x="383109" y="0"/>
                </a:cubicBezTo>
                <a:cubicBezTo>
                  <a:pt x="529785" y="-42941"/>
                  <a:pt x="620740" y="35543"/>
                  <a:pt x="766218" y="0"/>
                </a:cubicBezTo>
                <a:cubicBezTo>
                  <a:pt x="911696" y="-35543"/>
                  <a:pt x="999025" y="35713"/>
                  <a:pt x="1149327" y="0"/>
                </a:cubicBezTo>
                <a:cubicBezTo>
                  <a:pt x="1299629" y="-35713"/>
                  <a:pt x="1569471" y="16880"/>
                  <a:pt x="1846928" y="0"/>
                </a:cubicBezTo>
                <a:cubicBezTo>
                  <a:pt x="2124385" y="-16880"/>
                  <a:pt x="2152958" y="65531"/>
                  <a:pt x="2418732" y="0"/>
                </a:cubicBezTo>
                <a:cubicBezTo>
                  <a:pt x="2684506" y="-65531"/>
                  <a:pt x="2636507" y="13580"/>
                  <a:pt x="2801841" y="0"/>
                </a:cubicBezTo>
                <a:cubicBezTo>
                  <a:pt x="2967175" y="-13580"/>
                  <a:pt x="3255823" y="9794"/>
                  <a:pt x="3373646" y="0"/>
                </a:cubicBezTo>
                <a:cubicBezTo>
                  <a:pt x="3491469" y="-9794"/>
                  <a:pt x="3728498" y="59299"/>
                  <a:pt x="4071247" y="0"/>
                </a:cubicBezTo>
                <a:cubicBezTo>
                  <a:pt x="4413996" y="-59299"/>
                  <a:pt x="4325943" y="53893"/>
                  <a:pt x="4580153" y="0"/>
                </a:cubicBezTo>
                <a:cubicBezTo>
                  <a:pt x="4834363" y="-53893"/>
                  <a:pt x="4901770" y="34683"/>
                  <a:pt x="5089059" y="0"/>
                </a:cubicBezTo>
                <a:cubicBezTo>
                  <a:pt x="5276348" y="-34683"/>
                  <a:pt x="5532770" y="2735"/>
                  <a:pt x="5660863" y="0"/>
                </a:cubicBezTo>
                <a:cubicBezTo>
                  <a:pt x="5788956" y="-2735"/>
                  <a:pt x="6133673" y="69640"/>
                  <a:pt x="6289848" y="0"/>
                </a:cubicBezTo>
                <a:cubicBezTo>
                  <a:pt x="6339927" y="174026"/>
                  <a:pt x="6284012" y="395244"/>
                  <a:pt x="6289848" y="587431"/>
                </a:cubicBezTo>
                <a:cubicBezTo>
                  <a:pt x="6295684" y="779618"/>
                  <a:pt x="6273178" y="999363"/>
                  <a:pt x="6289848" y="1218375"/>
                </a:cubicBezTo>
                <a:cubicBezTo>
                  <a:pt x="6306518" y="1437387"/>
                  <a:pt x="6275734" y="1474240"/>
                  <a:pt x="6289848" y="1718779"/>
                </a:cubicBezTo>
                <a:cubicBezTo>
                  <a:pt x="6303962" y="1963318"/>
                  <a:pt x="6238882" y="1978820"/>
                  <a:pt x="6289848" y="2175669"/>
                </a:cubicBezTo>
                <a:cubicBezTo>
                  <a:pt x="6340814" y="2372518"/>
                  <a:pt x="6275230" y="2482297"/>
                  <a:pt x="6289848" y="2719586"/>
                </a:cubicBezTo>
                <a:cubicBezTo>
                  <a:pt x="6304466" y="2956875"/>
                  <a:pt x="6246228" y="3020497"/>
                  <a:pt x="6289848" y="3307017"/>
                </a:cubicBezTo>
                <a:cubicBezTo>
                  <a:pt x="6333468" y="3593537"/>
                  <a:pt x="6261799" y="4064768"/>
                  <a:pt x="6289848" y="4351338"/>
                </a:cubicBezTo>
                <a:cubicBezTo>
                  <a:pt x="6075232" y="4401672"/>
                  <a:pt x="5876842" y="4345443"/>
                  <a:pt x="5655145" y="4351338"/>
                </a:cubicBezTo>
                <a:cubicBezTo>
                  <a:pt x="5433448" y="4357233"/>
                  <a:pt x="5352592" y="4310465"/>
                  <a:pt x="5146239" y="4351338"/>
                </a:cubicBezTo>
                <a:cubicBezTo>
                  <a:pt x="4939886" y="4392211"/>
                  <a:pt x="4866565" y="4314026"/>
                  <a:pt x="4637333" y="4351338"/>
                </a:cubicBezTo>
                <a:cubicBezTo>
                  <a:pt x="4408101" y="4388650"/>
                  <a:pt x="4265014" y="4338434"/>
                  <a:pt x="4128428" y="4351338"/>
                </a:cubicBezTo>
                <a:cubicBezTo>
                  <a:pt x="3991843" y="4364242"/>
                  <a:pt x="3737495" y="4291406"/>
                  <a:pt x="3619522" y="4351338"/>
                </a:cubicBezTo>
                <a:cubicBezTo>
                  <a:pt x="3501549" y="4411270"/>
                  <a:pt x="3172894" y="4323647"/>
                  <a:pt x="2984819" y="4351338"/>
                </a:cubicBezTo>
                <a:cubicBezTo>
                  <a:pt x="2796744" y="4379029"/>
                  <a:pt x="2558432" y="4296901"/>
                  <a:pt x="2413014" y="4351338"/>
                </a:cubicBezTo>
                <a:cubicBezTo>
                  <a:pt x="2267596" y="4405775"/>
                  <a:pt x="2138599" y="4315369"/>
                  <a:pt x="2029905" y="4351338"/>
                </a:cubicBezTo>
                <a:cubicBezTo>
                  <a:pt x="1921211" y="4387307"/>
                  <a:pt x="1743446" y="4344314"/>
                  <a:pt x="1521000" y="4351338"/>
                </a:cubicBezTo>
                <a:cubicBezTo>
                  <a:pt x="1298554" y="4358362"/>
                  <a:pt x="1041084" y="4317514"/>
                  <a:pt x="886297" y="4351338"/>
                </a:cubicBezTo>
                <a:cubicBezTo>
                  <a:pt x="731510" y="4385162"/>
                  <a:pt x="340541" y="4307159"/>
                  <a:pt x="0" y="4351338"/>
                </a:cubicBezTo>
                <a:cubicBezTo>
                  <a:pt x="-9260" y="4220838"/>
                  <a:pt x="69869" y="3884207"/>
                  <a:pt x="0" y="3720394"/>
                </a:cubicBezTo>
                <a:cubicBezTo>
                  <a:pt x="-69869" y="3556581"/>
                  <a:pt x="41617" y="3425440"/>
                  <a:pt x="0" y="3307017"/>
                </a:cubicBezTo>
                <a:cubicBezTo>
                  <a:pt x="-41617" y="3188594"/>
                  <a:pt x="40580" y="2972344"/>
                  <a:pt x="0" y="2676073"/>
                </a:cubicBezTo>
                <a:cubicBezTo>
                  <a:pt x="-40580" y="2379802"/>
                  <a:pt x="35976" y="2367819"/>
                  <a:pt x="0" y="2262696"/>
                </a:cubicBezTo>
                <a:cubicBezTo>
                  <a:pt x="-35976" y="2157573"/>
                  <a:pt x="34760" y="1889743"/>
                  <a:pt x="0" y="1718779"/>
                </a:cubicBezTo>
                <a:cubicBezTo>
                  <a:pt x="-34760" y="1547815"/>
                  <a:pt x="17173" y="1404491"/>
                  <a:pt x="0" y="1261888"/>
                </a:cubicBezTo>
                <a:cubicBezTo>
                  <a:pt x="-17173" y="1119285"/>
                  <a:pt x="43013" y="922344"/>
                  <a:pt x="0" y="804998"/>
                </a:cubicBezTo>
                <a:cubicBezTo>
                  <a:pt x="-43013" y="687652"/>
                  <a:pt x="14321" y="314282"/>
                  <a:pt x="0" y="0"/>
                </a:cubicBezTo>
                <a:close/>
              </a:path>
              <a:path w="6289848" h="4351338" stroke="0" extrusionOk="0">
                <a:moveTo>
                  <a:pt x="0" y="0"/>
                </a:moveTo>
                <a:cubicBezTo>
                  <a:pt x="208305" y="-32005"/>
                  <a:pt x="268785" y="2505"/>
                  <a:pt x="508906" y="0"/>
                </a:cubicBezTo>
                <a:cubicBezTo>
                  <a:pt x="749027" y="-2505"/>
                  <a:pt x="775392" y="14716"/>
                  <a:pt x="892015" y="0"/>
                </a:cubicBezTo>
                <a:cubicBezTo>
                  <a:pt x="1008638" y="-14716"/>
                  <a:pt x="1272787" y="15394"/>
                  <a:pt x="1589616" y="0"/>
                </a:cubicBezTo>
                <a:cubicBezTo>
                  <a:pt x="1906445" y="-15394"/>
                  <a:pt x="1944732" y="2787"/>
                  <a:pt x="2098522" y="0"/>
                </a:cubicBezTo>
                <a:cubicBezTo>
                  <a:pt x="2252312" y="-2787"/>
                  <a:pt x="2502136" y="17751"/>
                  <a:pt x="2607428" y="0"/>
                </a:cubicBezTo>
                <a:cubicBezTo>
                  <a:pt x="2712720" y="-17751"/>
                  <a:pt x="2966151" y="58642"/>
                  <a:pt x="3305029" y="0"/>
                </a:cubicBezTo>
                <a:cubicBezTo>
                  <a:pt x="3643907" y="-58642"/>
                  <a:pt x="3587412" y="19491"/>
                  <a:pt x="3751037" y="0"/>
                </a:cubicBezTo>
                <a:cubicBezTo>
                  <a:pt x="3914662" y="-19491"/>
                  <a:pt x="4178761" y="26338"/>
                  <a:pt x="4448638" y="0"/>
                </a:cubicBezTo>
                <a:cubicBezTo>
                  <a:pt x="4718515" y="-26338"/>
                  <a:pt x="4800732" y="9513"/>
                  <a:pt x="5146239" y="0"/>
                </a:cubicBezTo>
                <a:cubicBezTo>
                  <a:pt x="5491746" y="-9513"/>
                  <a:pt x="5521432" y="46424"/>
                  <a:pt x="5718044" y="0"/>
                </a:cubicBezTo>
                <a:cubicBezTo>
                  <a:pt x="5914657" y="-46424"/>
                  <a:pt x="6041931" y="21535"/>
                  <a:pt x="6289848" y="0"/>
                </a:cubicBezTo>
                <a:cubicBezTo>
                  <a:pt x="6344024" y="124138"/>
                  <a:pt x="6231505" y="333253"/>
                  <a:pt x="6289848" y="500404"/>
                </a:cubicBezTo>
                <a:cubicBezTo>
                  <a:pt x="6348191" y="667555"/>
                  <a:pt x="6280441" y="742037"/>
                  <a:pt x="6289848" y="913781"/>
                </a:cubicBezTo>
                <a:cubicBezTo>
                  <a:pt x="6299255" y="1085525"/>
                  <a:pt x="6240650" y="1197565"/>
                  <a:pt x="6289848" y="1457698"/>
                </a:cubicBezTo>
                <a:cubicBezTo>
                  <a:pt x="6339046" y="1717831"/>
                  <a:pt x="6256828" y="1749094"/>
                  <a:pt x="6289848" y="2001615"/>
                </a:cubicBezTo>
                <a:cubicBezTo>
                  <a:pt x="6322868" y="2254136"/>
                  <a:pt x="6228613" y="2314965"/>
                  <a:pt x="6289848" y="2545533"/>
                </a:cubicBezTo>
                <a:cubicBezTo>
                  <a:pt x="6351083" y="2776101"/>
                  <a:pt x="6284103" y="2858591"/>
                  <a:pt x="6289848" y="3132963"/>
                </a:cubicBezTo>
                <a:cubicBezTo>
                  <a:pt x="6295593" y="3407335"/>
                  <a:pt x="6276426" y="3468307"/>
                  <a:pt x="6289848" y="3720394"/>
                </a:cubicBezTo>
                <a:cubicBezTo>
                  <a:pt x="6303270" y="3972481"/>
                  <a:pt x="6216784" y="4149455"/>
                  <a:pt x="6289848" y="4351338"/>
                </a:cubicBezTo>
                <a:cubicBezTo>
                  <a:pt x="6193038" y="4354315"/>
                  <a:pt x="6051658" y="4330367"/>
                  <a:pt x="5906739" y="4351338"/>
                </a:cubicBezTo>
                <a:cubicBezTo>
                  <a:pt x="5761820" y="4372309"/>
                  <a:pt x="5455059" y="4298031"/>
                  <a:pt x="5209138" y="4351338"/>
                </a:cubicBezTo>
                <a:cubicBezTo>
                  <a:pt x="4963217" y="4404645"/>
                  <a:pt x="4872216" y="4285952"/>
                  <a:pt x="4637333" y="4351338"/>
                </a:cubicBezTo>
                <a:cubicBezTo>
                  <a:pt x="4402450" y="4416724"/>
                  <a:pt x="4402961" y="4329730"/>
                  <a:pt x="4191326" y="4351338"/>
                </a:cubicBezTo>
                <a:cubicBezTo>
                  <a:pt x="3979691" y="4372946"/>
                  <a:pt x="3842972" y="4286074"/>
                  <a:pt x="3619522" y="4351338"/>
                </a:cubicBezTo>
                <a:cubicBezTo>
                  <a:pt x="3396072" y="4416602"/>
                  <a:pt x="3329662" y="4309935"/>
                  <a:pt x="3236413" y="4351338"/>
                </a:cubicBezTo>
                <a:cubicBezTo>
                  <a:pt x="3143164" y="4392741"/>
                  <a:pt x="2930555" y="4332883"/>
                  <a:pt x="2853304" y="4351338"/>
                </a:cubicBezTo>
                <a:cubicBezTo>
                  <a:pt x="2776053" y="4369793"/>
                  <a:pt x="2560732" y="4309894"/>
                  <a:pt x="2281499" y="4351338"/>
                </a:cubicBezTo>
                <a:cubicBezTo>
                  <a:pt x="2002266" y="4392782"/>
                  <a:pt x="1933480" y="4312478"/>
                  <a:pt x="1835492" y="4351338"/>
                </a:cubicBezTo>
                <a:cubicBezTo>
                  <a:pt x="1737504" y="4390198"/>
                  <a:pt x="1485830" y="4292501"/>
                  <a:pt x="1200789" y="4351338"/>
                </a:cubicBezTo>
                <a:cubicBezTo>
                  <a:pt x="915748" y="4410175"/>
                  <a:pt x="971517" y="4322317"/>
                  <a:pt x="754782" y="4351338"/>
                </a:cubicBezTo>
                <a:cubicBezTo>
                  <a:pt x="538047" y="4380359"/>
                  <a:pt x="272482" y="4301992"/>
                  <a:pt x="0" y="4351338"/>
                </a:cubicBezTo>
                <a:cubicBezTo>
                  <a:pt x="-2512" y="4152112"/>
                  <a:pt x="6475" y="4023420"/>
                  <a:pt x="0" y="3937961"/>
                </a:cubicBezTo>
                <a:cubicBezTo>
                  <a:pt x="-6475" y="3852502"/>
                  <a:pt x="1215" y="3692808"/>
                  <a:pt x="0" y="3481070"/>
                </a:cubicBezTo>
                <a:cubicBezTo>
                  <a:pt x="-1215" y="3269332"/>
                  <a:pt x="59237" y="3063895"/>
                  <a:pt x="0" y="2893640"/>
                </a:cubicBezTo>
                <a:cubicBezTo>
                  <a:pt x="-59237" y="2723385"/>
                  <a:pt x="15066" y="2396928"/>
                  <a:pt x="0" y="2262696"/>
                </a:cubicBezTo>
                <a:cubicBezTo>
                  <a:pt x="-15066" y="2128464"/>
                  <a:pt x="19292" y="1865345"/>
                  <a:pt x="0" y="1762292"/>
                </a:cubicBezTo>
                <a:cubicBezTo>
                  <a:pt x="-19292" y="1659239"/>
                  <a:pt x="57889" y="1379901"/>
                  <a:pt x="0" y="1131348"/>
                </a:cubicBezTo>
                <a:cubicBezTo>
                  <a:pt x="-57889" y="882795"/>
                  <a:pt x="25927" y="870050"/>
                  <a:pt x="0" y="674457"/>
                </a:cubicBezTo>
                <a:cubicBezTo>
                  <a:pt x="-25927" y="478864"/>
                  <a:pt x="69155" y="213935"/>
                  <a:pt x="0" y="0"/>
                </a:cubicBezTo>
                <a:close/>
              </a:path>
            </a:pathLst>
          </a:custGeom>
          <a:ln w="88900">
            <a:solidFill>
              <a:schemeClr val="bg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77492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1EEE2-59D5-4110-A2C3-11054013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6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Конец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5066FF-2B47-429F-8518-B70144DD8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" t="401" r="671" b="1"/>
          <a:stretch/>
        </p:blipFill>
        <p:spPr>
          <a:xfrm>
            <a:off x="4817805" y="2379407"/>
            <a:ext cx="2556389" cy="256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47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окументы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2772</Words>
  <Application>Microsoft Office PowerPoint</Application>
  <PresentationFormat>Широкоэкранный</PresentationFormat>
  <Paragraphs>165</Paragraphs>
  <Slides>18</Slides>
  <Notes>4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Тема Office</vt:lpstr>
      <vt:lpstr>Отчет магистранта о проделанной работе</vt:lpstr>
      <vt:lpstr>Презентация PowerPoint</vt:lpstr>
      <vt:lpstr>Отрасли применения систем контроля качества</vt:lpstr>
      <vt:lpstr>Цели и задачи проекта</vt:lpstr>
      <vt:lpstr>Описание предлагаемого решения</vt:lpstr>
      <vt:lpstr>Глубокое обучение</vt:lpstr>
      <vt:lpstr>Флагманы отрасли в области промышленного машинного зрения</vt:lpstr>
      <vt:lpstr>Облако, API и платформы (vision as a service):</vt:lpstr>
      <vt:lpstr>Презентация PowerPoint</vt:lpstr>
      <vt:lpstr>Книги и учебники</vt:lpstr>
      <vt:lpstr>Презентация PowerPoint</vt:lpstr>
      <vt:lpstr>Обзорные статьи, посвященные обнаружению дефектов:</vt:lpstr>
      <vt:lpstr>Презентация PowerPoint</vt:lpstr>
      <vt:lpstr>Фундаментальные статьи</vt:lpstr>
      <vt:lpstr>Статьи об автоэнкодерах:</vt:lpstr>
      <vt:lpstr>Другие статьи</vt:lpstr>
      <vt:lpstr>Спасибо за внимание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о проделанной работе</dc:title>
  <dc:creator>Рожкова Анна Сергеевна</dc:creator>
  <cp:lastModifiedBy>Рожкова Анна Сергеевна</cp:lastModifiedBy>
  <cp:revision>248</cp:revision>
  <dcterms:created xsi:type="dcterms:W3CDTF">2025-11-20T06:17:54Z</dcterms:created>
  <dcterms:modified xsi:type="dcterms:W3CDTF">2025-11-26T11:29:46Z</dcterms:modified>
</cp:coreProperties>
</file>